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972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B39"/>
          </a:solidFill>
          <a:ln w="12700">
            <a:solidFill>
              <a:srgbClr val="E07B39"/>
            </a:solidFill>
            <a:prstDash val="solid"/>
          </a:ln>
        </p:spPr>
      </p:sp>
      <p:sp>
        <p:nvSpPr>
          <p:cNvPr id="3" name="Shape 1"/>
          <p:cNvSpPr/>
          <p:nvPr/>
        </p:nvSpPr>
        <p:spPr>
          <a:xfrm>
            <a:off x="0" y="73152"/>
            <a:ext cx="320040" cy="5070348"/>
          </a:xfrm>
          <a:prstGeom prst="rect">
            <a:avLst/>
          </a:prstGeom>
          <a:solidFill>
            <a:srgbClr val="E07B39"/>
          </a:solidFill>
          <a:ln w="12700">
            <a:solidFill>
              <a:srgbClr val="E07B39"/>
            </a:solidFill>
            <a:prstDash val="solid"/>
          </a:ln>
        </p:spPr>
      </p:sp>
      <p:sp>
        <p:nvSpPr>
          <p:cNvPr id="4" name="Shape 2"/>
          <p:cNvSpPr/>
          <p:nvPr/>
        </p:nvSpPr>
        <p:spPr>
          <a:xfrm>
            <a:off x="594360" y="640080"/>
            <a:ext cx="8046720" cy="3840480"/>
          </a:xfrm>
          <a:prstGeom prst="rect">
            <a:avLst/>
          </a:prstGeom>
          <a:solidFill>
            <a:srgbClr val="FFFFFF">
              <a:alpha val="8000"/>
            </a:srgbClr>
          </a:solidFill>
          <a:ln w="12700">
            <a:solidFill>
              <a:srgbClr val="2E75B6"/>
            </a:solidFill>
            <a:prstDash val="solid"/>
          </a:ln>
        </p:spPr>
      </p:sp>
      <p:sp>
        <p:nvSpPr>
          <p:cNvPr id="5" name="Shape 3"/>
          <p:cNvSpPr/>
          <p:nvPr/>
        </p:nvSpPr>
        <p:spPr>
          <a:xfrm>
            <a:off x="822960" y="777240"/>
            <a:ext cx="2560320" cy="320040"/>
          </a:xfrm>
          <a:prstGeom prst="rect">
            <a:avLst/>
          </a:prstGeom>
          <a:solidFill>
            <a:srgbClr val="E07B39"/>
          </a:solidFill>
          <a:ln w="12700">
            <a:solidFill>
              <a:srgbClr val="E07B39"/>
            </a:solidFill>
            <a:prstDash val="solid"/>
          </a:ln>
        </p:spPr>
      </p:sp>
      <p:sp>
        <p:nvSpPr>
          <p:cNvPr id="6" name="Text 4"/>
          <p:cNvSpPr/>
          <p:nvPr/>
        </p:nvSpPr>
        <p:spPr>
          <a:xfrm>
            <a:off x="822960" y="777240"/>
            <a:ext cx="2560320" cy="320040"/>
          </a:xfrm>
          <a:prstGeom prst="rect">
            <a:avLst/>
          </a:prstGeom>
          <a:noFill/>
          <a:ln/>
        </p:spPr>
        <p:txBody>
          <a:bodyPr wrap="square" lIns="0" tIns="0" rIns="0" bIns="0" rtlCol="0" anchor="ctr"/>
          <a:lstStyle/>
          <a:p>
            <a:pPr marL="0" indent="0" algn="ctr">
              <a:buNone/>
            </a:pPr>
            <a:r>
              <a:rPr lang="en-US" sz="750" b="1" dirty="0">
                <a:solidFill>
                  <a:srgbClr val="FFFFFF"/>
                </a:solidFill>
              </a:rPr>
              <a:t>PREDICTIVE ANALYTICS MINI PROJECT</a:t>
            </a:r>
            <a:endParaRPr lang="en-US" sz="750" dirty="0"/>
          </a:p>
        </p:txBody>
      </p:sp>
      <p:sp>
        <p:nvSpPr>
          <p:cNvPr id="7" name="Text 5"/>
          <p:cNvSpPr/>
          <p:nvPr/>
        </p:nvSpPr>
        <p:spPr>
          <a:xfrm>
            <a:off x="594360" y="1234440"/>
            <a:ext cx="8046720" cy="68580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Educational Data Mining</a:t>
            </a:r>
            <a:endParaRPr lang="en-US" sz="3400" dirty="0"/>
          </a:p>
        </p:txBody>
      </p:sp>
      <p:sp>
        <p:nvSpPr>
          <p:cNvPr id="8" name="Text 6"/>
          <p:cNvSpPr/>
          <p:nvPr/>
        </p:nvSpPr>
        <p:spPr>
          <a:xfrm>
            <a:off x="594360" y="1901952"/>
            <a:ext cx="8046720" cy="502920"/>
          </a:xfrm>
          <a:prstGeom prst="rect">
            <a:avLst/>
          </a:prstGeom>
          <a:noFill/>
          <a:ln/>
        </p:spPr>
        <p:txBody>
          <a:bodyPr wrap="square" rtlCol="0" anchor="ctr"/>
          <a:lstStyle/>
          <a:p>
            <a:pPr marL="0" indent="0" algn="ctr">
              <a:buNone/>
            </a:pPr>
            <a:r>
              <a:rPr lang="en-US" sz="2200" dirty="0">
                <a:solidFill>
                  <a:srgbClr val="D6E8FA"/>
                </a:solidFill>
                <a:latin typeface="Calibri" pitchFamily="34" charset="0"/>
                <a:ea typeface="Calibri" pitchFamily="34" charset="-122"/>
                <a:cs typeface="Calibri" pitchFamily="34" charset="-120"/>
              </a:rPr>
              <a:t>for Student Performance Prediction</a:t>
            </a:r>
            <a:endParaRPr lang="en-US" sz="2200" dirty="0"/>
          </a:p>
        </p:txBody>
      </p:sp>
      <p:sp>
        <p:nvSpPr>
          <p:cNvPr id="9" name="Text 7"/>
          <p:cNvSpPr/>
          <p:nvPr/>
        </p:nvSpPr>
        <p:spPr>
          <a:xfrm>
            <a:off x="594360" y="2377440"/>
            <a:ext cx="8046720" cy="457200"/>
          </a:xfrm>
          <a:prstGeom prst="rect">
            <a:avLst/>
          </a:prstGeom>
          <a:noFill/>
          <a:ln/>
        </p:spPr>
        <p:txBody>
          <a:bodyPr wrap="square" rtlCol="0" anchor="ctr"/>
          <a:lstStyle/>
          <a:p>
            <a:pPr marL="0" indent="0" algn="ctr">
              <a:buNone/>
            </a:pPr>
            <a:r>
              <a:rPr lang="en-US" sz="2200" dirty="0">
                <a:solidFill>
                  <a:srgbClr val="D6E8FA"/>
                </a:solidFill>
                <a:latin typeface="Calibri" pitchFamily="34" charset="0"/>
                <a:ea typeface="Calibri" pitchFamily="34" charset="-122"/>
                <a:cs typeface="Calibri" pitchFamily="34" charset="-120"/>
              </a:rPr>
              <a:t>&amp; Dropout Risk Analysis</a:t>
            </a:r>
            <a:endParaRPr lang="en-US" sz="2200" dirty="0"/>
          </a:p>
        </p:txBody>
      </p:sp>
      <p:sp>
        <p:nvSpPr>
          <p:cNvPr id="10" name="Shape 8"/>
          <p:cNvSpPr/>
          <p:nvPr/>
        </p:nvSpPr>
        <p:spPr>
          <a:xfrm>
            <a:off x="3200400" y="2926080"/>
            <a:ext cx="2743200" cy="36576"/>
          </a:xfrm>
          <a:prstGeom prst="rect">
            <a:avLst/>
          </a:prstGeom>
          <a:solidFill>
            <a:srgbClr val="E07B39"/>
          </a:solidFill>
          <a:ln w="12700">
            <a:solidFill>
              <a:srgbClr val="E07B39"/>
            </a:solidFill>
            <a:prstDash val="solid"/>
          </a:ln>
        </p:spPr>
      </p:sp>
      <p:sp>
        <p:nvSpPr>
          <p:cNvPr id="11" name="Text 9"/>
          <p:cNvSpPr/>
          <p:nvPr/>
        </p:nvSpPr>
        <p:spPr>
          <a:xfrm>
            <a:off x="594360" y="3063240"/>
            <a:ext cx="8046720" cy="320040"/>
          </a:xfrm>
          <a:prstGeom prst="rect">
            <a:avLst/>
          </a:prstGeom>
          <a:noFill/>
          <a:ln/>
        </p:spPr>
        <p:txBody>
          <a:bodyPr wrap="square" rtlCol="0" anchor="ctr"/>
          <a:lstStyle/>
          <a:p>
            <a:pPr marL="0" indent="0" algn="ctr">
              <a:buNone/>
            </a:pPr>
            <a:r>
              <a:rPr lang="en-US" sz="1100" kern="0" spc="100" dirty="0">
                <a:solidFill>
                  <a:srgbClr val="A8C4E0"/>
                </a:solidFill>
              </a:rPr>
              <a:t>CHAID  |  C5.0  |  Apriori  |  K-Means  |  IBM SPSS Modeler</a:t>
            </a:r>
            <a:endParaRPr lang="en-US" sz="1100" dirty="0"/>
          </a:p>
        </p:txBody>
      </p:sp>
      <p:sp>
        <p:nvSpPr>
          <p:cNvPr id="12" name="Shape 10"/>
          <p:cNvSpPr/>
          <p:nvPr/>
        </p:nvSpPr>
        <p:spPr>
          <a:xfrm>
            <a:off x="594360" y="3520440"/>
            <a:ext cx="3749040" cy="1325880"/>
          </a:xfrm>
          <a:prstGeom prst="rect">
            <a:avLst/>
          </a:prstGeom>
          <a:solidFill>
            <a:srgbClr val="FFFFFF">
              <a:alpha val="12000"/>
            </a:srgbClr>
          </a:solidFill>
          <a:ln w="12700">
            <a:solidFill>
              <a:srgbClr val="2E75B6"/>
            </a:solidFill>
            <a:prstDash val="solid"/>
          </a:ln>
        </p:spPr>
      </p:sp>
      <p:sp>
        <p:nvSpPr>
          <p:cNvPr id="13" name="Text 11"/>
          <p:cNvSpPr/>
          <p:nvPr/>
        </p:nvSpPr>
        <p:spPr>
          <a:xfrm>
            <a:off x="685800" y="3566160"/>
            <a:ext cx="3566160" cy="256032"/>
          </a:xfrm>
          <a:prstGeom prst="rect">
            <a:avLst/>
          </a:prstGeom>
          <a:noFill/>
          <a:ln/>
        </p:spPr>
        <p:txBody>
          <a:bodyPr wrap="square" rtlCol="0" anchor="ctr"/>
          <a:lstStyle/>
          <a:p>
            <a:pPr marL="0" indent="0">
              <a:buNone/>
            </a:pPr>
            <a:r>
              <a:rPr lang="en-US" sz="850" b="1" kern="0" spc="200" dirty="0">
                <a:solidFill>
                  <a:srgbClr val="E07B39"/>
                </a:solidFill>
              </a:rPr>
              <a:t>PRESENTED BY</a:t>
            </a:r>
            <a:endParaRPr lang="en-US" sz="850" dirty="0"/>
          </a:p>
        </p:txBody>
      </p:sp>
      <p:sp>
        <p:nvSpPr>
          <p:cNvPr id="14" name="Text 12"/>
          <p:cNvSpPr/>
          <p:nvPr/>
        </p:nvSpPr>
        <p:spPr>
          <a:xfrm>
            <a:off x="685800" y="3840480"/>
            <a:ext cx="3566160" cy="9144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Gopi Sri Hari</a:t>
            </a: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Deepak Kumar</a:t>
            </a: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Himanshu Shukla</a:t>
            </a: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Harshit Shukla</a:t>
            </a:r>
            <a:endParaRPr lang="en-US" sz="1150" dirty="0"/>
          </a:p>
        </p:txBody>
      </p:sp>
      <p:sp>
        <p:nvSpPr>
          <p:cNvPr id="15" name="Shape 13"/>
          <p:cNvSpPr/>
          <p:nvPr/>
        </p:nvSpPr>
        <p:spPr>
          <a:xfrm>
            <a:off x="4663440" y="3520440"/>
            <a:ext cx="3977640" cy="1325880"/>
          </a:xfrm>
          <a:prstGeom prst="rect">
            <a:avLst/>
          </a:prstGeom>
          <a:solidFill>
            <a:srgbClr val="FFFFFF">
              <a:alpha val="12000"/>
            </a:srgbClr>
          </a:solidFill>
          <a:ln w="12700">
            <a:solidFill>
              <a:srgbClr val="2E75B6"/>
            </a:solidFill>
            <a:prstDash val="solid"/>
          </a:ln>
        </p:spPr>
      </p:sp>
      <p:sp>
        <p:nvSpPr>
          <p:cNvPr id="16" name="Text 14"/>
          <p:cNvSpPr/>
          <p:nvPr/>
        </p:nvSpPr>
        <p:spPr>
          <a:xfrm>
            <a:off x="4754880" y="3566160"/>
            <a:ext cx="3749040" cy="256032"/>
          </a:xfrm>
          <a:prstGeom prst="rect">
            <a:avLst/>
          </a:prstGeom>
          <a:noFill/>
          <a:ln/>
        </p:spPr>
        <p:txBody>
          <a:bodyPr wrap="square" rtlCol="0" anchor="ctr"/>
          <a:lstStyle/>
          <a:p>
            <a:pPr marL="0" indent="0">
              <a:buNone/>
            </a:pPr>
            <a:r>
              <a:rPr lang="en-US" sz="850" b="1" kern="0" spc="200" dirty="0">
                <a:solidFill>
                  <a:srgbClr val="E07B39"/>
                </a:solidFill>
              </a:rPr>
              <a:t>PRESENTED TO</a:t>
            </a:r>
            <a:endParaRPr lang="en-US" sz="850" dirty="0"/>
          </a:p>
        </p:txBody>
      </p:sp>
      <p:sp>
        <p:nvSpPr>
          <p:cNvPr id="17" name="Text 15"/>
          <p:cNvSpPr/>
          <p:nvPr/>
        </p:nvSpPr>
        <p:spPr>
          <a:xfrm>
            <a:off x="4754880" y="3840480"/>
            <a:ext cx="374904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Miss Mitika</a:t>
            </a:r>
            <a:endParaRPr lang="en-US" sz="1600" dirty="0"/>
          </a:p>
        </p:txBody>
      </p:sp>
      <p:sp>
        <p:nvSpPr>
          <p:cNvPr id="18" name="Text 16"/>
          <p:cNvSpPr/>
          <p:nvPr/>
        </p:nvSpPr>
        <p:spPr>
          <a:xfrm>
            <a:off x="4754880" y="4160520"/>
            <a:ext cx="3749040" cy="256032"/>
          </a:xfrm>
          <a:prstGeom prst="rect">
            <a:avLst/>
          </a:prstGeom>
          <a:noFill/>
          <a:ln/>
        </p:spPr>
        <p:txBody>
          <a:bodyPr wrap="square" rtlCol="0" anchor="ctr"/>
          <a:lstStyle/>
          <a:p>
            <a:pPr marL="0" indent="0">
              <a:buNone/>
            </a:pPr>
            <a:r>
              <a:rPr lang="en-US" sz="1100" dirty="0">
                <a:solidFill>
                  <a:srgbClr val="A8C4E0"/>
                </a:solidFill>
                <a:latin typeface="Calibri" pitchFamily="34" charset="0"/>
                <a:ea typeface="Calibri" pitchFamily="34" charset="-122"/>
                <a:cs typeface="Calibri" pitchFamily="34" charset="-120"/>
              </a:rPr>
              <a:t>Course Instructor</a:t>
            </a:r>
            <a:endParaRPr lang="en-US" sz="1100" dirty="0"/>
          </a:p>
        </p:txBody>
      </p:sp>
      <p:sp>
        <p:nvSpPr>
          <p:cNvPr id="19" name="Shape 17"/>
          <p:cNvSpPr/>
          <p:nvPr/>
        </p:nvSpPr>
        <p:spPr>
          <a:xfrm>
            <a:off x="0" y="5070348"/>
            <a:ext cx="9144000" cy="73152"/>
          </a:xfrm>
          <a:prstGeom prst="rect">
            <a:avLst/>
          </a:prstGeom>
          <a:solidFill>
            <a:srgbClr val="E07B39"/>
          </a:solidFill>
          <a:ln w="12700">
            <a:solidFill>
              <a:srgbClr val="E07B39"/>
            </a:solidFill>
            <a:prstDash val="solid"/>
          </a:ln>
        </p:spPr>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w="12700">
            <a:solidFill>
              <a:srgbClr val="1B3A6B"/>
            </a:solidFill>
            <a:prstDash val="solid"/>
          </a:ln>
        </p:spPr>
      </p:sp>
      <p:sp>
        <p:nvSpPr>
          <p:cNvPr id="3" name="Shape 1"/>
          <p:cNvSpPr/>
          <p:nvPr/>
        </p:nvSpPr>
        <p:spPr>
          <a:xfrm>
            <a:off x="0" y="640080"/>
            <a:ext cx="9144000" cy="54864"/>
          </a:xfrm>
          <a:prstGeom prst="rect">
            <a:avLst/>
          </a:prstGeom>
          <a:solidFill>
            <a:srgbClr val="E07B39"/>
          </a:solidFill>
          <a:ln w="12700">
            <a:solidFill>
              <a:srgbClr val="E07B39"/>
            </a:solidFill>
            <a:prstDash val="solid"/>
          </a:ln>
        </p:spPr>
      </p:sp>
      <p:sp>
        <p:nvSpPr>
          <p:cNvPr id="4" name="Text 2"/>
          <p:cNvSpPr/>
          <p:nvPr/>
        </p:nvSpPr>
        <p:spPr>
          <a:xfrm>
            <a:off x="365760" y="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Introduction &amp; Objectives</a:t>
            </a:r>
            <a:endParaRPr lang="en-US" sz="2200" dirty="0"/>
          </a:p>
        </p:txBody>
      </p:sp>
      <p:sp>
        <p:nvSpPr>
          <p:cNvPr id="5" name="Text 3"/>
          <p:cNvSpPr/>
          <p:nvPr/>
        </p:nvSpPr>
        <p:spPr>
          <a:xfrm>
            <a:off x="8046720" y="0"/>
            <a:ext cx="914400" cy="640080"/>
          </a:xfrm>
          <a:prstGeom prst="rect">
            <a:avLst/>
          </a:prstGeom>
          <a:noFill/>
          <a:ln/>
        </p:spPr>
        <p:txBody>
          <a:bodyPr wrap="square" rtlCol="0" anchor="ctr"/>
          <a:lstStyle/>
          <a:p>
            <a:pPr marL="0" indent="0" algn="r">
              <a:buNone/>
            </a:pPr>
            <a:r>
              <a:rPr lang="en-US" sz="2800" b="1" dirty="0">
                <a:solidFill>
                  <a:srgbClr val="FFFFFF"/>
                </a:solidFill>
              </a:rPr>
              <a:t>02</a:t>
            </a:r>
            <a:endParaRPr lang="en-US" sz="2800" dirty="0"/>
          </a:p>
        </p:txBody>
      </p:sp>
      <p:sp>
        <p:nvSpPr>
          <p:cNvPr id="6" name="Shape 4"/>
          <p:cNvSpPr/>
          <p:nvPr/>
        </p:nvSpPr>
        <p:spPr>
          <a:xfrm>
            <a:off x="274320" y="868680"/>
            <a:ext cx="8595360" cy="1051560"/>
          </a:xfrm>
          <a:prstGeom prst="rect">
            <a:avLst/>
          </a:prstGeom>
          <a:solidFill>
            <a:srgbClr val="D6E8FA"/>
          </a:solidFill>
          <a:ln w="12700">
            <a:solidFill>
              <a:srgbClr val="2E75B6"/>
            </a:solidFill>
            <a:prstDash val="solid"/>
          </a:ln>
          <a:effectLst>
            <a:outerShdw blurRad="76200" dist="25400" dir="8100000" algn="bl" rotWithShape="0">
              <a:srgbClr val="000000">
                <a:alpha val="12000"/>
              </a:srgbClr>
            </a:outerShdw>
          </a:effectLst>
        </p:spPr>
      </p:sp>
      <p:sp>
        <p:nvSpPr>
          <p:cNvPr id="7" name="Shape 5"/>
          <p:cNvSpPr/>
          <p:nvPr/>
        </p:nvSpPr>
        <p:spPr>
          <a:xfrm>
            <a:off x="274320" y="868680"/>
            <a:ext cx="109728" cy="1051560"/>
          </a:xfrm>
          <a:prstGeom prst="rect">
            <a:avLst/>
          </a:prstGeom>
          <a:solidFill>
            <a:srgbClr val="1B3A6B"/>
          </a:solidFill>
          <a:ln w="12700">
            <a:solidFill>
              <a:srgbClr val="1B3A6B"/>
            </a:solidFill>
            <a:prstDash val="solid"/>
          </a:ln>
        </p:spPr>
      </p:sp>
      <p:sp>
        <p:nvSpPr>
          <p:cNvPr id="8" name="Text 6"/>
          <p:cNvSpPr/>
          <p:nvPr/>
        </p:nvSpPr>
        <p:spPr>
          <a:xfrm>
            <a:off x="502920" y="896112"/>
            <a:ext cx="8138160" cy="1005840"/>
          </a:xfrm>
          <a:prstGeom prst="rect">
            <a:avLst/>
          </a:prstGeom>
          <a:noFill/>
          <a:ln/>
        </p:spPr>
        <p:txBody>
          <a:bodyPr wrap="square" rtlCol="0" anchor="ctr"/>
          <a:lstStyle/>
          <a:p>
            <a:pPr marL="0" indent="0">
              <a:buNone/>
            </a:pPr>
            <a:r>
              <a:rPr lang="en-US" sz="1150" dirty="0">
                <a:solidFill>
                  <a:srgbClr val="1B2838"/>
                </a:solidFill>
                <a:latin typeface="Calibri" pitchFamily="34" charset="0"/>
                <a:ea typeface="Calibri" pitchFamily="34" charset="-122"/>
                <a:cs typeface="Calibri" pitchFamily="34" charset="-120"/>
              </a:rPr>
              <a:t>Educational institutions face growing challenges in identifying students at risk of failure or dropout. This project applies Educational Data Mining (EDM) using IBM SPSS Modeler to analyze student behavior, academic records, and demographic data — enabling early intervention and improved student outcomes.</a:t>
            </a:r>
            <a:endParaRPr lang="en-US" sz="1150" dirty="0"/>
          </a:p>
        </p:txBody>
      </p:sp>
      <p:sp>
        <p:nvSpPr>
          <p:cNvPr id="9" name="Text 7"/>
          <p:cNvSpPr/>
          <p:nvPr/>
        </p:nvSpPr>
        <p:spPr>
          <a:xfrm>
            <a:off x="274320" y="2057400"/>
            <a:ext cx="3657600" cy="292608"/>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Project Objectives</a:t>
            </a:r>
            <a:endParaRPr lang="en-US" sz="1300" dirty="0"/>
          </a:p>
        </p:txBody>
      </p:sp>
      <p:sp>
        <p:nvSpPr>
          <p:cNvPr id="10" name="Shape 8"/>
          <p:cNvSpPr/>
          <p:nvPr/>
        </p:nvSpPr>
        <p:spPr>
          <a:xfrm>
            <a:off x="274320" y="2423160"/>
            <a:ext cx="4206240" cy="59436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11" name="Shape 9"/>
          <p:cNvSpPr/>
          <p:nvPr/>
        </p:nvSpPr>
        <p:spPr>
          <a:xfrm>
            <a:off x="274320" y="2423160"/>
            <a:ext cx="457200" cy="594360"/>
          </a:xfrm>
          <a:prstGeom prst="rect">
            <a:avLst/>
          </a:prstGeom>
          <a:solidFill>
            <a:srgbClr val="1B3A6B"/>
          </a:solidFill>
          <a:ln w="12700">
            <a:solidFill>
              <a:srgbClr val="1B3A6B"/>
            </a:solidFill>
            <a:prstDash val="solid"/>
          </a:ln>
        </p:spPr>
      </p:sp>
      <p:sp>
        <p:nvSpPr>
          <p:cNvPr id="12" name="Text 10"/>
          <p:cNvSpPr/>
          <p:nvPr/>
        </p:nvSpPr>
        <p:spPr>
          <a:xfrm>
            <a:off x="274320" y="2423160"/>
            <a:ext cx="457200" cy="594360"/>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3" name="Text 11"/>
          <p:cNvSpPr/>
          <p:nvPr/>
        </p:nvSpPr>
        <p:spPr>
          <a:xfrm>
            <a:off x="804672" y="2468880"/>
            <a:ext cx="3611880" cy="502920"/>
          </a:xfrm>
          <a:prstGeom prst="rect">
            <a:avLst/>
          </a:prstGeom>
          <a:noFill/>
          <a:ln/>
        </p:spPr>
        <p:txBody>
          <a:bodyPr wrap="square" rtlCol="0" anchor="ctr"/>
          <a:lstStyle/>
          <a:p>
            <a:pPr marL="0" indent="0">
              <a:buNone/>
            </a:pPr>
            <a:r>
              <a:rPr lang="en-US" sz="1000" dirty="0">
                <a:solidFill>
                  <a:srgbClr val="1B2838"/>
                </a:solidFill>
              </a:rPr>
              <a:t>Predict student Pass/Fail based on academic &amp; behavioral features</a:t>
            </a:r>
            <a:endParaRPr lang="en-US" sz="1000" dirty="0"/>
          </a:p>
        </p:txBody>
      </p:sp>
      <p:sp>
        <p:nvSpPr>
          <p:cNvPr id="14" name="Shape 12"/>
          <p:cNvSpPr/>
          <p:nvPr/>
        </p:nvSpPr>
        <p:spPr>
          <a:xfrm>
            <a:off x="4663440" y="2423160"/>
            <a:ext cx="4206240" cy="59436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15" name="Shape 13"/>
          <p:cNvSpPr/>
          <p:nvPr/>
        </p:nvSpPr>
        <p:spPr>
          <a:xfrm>
            <a:off x="4663440" y="2423160"/>
            <a:ext cx="457200" cy="594360"/>
          </a:xfrm>
          <a:prstGeom prst="rect">
            <a:avLst/>
          </a:prstGeom>
          <a:solidFill>
            <a:srgbClr val="1B3A6B"/>
          </a:solidFill>
          <a:ln w="12700">
            <a:solidFill>
              <a:srgbClr val="1B3A6B"/>
            </a:solidFill>
            <a:prstDash val="solid"/>
          </a:ln>
        </p:spPr>
      </p:sp>
      <p:sp>
        <p:nvSpPr>
          <p:cNvPr id="16" name="Text 14"/>
          <p:cNvSpPr/>
          <p:nvPr/>
        </p:nvSpPr>
        <p:spPr>
          <a:xfrm>
            <a:off x="4663440" y="2423160"/>
            <a:ext cx="457200" cy="594360"/>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7" name="Text 15"/>
          <p:cNvSpPr/>
          <p:nvPr/>
        </p:nvSpPr>
        <p:spPr>
          <a:xfrm>
            <a:off x="5193792" y="2468880"/>
            <a:ext cx="3611880" cy="502920"/>
          </a:xfrm>
          <a:prstGeom prst="rect">
            <a:avLst/>
          </a:prstGeom>
          <a:noFill/>
          <a:ln/>
        </p:spPr>
        <p:txBody>
          <a:bodyPr wrap="square" rtlCol="0" anchor="ctr"/>
          <a:lstStyle/>
          <a:p>
            <a:pPr marL="0" indent="0">
              <a:buNone/>
            </a:pPr>
            <a:r>
              <a:rPr lang="en-US" sz="1000" dirty="0">
                <a:solidFill>
                  <a:srgbClr val="1B2838"/>
                </a:solidFill>
              </a:rPr>
              <a:t>Identify students at high risk of dropping out early</a:t>
            </a:r>
            <a:endParaRPr lang="en-US" sz="1000" dirty="0"/>
          </a:p>
        </p:txBody>
      </p:sp>
      <p:sp>
        <p:nvSpPr>
          <p:cNvPr id="18" name="Shape 16"/>
          <p:cNvSpPr/>
          <p:nvPr/>
        </p:nvSpPr>
        <p:spPr>
          <a:xfrm>
            <a:off x="274320" y="3154680"/>
            <a:ext cx="4206240" cy="59436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19" name="Shape 17"/>
          <p:cNvSpPr/>
          <p:nvPr/>
        </p:nvSpPr>
        <p:spPr>
          <a:xfrm>
            <a:off x="274320" y="3154680"/>
            <a:ext cx="457200" cy="594360"/>
          </a:xfrm>
          <a:prstGeom prst="rect">
            <a:avLst/>
          </a:prstGeom>
          <a:solidFill>
            <a:srgbClr val="1B3A6B"/>
          </a:solidFill>
          <a:ln w="12700">
            <a:solidFill>
              <a:srgbClr val="1B3A6B"/>
            </a:solidFill>
            <a:prstDash val="solid"/>
          </a:ln>
        </p:spPr>
      </p:sp>
      <p:sp>
        <p:nvSpPr>
          <p:cNvPr id="20" name="Text 18"/>
          <p:cNvSpPr/>
          <p:nvPr/>
        </p:nvSpPr>
        <p:spPr>
          <a:xfrm>
            <a:off x="274320" y="3154680"/>
            <a:ext cx="457200" cy="594360"/>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1" name="Text 19"/>
          <p:cNvSpPr/>
          <p:nvPr/>
        </p:nvSpPr>
        <p:spPr>
          <a:xfrm>
            <a:off x="804672" y="3200400"/>
            <a:ext cx="3611880" cy="502920"/>
          </a:xfrm>
          <a:prstGeom prst="rect">
            <a:avLst/>
          </a:prstGeom>
          <a:noFill/>
          <a:ln/>
        </p:spPr>
        <p:txBody>
          <a:bodyPr wrap="square" rtlCol="0" anchor="ctr"/>
          <a:lstStyle/>
          <a:p>
            <a:pPr marL="0" indent="0">
              <a:buNone/>
            </a:pPr>
            <a:r>
              <a:rPr lang="en-US" sz="1000" dirty="0">
                <a:solidFill>
                  <a:srgbClr val="1B2838"/>
                </a:solidFill>
              </a:rPr>
              <a:t>Discover hidden patterns between student characteristics</a:t>
            </a:r>
            <a:endParaRPr lang="en-US" sz="1000" dirty="0"/>
          </a:p>
        </p:txBody>
      </p:sp>
      <p:sp>
        <p:nvSpPr>
          <p:cNvPr id="22" name="Shape 20"/>
          <p:cNvSpPr/>
          <p:nvPr/>
        </p:nvSpPr>
        <p:spPr>
          <a:xfrm>
            <a:off x="4663440" y="3154680"/>
            <a:ext cx="4206240" cy="59436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23" name="Shape 21"/>
          <p:cNvSpPr/>
          <p:nvPr/>
        </p:nvSpPr>
        <p:spPr>
          <a:xfrm>
            <a:off x="4663440" y="3154680"/>
            <a:ext cx="457200" cy="594360"/>
          </a:xfrm>
          <a:prstGeom prst="rect">
            <a:avLst/>
          </a:prstGeom>
          <a:solidFill>
            <a:srgbClr val="1B3A6B"/>
          </a:solidFill>
          <a:ln w="12700">
            <a:solidFill>
              <a:srgbClr val="1B3A6B"/>
            </a:solidFill>
            <a:prstDash val="solid"/>
          </a:ln>
        </p:spPr>
      </p:sp>
      <p:sp>
        <p:nvSpPr>
          <p:cNvPr id="24" name="Text 22"/>
          <p:cNvSpPr/>
          <p:nvPr/>
        </p:nvSpPr>
        <p:spPr>
          <a:xfrm>
            <a:off x="4663440" y="3154680"/>
            <a:ext cx="457200" cy="594360"/>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25" name="Text 23"/>
          <p:cNvSpPr/>
          <p:nvPr/>
        </p:nvSpPr>
        <p:spPr>
          <a:xfrm>
            <a:off x="5193792" y="3200400"/>
            <a:ext cx="3611880" cy="502920"/>
          </a:xfrm>
          <a:prstGeom prst="rect">
            <a:avLst/>
          </a:prstGeom>
          <a:noFill/>
          <a:ln/>
        </p:spPr>
        <p:txBody>
          <a:bodyPr wrap="square" rtlCol="0" anchor="ctr"/>
          <a:lstStyle/>
          <a:p>
            <a:pPr marL="0" indent="0">
              <a:buNone/>
            </a:pPr>
            <a:r>
              <a:rPr lang="en-US" sz="1000" dirty="0">
                <a:solidFill>
                  <a:srgbClr val="1B2838"/>
                </a:solidFill>
              </a:rPr>
              <a:t>Segment students into actionable groups for intervention</a:t>
            </a:r>
            <a:endParaRPr lang="en-US" sz="1000" dirty="0"/>
          </a:p>
        </p:txBody>
      </p:sp>
      <p:sp>
        <p:nvSpPr>
          <p:cNvPr id="26" name="Shape 24"/>
          <p:cNvSpPr/>
          <p:nvPr/>
        </p:nvSpPr>
        <p:spPr>
          <a:xfrm>
            <a:off x="274320" y="3886200"/>
            <a:ext cx="4206240" cy="59436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27" name="Shape 25"/>
          <p:cNvSpPr/>
          <p:nvPr/>
        </p:nvSpPr>
        <p:spPr>
          <a:xfrm>
            <a:off x="274320" y="3886200"/>
            <a:ext cx="457200" cy="594360"/>
          </a:xfrm>
          <a:prstGeom prst="rect">
            <a:avLst/>
          </a:prstGeom>
          <a:solidFill>
            <a:srgbClr val="1B3A6B"/>
          </a:solidFill>
          <a:ln w="12700">
            <a:solidFill>
              <a:srgbClr val="1B3A6B"/>
            </a:solidFill>
            <a:prstDash val="solid"/>
          </a:ln>
        </p:spPr>
      </p:sp>
      <p:sp>
        <p:nvSpPr>
          <p:cNvPr id="28" name="Text 26"/>
          <p:cNvSpPr/>
          <p:nvPr/>
        </p:nvSpPr>
        <p:spPr>
          <a:xfrm>
            <a:off x="274320" y="3886200"/>
            <a:ext cx="457200" cy="594360"/>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29" name="Text 27"/>
          <p:cNvSpPr/>
          <p:nvPr/>
        </p:nvSpPr>
        <p:spPr>
          <a:xfrm>
            <a:off x="804672" y="3931920"/>
            <a:ext cx="3611880" cy="502920"/>
          </a:xfrm>
          <a:prstGeom prst="rect">
            <a:avLst/>
          </a:prstGeom>
          <a:noFill/>
          <a:ln/>
        </p:spPr>
        <p:txBody>
          <a:bodyPr wrap="square" rtlCol="0" anchor="ctr"/>
          <a:lstStyle/>
          <a:p>
            <a:pPr marL="0" indent="0">
              <a:buNone/>
            </a:pPr>
            <a:r>
              <a:rPr lang="en-US" sz="1000" dirty="0">
                <a:solidFill>
                  <a:srgbClr val="1B2838"/>
                </a:solidFill>
              </a:rPr>
              <a:t>Complete all 8 core data mining tasks in SPSS Modeler</a:t>
            </a:r>
            <a:endParaRPr lang="en-US" sz="1000" dirty="0"/>
          </a:p>
        </p:txBody>
      </p:sp>
      <p:sp>
        <p:nvSpPr>
          <p:cNvPr id="30" name="Shape 28"/>
          <p:cNvSpPr/>
          <p:nvPr/>
        </p:nvSpPr>
        <p:spPr>
          <a:xfrm>
            <a:off x="4663440" y="3886200"/>
            <a:ext cx="4206240" cy="59436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31" name="Shape 29"/>
          <p:cNvSpPr/>
          <p:nvPr/>
        </p:nvSpPr>
        <p:spPr>
          <a:xfrm>
            <a:off x="4663440" y="3886200"/>
            <a:ext cx="457200" cy="594360"/>
          </a:xfrm>
          <a:prstGeom prst="rect">
            <a:avLst/>
          </a:prstGeom>
          <a:solidFill>
            <a:srgbClr val="1B3A6B"/>
          </a:solidFill>
          <a:ln w="12700">
            <a:solidFill>
              <a:srgbClr val="1B3A6B"/>
            </a:solidFill>
            <a:prstDash val="solid"/>
          </a:ln>
        </p:spPr>
      </p:sp>
      <p:sp>
        <p:nvSpPr>
          <p:cNvPr id="32" name="Text 30"/>
          <p:cNvSpPr/>
          <p:nvPr/>
        </p:nvSpPr>
        <p:spPr>
          <a:xfrm>
            <a:off x="4663440" y="3886200"/>
            <a:ext cx="457200" cy="594360"/>
          </a:xfrm>
          <a:prstGeom prst="rect">
            <a:avLst/>
          </a:prstGeom>
          <a:noFill/>
          <a:ln/>
        </p:spPr>
        <p:txBody>
          <a:bodyPr wrap="square" lIns="0" tIns="0" rIns="0" bIns="0" rtlCol="0" anchor="ctr"/>
          <a:lstStyle/>
          <a:p>
            <a:pPr marL="0" indent="0" algn="ctr">
              <a:buNone/>
            </a:pPr>
            <a:r>
              <a:rPr lang="en-US" sz="1100" b="1" dirty="0">
                <a:solidFill>
                  <a:srgbClr val="FFFFFF"/>
                </a:solidFill>
              </a:rPr>
              <a:t>06</a:t>
            </a:r>
            <a:endParaRPr lang="en-US" sz="1100" dirty="0"/>
          </a:p>
        </p:txBody>
      </p:sp>
      <p:sp>
        <p:nvSpPr>
          <p:cNvPr id="33" name="Text 31"/>
          <p:cNvSpPr/>
          <p:nvPr/>
        </p:nvSpPr>
        <p:spPr>
          <a:xfrm>
            <a:off x="5193792" y="3931920"/>
            <a:ext cx="3611880" cy="502920"/>
          </a:xfrm>
          <a:prstGeom prst="rect">
            <a:avLst/>
          </a:prstGeom>
          <a:noFill/>
          <a:ln/>
        </p:spPr>
        <p:txBody>
          <a:bodyPr wrap="square" rtlCol="0" anchor="ctr"/>
          <a:lstStyle/>
          <a:p>
            <a:pPr marL="0" indent="0">
              <a:buNone/>
            </a:pPr>
            <a:r>
              <a:rPr lang="en-US" sz="1000" dirty="0">
                <a:solidFill>
                  <a:srgbClr val="1B2838"/>
                </a:solidFill>
              </a:rPr>
              <a:t>Provide data-driven recommendations for institutions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w="12700">
            <a:solidFill>
              <a:srgbClr val="1B3A6B"/>
            </a:solidFill>
            <a:prstDash val="solid"/>
          </a:ln>
        </p:spPr>
      </p:sp>
      <p:sp>
        <p:nvSpPr>
          <p:cNvPr id="3" name="Shape 1"/>
          <p:cNvSpPr/>
          <p:nvPr/>
        </p:nvSpPr>
        <p:spPr>
          <a:xfrm>
            <a:off x="0" y="640080"/>
            <a:ext cx="9144000" cy="54864"/>
          </a:xfrm>
          <a:prstGeom prst="rect">
            <a:avLst/>
          </a:prstGeom>
          <a:solidFill>
            <a:srgbClr val="E07B39"/>
          </a:solidFill>
          <a:ln w="12700">
            <a:solidFill>
              <a:srgbClr val="E07B39"/>
            </a:solidFill>
            <a:prstDash val="solid"/>
          </a:ln>
        </p:spPr>
      </p:sp>
      <p:sp>
        <p:nvSpPr>
          <p:cNvPr id="4" name="Text 2"/>
          <p:cNvSpPr/>
          <p:nvPr/>
        </p:nvSpPr>
        <p:spPr>
          <a:xfrm>
            <a:off x="365760" y="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Overview</a:t>
            </a:r>
            <a:endParaRPr lang="en-US" sz="2200" dirty="0"/>
          </a:p>
        </p:txBody>
      </p:sp>
      <p:sp>
        <p:nvSpPr>
          <p:cNvPr id="5" name="Text 3"/>
          <p:cNvSpPr/>
          <p:nvPr/>
        </p:nvSpPr>
        <p:spPr>
          <a:xfrm>
            <a:off x="8046720" y="0"/>
            <a:ext cx="914400" cy="640080"/>
          </a:xfrm>
          <a:prstGeom prst="rect">
            <a:avLst/>
          </a:prstGeom>
          <a:noFill/>
          <a:ln/>
        </p:spPr>
        <p:txBody>
          <a:bodyPr wrap="square" rtlCol="0" anchor="ctr"/>
          <a:lstStyle/>
          <a:p>
            <a:pPr marL="0" indent="0" algn="r">
              <a:buNone/>
            </a:pPr>
            <a:r>
              <a:rPr lang="en-US" sz="2800" b="1" dirty="0">
                <a:solidFill>
                  <a:srgbClr val="FFFFFF"/>
                </a:solidFill>
              </a:rPr>
              <a:t>03</a:t>
            </a:r>
            <a:endParaRPr lang="en-US" sz="2800" dirty="0"/>
          </a:p>
        </p:txBody>
      </p:sp>
      <p:sp>
        <p:nvSpPr>
          <p:cNvPr id="6" name="Shape 4"/>
          <p:cNvSpPr/>
          <p:nvPr/>
        </p:nvSpPr>
        <p:spPr>
          <a:xfrm>
            <a:off x="274320" y="822960"/>
            <a:ext cx="1965960" cy="1005840"/>
          </a:xfrm>
          <a:prstGeom prst="rect">
            <a:avLst/>
          </a:prstGeom>
          <a:solidFill>
            <a:srgbClr val="1B3A6B"/>
          </a:solidFill>
          <a:ln w="12700">
            <a:solidFill>
              <a:srgbClr val="1B3A6B"/>
            </a:solidFill>
            <a:prstDash val="solid"/>
          </a:ln>
          <a:effectLst>
            <a:outerShdw blurRad="76200" dist="25400" dir="8100000" algn="bl" rotWithShape="0">
              <a:srgbClr val="000000">
                <a:alpha val="12000"/>
              </a:srgbClr>
            </a:outerShdw>
          </a:effectLst>
        </p:spPr>
      </p:sp>
      <p:sp>
        <p:nvSpPr>
          <p:cNvPr id="7" name="Text 5"/>
          <p:cNvSpPr/>
          <p:nvPr/>
        </p:nvSpPr>
        <p:spPr>
          <a:xfrm>
            <a:off x="274320" y="841248"/>
            <a:ext cx="1965960" cy="548640"/>
          </a:xfrm>
          <a:prstGeom prst="rect">
            <a:avLst/>
          </a:prstGeom>
          <a:noFill/>
          <a:ln/>
        </p:spPr>
        <p:txBody>
          <a:bodyPr wrap="square" lIns="0" tIns="0" rIns="0" bIns="0" rtlCol="0" anchor="ctr"/>
          <a:lstStyle/>
          <a:p>
            <a:pPr marL="0" indent="0" algn="ctr">
              <a:buNone/>
            </a:pPr>
            <a:r>
              <a:rPr lang="en-US" sz="2800" b="1" dirty="0">
                <a:solidFill>
                  <a:srgbClr val="FFFFFF"/>
                </a:solidFill>
              </a:rPr>
              <a:t>1,044</a:t>
            </a:r>
            <a:endParaRPr lang="en-US" sz="2800" dirty="0"/>
          </a:p>
        </p:txBody>
      </p:sp>
      <p:sp>
        <p:nvSpPr>
          <p:cNvPr id="8" name="Text 6"/>
          <p:cNvSpPr/>
          <p:nvPr/>
        </p:nvSpPr>
        <p:spPr>
          <a:xfrm>
            <a:off x="274320" y="1371600"/>
            <a:ext cx="1965960" cy="365760"/>
          </a:xfrm>
          <a:prstGeom prst="rect">
            <a:avLst/>
          </a:prstGeom>
          <a:noFill/>
          <a:ln/>
        </p:spPr>
        <p:txBody>
          <a:bodyPr wrap="square" lIns="0" tIns="0" rIns="0" bIns="0" rtlCol="0" anchor="ctr"/>
          <a:lstStyle/>
          <a:p>
            <a:pPr marL="0" indent="0" algn="ctr">
              <a:buNone/>
            </a:pPr>
            <a:r>
              <a:rPr lang="en-US" sz="950" dirty="0">
                <a:solidFill>
                  <a:srgbClr val="FFFFFF"/>
                </a:solidFill>
              </a:rPr>
              <a:t>Student Records</a:t>
            </a:r>
            <a:endParaRPr lang="en-US" sz="950" dirty="0"/>
          </a:p>
        </p:txBody>
      </p:sp>
      <p:sp>
        <p:nvSpPr>
          <p:cNvPr id="9" name="Shape 7"/>
          <p:cNvSpPr/>
          <p:nvPr/>
        </p:nvSpPr>
        <p:spPr>
          <a:xfrm>
            <a:off x="2450592" y="822960"/>
            <a:ext cx="1965960" cy="1005840"/>
          </a:xfrm>
          <a:prstGeom prst="rect">
            <a:avLst/>
          </a:prstGeom>
          <a:solidFill>
            <a:srgbClr val="2E75B6"/>
          </a:solidFill>
          <a:ln w="12700">
            <a:solidFill>
              <a:srgbClr val="2E75B6"/>
            </a:solidFill>
            <a:prstDash val="solid"/>
          </a:ln>
          <a:effectLst>
            <a:outerShdw blurRad="76200" dist="25400" dir="8100000" algn="bl" rotWithShape="0">
              <a:srgbClr val="000000">
                <a:alpha val="12000"/>
              </a:srgbClr>
            </a:outerShdw>
          </a:effectLst>
        </p:spPr>
      </p:sp>
      <p:sp>
        <p:nvSpPr>
          <p:cNvPr id="10" name="Text 8"/>
          <p:cNvSpPr/>
          <p:nvPr/>
        </p:nvSpPr>
        <p:spPr>
          <a:xfrm>
            <a:off x="2450592" y="841248"/>
            <a:ext cx="1965960" cy="548640"/>
          </a:xfrm>
          <a:prstGeom prst="rect">
            <a:avLst/>
          </a:prstGeom>
          <a:noFill/>
          <a:ln/>
        </p:spPr>
        <p:txBody>
          <a:bodyPr wrap="square" lIns="0" tIns="0" rIns="0" bIns="0" rtlCol="0" anchor="ctr"/>
          <a:lstStyle/>
          <a:p>
            <a:pPr marL="0" indent="0" algn="ctr">
              <a:buNone/>
            </a:pPr>
            <a:r>
              <a:rPr lang="en-US" sz="2800" b="1" dirty="0">
                <a:solidFill>
                  <a:srgbClr val="FFFFFF"/>
                </a:solidFill>
              </a:rPr>
              <a:t>33</a:t>
            </a:r>
            <a:endParaRPr lang="en-US" sz="2800" dirty="0"/>
          </a:p>
        </p:txBody>
      </p:sp>
      <p:sp>
        <p:nvSpPr>
          <p:cNvPr id="11" name="Text 9"/>
          <p:cNvSpPr/>
          <p:nvPr/>
        </p:nvSpPr>
        <p:spPr>
          <a:xfrm>
            <a:off x="2450592" y="1371600"/>
            <a:ext cx="1965960" cy="365760"/>
          </a:xfrm>
          <a:prstGeom prst="rect">
            <a:avLst/>
          </a:prstGeom>
          <a:noFill/>
          <a:ln/>
        </p:spPr>
        <p:txBody>
          <a:bodyPr wrap="square" lIns="0" tIns="0" rIns="0" bIns="0" rtlCol="0" anchor="ctr"/>
          <a:lstStyle/>
          <a:p>
            <a:pPr marL="0" indent="0" algn="ctr">
              <a:buNone/>
            </a:pPr>
            <a:r>
              <a:rPr lang="en-US" sz="950" dirty="0">
                <a:solidFill>
                  <a:srgbClr val="FFFFFF"/>
                </a:solidFill>
              </a:rPr>
              <a:t>Features / Attributes</a:t>
            </a:r>
            <a:endParaRPr lang="en-US" sz="950" dirty="0"/>
          </a:p>
        </p:txBody>
      </p:sp>
      <p:sp>
        <p:nvSpPr>
          <p:cNvPr id="12" name="Shape 10"/>
          <p:cNvSpPr/>
          <p:nvPr/>
        </p:nvSpPr>
        <p:spPr>
          <a:xfrm>
            <a:off x="4626864" y="822960"/>
            <a:ext cx="1965960" cy="1005840"/>
          </a:xfrm>
          <a:prstGeom prst="rect">
            <a:avLst/>
          </a:prstGeom>
          <a:solidFill>
            <a:srgbClr val="E07B39"/>
          </a:solidFill>
          <a:ln w="12700">
            <a:solidFill>
              <a:srgbClr val="E07B39"/>
            </a:solidFill>
            <a:prstDash val="solid"/>
          </a:ln>
          <a:effectLst>
            <a:outerShdw blurRad="76200" dist="25400" dir="8100000" algn="bl" rotWithShape="0">
              <a:srgbClr val="000000">
                <a:alpha val="12000"/>
              </a:srgbClr>
            </a:outerShdw>
          </a:effectLst>
        </p:spPr>
      </p:sp>
      <p:sp>
        <p:nvSpPr>
          <p:cNvPr id="13" name="Text 11"/>
          <p:cNvSpPr/>
          <p:nvPr/>
        </p:nvSpPr>
        <p:spPr>
          <a:xfrm>
            <a:off x="4626864" y="841248"/>
            <a:ext cx="1965960" cy="548640"/>
          </a:xfrm>
          <a:prstGeom prst="rect">
            <a:avLst/>
          </a:prstGeom>
          <a:noFill/>
          <a:ln/>
        </p:spPr>
        <p:txBody>
          <a:bodyPr wrap="square" lIns="0" tIns="0" rIns="0" bIns="0" rtlCol="0" anchor="ctr"/>
          <a:lstStyle/>
          <a:p>
            <a:pPr marL="0" indent="0" algn="ctr">
              <a:buNone/>
            </a:pPr>
            <a:r>
              <a:rPr lang="en-US" sz="2800" b="1" dirty="0">
                <a:solidFill>
                  <a:srgbClr val="FFFFFF"/>
                </a:solidFill>
              </a:rPr>
              <a:t>2</a:t>
            </a:r>
            <a:endParaRPr lang="en-US" sz="2800" dirty="0"/>
          </a:p>
        </p:txBody>
      </p:sp>
      <p:sp>
        <p:nvSpPr>
          <p:cNvPr id="14" name="Text 12"/>
          <p:cNvSpPr/>
          <p:nvPr/>
        </p:nvSpPr>
        <p:spPr>
          <a:xfrm>
            <a:off x="4626864" y="1371600"/>
            <a:ext cx="1965960" cy="365760"/>
          </a:xfrm>
          <a:prstGeom prst="rect">
            <a:avLst/>
          </a:prstGeom>
          <a:noFill/>
          <a:ln/>
        </p:spPr>
        <p:txBody>
          <a:bodyPr wrap="square" lIns="0" tIns="0" rIns="0" bIns="0" rtlCol="0" anchor="ctr"/>
          <a:lstStyle/>
          <a:p>
            <a:pPr marL="0" indent="0" algn="ctr">
              <a:buNone/>
            </a:pPr>
            <a:r>
              <a:rPr lang="en-US" sz="950" dirty="0">
                <a:solidFill>
                  <a:srgbClr val="FFFFFF"/>
                </a:solidFill>
              </a:rPr>
              <a:t>Course Datasets</a:t>
            </a:r>
            <a:endParaRPr lang="en-US" sz="950" dirty="0"/>
          </a:p>
        </p:txBody>
      </p:sp>
      <p:sp>
        <p:nvSpPr>
          <p:cNvPr id="15" name="Shape 13"/>
          <p:cNvSpPr/>
          <p:nvPr/>
        </p:nvSpPr>
        <p:spPr>
          <a:xfrm>
            <a:off x="6803136" y="822960"/>
            <a:ext cx="1965960" cy="1005840"/>
          </a:xfrm>
          <a:prstGeom prst="rect">
            <a:avLst/>
          </a:prstGeom>
          <a:solidFill>
            <a:srgbClr val="1A7A4A"/>
          </a:solidFill>
          <a:ln w="12700">
            <a:solidFill>
              <a:srgbClr val="1A7A4A"/>
            </a:solidFill>
            <a:prstDash val="solid"/>
          </a:ln>
          <a:effectLst>
            <a:outerShdw blurRad="76200" dist="25400" dir="8100000" algn="bl" rotWithShape="0">
              <a:srgbClr val="000000">
                <a:alpha val="12000"/>
              </a:srgbClr>
            </a:outerShdw>
          </a:effectLst>
        </p:spPr>
      </p:sp>
      <p:sp>
        <p:nvSpPr>
          <p:cNvPr id="16" name="Text 14"/>
          <p:cNvSpPr/>
          <p:nvPr/>
        </p:nvSpPr>
        <p:spPr>
          <a:xfrm>
            <a:off x="6803136" y="841248"/>
            <a:ext cx="1965960" cy="548640"/>
          </a:xfrm>
          <a:prstGeom prst="rect">
            <a:avLst/>
          </a:prstGeom>
          <a:noFill/>
          <a:ln/>
        </p:spPr>
        <p:txBody>
          <a:bodyPr wrap="square" lIns="0" tIns="0" rIns="0" bIns="0" rtlCol="0" anchor="ctr"/>
          <a:lstStyle/>
          <a:p>
            <a:pPr marL="0" indent="0" algn="ctr">
              <a:buNone/>
            </a:pPr>
            <a:r>
              <a:rPr lang="en-US" sz="2800" b="1" dirty="0">
                <a:solidFill>
                  <a:srgbClr val="FFFFFF"/>
                </a:solidFill>
              </a:rPr>
              <a:t>3</a:t>
            </a:r>
            <a:endParaRPr lang="en-US" sz="2800" dirty="0"/>
          </a:p>
        </p:txBody>
      </p:sp>
      <p:sp>
        <p:nvSpPr>
          <p:cNvPr id="17" name="Text 15"/>
          <p:cNvSpPr/>
          <p:nvPr/>
        </p:nvSpPr>
        <p:spPr>
          <a:xfrm>
            <a:off x="6803136" y="1371600"/>
            <a:ext cx="1965960" cy="365760"/>
          </a:xfrm>
          <a:prstGeom prst="rect">
            <a:avLst/>
          </a:prstGeom>
          <a:noFill/>
          <a:ln/>
        </p:spPr>
        <p:txBody>
          <a:bodyPr wrap="square" lIns="0" tIns="0" rIns="0" bIns="0" rtlCol="0" anchor="ctr"/>
          <a:lstStyle/>
          <a:p>
            <a:pPr marL="0" indent="0" algn="ctr">
              <a:buNone/>
            </a:pPr>
            <a:r>
              <a:rPr lang="en-US" sz="950" dirty="0">
                <a:solidFill>
                  <a:srgbClr val="FFFFFF"/>
                </a:solidFill>
              </a:rPr>
              <a:t>Target Variables</a:t>
            </a:r>
            <a:endParaRPr lang="en-US" sz="950" dirty="0"/>
          </a:p>
        </p:txBody>
      </p:sp>
      <p:sp>
        <p:nvSpPr>
          <p:cNvPr id="18" name="Shape 16"/>
          <p:cNvSpPr/>
          <p:nvPr/>
        </p:nvSpPr>
        <p:spPr>
          <a:xfrm>
            <a:off x="274320" y="1965960"/>
            <a:ext cx="4114800" cy="283464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19" name="Shape 17"/>
          <p:cNvSpPr/>
          <p:nvPr/>
        </p:nvSpPr>
        <p:spPr>
          <a:xfrm>
            <a:off x="274320" y="1965960"/>
            <a:ext cx="4114800" cy="347472"/>
          </a:xfrm>
          <a:prstGeom prst="rect">
            <a:avLst/>
          </a:prstGeom>
          <a:solidFill>
            <a:srgbClr val="1B3A6B"/>
          </a:solidFill>
          <a:ln w="12700">
            <a:solidFill>
              <a:srgbClr val="1B3A6B"/>
            </a:solidFill>
            <a:prstDash val="solid"/>
          </a:ln>
        </p:spPr>
      </p:sp>
      <p:sp>
        <p:nvSpPr>
          <p:cNvPr id="20" name="Text 18"/>
          <p:cNvSpPr/>
          <p:nvPr/>
        </p:nvSpPr>
        <p:spPr>
          <a:xfrm>
            <a:off x="365760" y="1965960"/>
            <a:ext cx="3931920" cy="347472"/>
          </a:xfrm>
          <a:prstGeom prst="rect">
            <a:avLst/>
          </a:prstGeom>
          <a:noFill/>
          <a:ln/>
        </p:spPr>
        <p:txBody>
          <a:bodyPr wrap="square" rtlCol="0" anchor="ctr"/>
          <a:lstStyle/>
          <a:p>
            <a:pPr marL="0" indent="0">
              <a:buNone/>
            </a:pPr>
            <a:r>
              <a:rPr lang="en-US" sz="1100" b="1" dirty="0">
                <a:solidFill>
                  <a:srgbClr val="FFFFFF"/>
                </a:solidFill>
              </a:rPr>
              <a:t>Source &amp; Files</a:t>
            </a:r>
            <a:endParaRPr lang="en-US" sz="1100" dirty="0"/>
          </a:p>
        </p:txBody>
      </p:sp>
      <p:sp>
        <p:nvSpPr>
          <p:cNvPr id="21" name="Shape 19"/>
          <p:cNvSpPr/>
          <p:nvPr/>
        </p:nvSpPr>
        <p:spPr>
          <a:xfrm>
            <a:off x="274320" y="2313432"/>
            <a:ext cx="4114800" cy="384048"/>
          </a:xfrm>
          <a:prstGeom prst="rect">
            <a:avLst/>
          </a:prstGeom>
          <a:solidFill>
            <a:srgbClr val="F4F8FD"/>
          </a:solidFill>
          <a:ln w="6350">
            <a:solidFill>
              <a:srgbClr val="D6E8FA"/>
            </a:solidFill>
            <a:prstDash val="solid"/>
          </a:ln>
        </p:spPr>
      </p:sp>
      <p:sp>
        <p:nvSpPr>
          <p:cNvPr id="22" name="Text 20"/>
          <p:cNvSpPr/>
          <p:nvPr/>
        </p:nvSpPr>
        <p:spPr>
          <a:xfrm>
            <a:off x="365760" y="2331720"/>
            <a:ext cx="1097280" cy="347472"/>
          </a:xfrm>
          <a:prstGeom prst="rect">
            <a:avLst/>
          </a:prstGeom>
          <a:noFill/>
          <a:ln/>
        </p:spPr>
        <p:txBody>
          <a:bodyPr wrap="square" rtlCol="0" anchor="ctr"/>
          <a:lstStyle/>
          <a:p>
            <a:pPr marL="0" indent="0">
              <a:buNone/>
            </a:pPr>
            <a:r>
              <a:rPr lang="en-US" sz="950" b="1" dirty="0">
                <a:solidFill>
                  <a:srgbClr val="1B3A6B"/>
                </a:solidFill>
              </a:rPr>
              <a:t>Source</a:t>
            </a:r>
            <a:endParaRPr lang="en-US" sz="950" dirty="0"/>
          </a:p>
        </p:txBody>
      </p:sp>
      <p:sp>
        <p:nvSpPr>
          <p:cNvPr id="23" name="Text 21"/>
          <p:cNvSpPr/>
          <p:nvPr/>
        </p:nvSpPr>
        <p:spPr>
          <a:xfrm>
            <a:off x="1508760" y="2331720"/>
            <a:ext cx="2743200" cy="347472"/>
          </a:xfrm>
          <a:prstGeom prst="rect">
            <a:avLst/>
          </a:prstGeom>
          <a:noFill/>
          <a:ln/>
        </p:spPr>
        <p:txBody>
          <a:bodyPr wrap="square" rtlCol="0" anchor="ctr"/>
          <a:lstStyle/>
          <a:p>
            <a:pPr marL="0" indent="0">
              <a:buNone/>
            </a:pPr>
            <a:r>
              <a:rPr lang="en-US" sz="950" dirty="0">
                <a:solidFill>
                  <a:srgbClr val="1B2838"/>
                </a:solidFill>
              </a:rPr>
              <a:t>UCI Machine Learning Repository</a:t>
            </a:r>
            <a:endParaRPr lang="en-US" sz="950" dirty="0"/>
          </a:p>
        </p:txBody>
      </p:sp>
      <p:sp>
        <p:nvSpPr>
          <p:cNvPr id="24" name="Shape 22"/>
          <p:cNvSpPr/>
          <p:nvPr/>
        </p:nvSpPr>
        <p:spPr>
          <a:xfrm>
            <a:off x="274320" y="2697480"/>
            <a:ext cx="4114800" cy="384048"/>
          </a:xfrm>
          <a:prstGeom prst="rect">
            <a:avLst/>
          </a:prstGeom>
          <a:solidFill>
            <a:srgbClr val="FFFFFF"/>
          </a:solidFill>
          <a:ln w="6350">
            <a:solidFill>
              <a:srgbClr val="D6E8FA"/>
            </a:solidFill>
            <a:prstDash val="solid"/>
          </a:ln>
        </p:spPr>
      </p:sp>
      <p:sp>
        <p:nvSpPr>
          <p:cNvPr id="25" name="Text 23"/>
          <p:cNvSpPr/>
          <p:nvPr/>
        </p:nvSpPr>
        <p:spPr>
          <a:xfrm>
            <a:off x="365760" y="2715768"/>
            <a:ext cx="1097280" cy="347472"/>
          </a:xfrm>
          <a:prstGeom prst="rect">
            <a:avLst/>
          </a:prstGeom>
          <a:noFill/>
          <a:ln/>
        </p:spPr>
        <p:txBody>
          <a:bodyPr wrap="square" rtlCol="0" anchor="ctr"/>
          <a:lstStyle/>
          <a:p>
            <a:pPr marL="0" indent="0">
              <a:buNone/>
            </a:pPr>
            <a:r>
              <a:rPr lang="en-US" sz="950" b="1" dirty="0">
                <a:solidFill>
                  <a:srgbClr val="1B3A6B"/>
                </a:solidFill>
              </a:rPr>
              <a:t>File 1</a:t>
            </a:r>
            <a:endParaRPr lang="en-US" sz="950" dirty="0"/>
          </a:p>
        </p:txBody>
      </p:sp>
      <p:sp>
        <p:nvSpPr>
          <p:cNvPr id="26" name="Text 24"/>
          <p:cNvSpPr/>
          <p:nvPr/>
        </p:nvSpPr>
        <p:spPr>
          <a:xfrm>
            <a:off x="1508760" y="2715768"/>
            <a:ext cx="2743200" cy="347472"/>
          </a:xfrm>
          <a:prstGeom prst="rect">
            <a:avLst/>
          </a:prstGeom>
          <a:noFill/>
          <a:ln/>
        </p:spPr>
        <p:txBody>
          <a:bodyPr wrap="square" rtlCol="0" anchor="ctr"/>
          <a:lstStyle/>
          <a:p>
            <a:pPr marL="0" indent="0">
              <a:buNone/>
            </a:pPr>
            <a:r>
              <a:rPr lang="en-US" sz="950" dirty="0">
                <a:solidFill>
                  <a:srgbClr val="1B2838"/>
                </a:solidFill>
              </a:rPr>
              <a:t>student-mat.csv (395 records)</a:t>
            </a:r>
            <a:endParaRPr lang="en-US" sz="950" dirty="0"/>
          </a:p>
        </p:txBody>
      </p:sp>
      <p:sp>
        <p:nvSpPr>
          <p:cNvPr id="27" name="Shape 25"/>
          <p:cNvSpPr/>
          <p:nvPr/>
        </p:nvSpPr>
        <p:spPr>
          <a:xfrm>
            <a:off x="274320" y="3081528"/>
            <a:ext cx="4114800" cy="384048"/>
          </a:xfrm>
          <a:prstGeom prst="rect">
            <a:avLst/>
          </a:prstGeom>
          <a:solidFill>
            <a:srgbClr val="F4F8FD"/>
          </a:solidFill>
          <a:ln w="6350">
            <a:solidFill>
              <a:srgbClr val="D6E8FA"/>
            </a:solidFill>
            <a:prstDash val="solid"/>
          </a:ln>
        </p:spPr>
      </p:sp>
      <p:sp>
        <p:nvSpPr>
          <p:cNvPr id="28" name="Text 26"/>
          <p:cNvSpPr/>
          <p:nvPr/>
        </p:nvSpPr>
        <p:spPr>
          <a:xfrm>
            <a:off x="365760" y="3099816"/>
            <a:ext cx="1097280" cy="347472"/>
          </a:xfrm>
          <a:prstGeom prst="rect">
            <a:avLst/>
          </a:prstGeom>
          <a:noFill/>
          <a:ln/>
        </p:spPr>
        <p:txBody>
          <a:bodyPr wrap="square" rtlCol="0" anchor="ctr"/>
          <a:lstStyle/>
          <a:p>
            <a:pPr marL="0" indent="0">
              <a:buNone/>
            </a:pPr>
            <a:r>
              <a:rPr lang="en-US" sz="950" b="1" dirty="0">
                <a:solidFill>
                  <a:srgbClr val="1B3A6B"/>
                </a:solidFill>
              </a:rPr>
              <a:t>File 2</a:t>
            </a:r>
            <a:endParaRPr lang="en-US" sz="950" dirty="0"/>
          </a:p>
        </p:txBody>
      </p:sp>
      <p:sp>
        <p:nvSpPr>
          <p:cNvPr id="29" name="Text 27"/>
          <p:cNvSpPr/>
          <p:nvPr/>
        </p:nvSpPr>
        <p:spPr>
          <a:xfrm>
            <a:off x="1508760" y="3099816"/>
            <a:ext cx="2743200" cy="347472"/>
          </a:xfrm>
          <a:prstGeom prst="rect">
            <a:avLst/>
          </a:prstGeom>
          <a:noFill/>
          <a:ln/>
        </p:spPr>
        <p:txBody>
          <a:bodyPr wrap="square" rtlCol="0" anchor="ctr"/>
          <a:lstStyle/>
          <a:p>
            <a:pPr marL="0" indent="0">
              <a:buNone/>
            </a:pPr>
            <a:r>
              <a:rPr lang="en-US" sz="950" dirty="0">
                <a:solidFill>
                  <a:srgbClr val="1B2838"/>
                </a:solidFill>
              </a:rPr>
              <a:t>student-por.csv (649 records)</a:t>
            </a:r>
            <a:endParaRPr lang="en-US" sz="950" dirty="0"/>
          </a:p>
        </p:txBody>
      </p:sp>
      <p:sp>
        <p:nvSpPr>
          <p:cNvPr id="30" name="Shape 28"/>
          <p:cNvSpPr/>
          <p:nvPr/>
        </p:nvSpPr>
        <p:spPr>
          <a:xfrm>
            <a:off x="274320" y="3465576"/>
            <a:ext cx="4114800" cy="384048"/>
          </a:xfrm>
          <a:prstGeom prst="rect">
            <a:avLst/>
          </a:prstGeom>
          <a:solidFill>
            <a:srgbClr val="FFFFFF"/>
          </a:solidFill>
          <a:ln w="6350">
            <a:solidFill>
              <a:srgbClr val="D6E8FA"/>
            </a:solidFill>
            <a:prstDash val="solid"/>
          </a:ln>
        </p:spPr>
      </p:sp>
      <p:sp>
        <p:nvSpPr>
          <p:cNvPr id="31" name="Text 29"/>
          <p:cNvSpPr/>
          <p:nvPr/>
        </p:nvSpPr>
        <p:spPr>
          <a:xfrm>
            <a:off x="365760" y="3483864"/>
            <a:ext cx="1097280" cy="347472"/>
          </a:xfrm>
          <a:prstGeom prst="rect">
            <a:avLst/>
          </a:prstGeom>
          <a:noFill/>
          <a:ln/>
        </p:spPr>
        <p:txBody>
          <a:bodyPr wrap="square" rtlCol="0" anchor="ctr"/>
          <a:lstStyle/>
          <a:p>
            <a:pPr marL="0" indent="0">
              <a:buNone/>
            </a:pPr>
            <a:r>
              <a:rPr lang="en-US" sz="950" b="1" dirty="0">
                <a:solidFill>
                  <a:srgbClr val="1B3A6B"/>
                </a:solidFill>
              </a:rPr>
              <a:t>Format</a:t>
            </a:r>
            <a:endParaRPr lang="en-US" sz="950" dirty="0"/>
          </a:p>
        </p:txBody>
      </p:sp>
      <p:sp>
        <p:nvSpPr>
          <p:cNvPr id="32" name="Text 30"/>
          <p:cNvSpPr/>
          <p:nvPr/>
        </p:nvSpPr>
        <p:spPr>
          <a:xfrm>
            <a:off x="1508760" y="3483864"/>
            <a:ext cx="2743200" cy="347472"/>
          </a:xfrm>
          <a:prstGeom prst="rect">
            <a:avLst/>
          </a:prstGeom>
          <a:noFill/>
          <a:ln/>
        </p:spPr>
        <p:txBody>
          <a:bodyPr wrap="square" rtlCol="0" anchor="ctr"/>
          <a:lstStyle/>
          <a:p>
            <a:pPr marL="0" indent="0">
              <a:buNone/>
            </a:pPr>
            <a:r>
              <a:rPr lang="en-US" sz="950" dirty="0">
                <a:solidFill>
                  <a:srgbClr val="1B2838"/>
                </a:solidFill>
              </a:rPr>
              <a:t>CSV — Semicolon delimited</a:t>
            </a:r>
            <a:endParaRPr lang="en-US" sz="950" dirty="0"/>
          </a:p>
        </p:txBody>
      </p:sp>
      <p:sp>
        <p:nvSpPr>
          <p:cNvPr id="33" name="Shape 31"/>
          <p:cNvSpPr/>
          <p:nvPr/>
        </p:nvSpPr>
        <p:spPr>
          <a:xfrm>
            <a:off x="274320" y="3849624"/>
            <a:ext cx="4114800" cy="384048"/>
          </a:xfrm>
          <a:prstGeom prst="rect">
            <a:avLst/>
          </a:prstGeom>
          <a:solidFill>
            <a:srgbClr val="F4F8FD"/>
          </a:solidFill>
          <a:ln w="6350">
            <a:solidFill>
              <a:srgbClr val="D6E8FA"/>
            </a:solidFill>
            <a:prstDash val="solid"/>
          </a:ln>
        </p:spPr>
      </p:sp>
      <p:sp>
        <p:nvSpPr>
          <p:cNvPr id="34" name="Text 32"/>
          <p:cNvSpPr/>
          <p:nvPr/>
        </p:nvSpPr>
        <p:spPr>
          <a:xfrm>
            <a:off x="365760" y="3867912"/>
            <a:ext cx="1097280" cy="347472"/>
          </a:xfrm>
          <a:prstGeom prst="rect">
            <a:avLst/>
          </a:prstGeom>
          <a:noFill/>
          <a:ln/>
        </p:spPr>
        <p:txBody>
          <a:bodyPr wrap="square" rtlCol="0" anchor="ctr"/>
          <a:lstStyle/>
          <a:p>
            <a:pPr marL="0" indent="0">
              <a:buNone/>
            </a:pPr>
            <a:r>
              <a:rPr lang="en-US" sz="950" b="1" dirty="0">
                <a:solidFill>
                  <a:srgbClr val="1B3A6B"/>
                </a:solidFill>
              </a:rPr>
              <a:t>Target</a:t>
            </a:r>
            <a:endParaRPr lang="en-US" sz="950" dirty="0"/>
          </a:p>
        </p:txBody>
      </p:sp>
      <p:sp>
        <p:nvSpPr>
          <p:cNvPr id="35" name="Text 33"/>
          <p:cNvSpPr/>
          <p:nvPr/>
        </p:nvSpPr>
        <p:spPr>
          <a:xfrm>
            <a:off x="1508760" y="3867912"/>
            <a:ext cx="2743200" cy="347472"/>
          </a:xfrm>
          <a:prstGeom prst="rect">
            <a:avLst/>
          </a:prstGeom>
          <a:noFill/>
          <a:ln/>
        </p:spPr>
        <p:txBody>
          <a:bodyPr wrap="square" rtlCol="0" anchor="ctr"/>
          <a:lstStyle/>
          <a:p>
            <a:pPr marL="0" indent="0">
              <a:buNone/>
            </a:pPr>
            <a:r>
              <a:rPr lang="en-US" sz="950" dirty="0">
                <a:solidFill>
                  <a:srgbClr val="1B2838"/>
                </a:solidFill>
              </a:rPr>
              <a:t>G3, PassFail, DropoutRisk</a:t>
            </a:r>
            <a:endParaRPr lang="en-US" sz="950" dirty="0"/>
          </a:p>
        </p:txBody>
      </p:sp>
      <p:sp>
        <p:nvSpPr>
          <p:cNvPr id="36" name="Shape 34"/>
          <p:cNvSpPr/>
          <p:nvPr/>
        </p:nvSpPr>
        <p:spPr>
          <a:xfrm>
            <a:off x="274320" y="4233672"/>
            <a:ext cx="4114800" cy="384048"/>
          </a:xfrm>
          <a:prstGeom prst="rect">
            <a:avLst/>
          </a:prstGeom>
          <a:solidFill>
            <a:srgbClr val="FFFFFF"/>
          </a:solidFill>
          <a:ln w="6350">
            <a:solidFill>
              <a:srgbClr val="D6E8FA"/>
            </a:solidFill>
            <a:prstDash val="solid"/>
          </a:ln>
        </p:spPr>
      </p:sp>
      <p:sp>
        <p:nvSpPr>
          <p:cNvPr id="37" name="Text 35"/>
          <p:cNvSpPr/>
          <p:nvPr/>
        </p:nvSpPr>
        <p:spPr>
          <a:xfrm>
            <a:off x="365760" y="4251960"/>
            <a:ext cx="1097280" cy="347472"/>
          </a:xfrm>
          <a:prstGeom prst="rect">
            <a:avLst/>
          </a:prstGeom>
          <a:noFill/>
          <a:ln/>
        </p:spPr>
        <p:txBody>
          <a:bodyPr wrap="square" rtlCol="0" anchor="ctr"/>
          <a:lstStyle/>
          <a:p>
            <a:pPr marL="0" indent="0">
              <a:buNone/>
            </a:pPr>
            <a:r>
              <a:rPr lang="en-US" sz="950" b="1" dirty="0">
                <a:solidFill>
                  <a:srgbClr val="1B3A6B"/>
                </a:solidFill>
              </a:rPr>
              <a:t>License</a:t>
            </a:r>
            <a:endParaRPr lang="en-US" sz="950" dirty="0"/>
          </a:p>
        </p:txBody>
      </p:sp>
      <p:sp>
        <p:nvSpPr>
          <p:cNvPr id="38" name="Text 36"/>
          <p:cNvSpPr/>
          <p:nvPr/>
        </p:nvSpPr>
        <p:spPr>
          <a:xfrm>
            <a:off x="1508760" y="4251960"/>
            <a:ext cx="2743200" cy="347472"/>
          </a:xfrm>
          <a:prstGeom prst="rect">
            <a:avLst/>
          </a:prstGeom>
          <a:noFill/>
          <a:ln/>
        </p:spPr>
        <p:txBody>
          <a:bodyPr wrap="square" rtlCol="0" anchor="ctr"/>
          <a:lstStyle/>
          <a:p>
            <a:pPr marL="0" indent="0">
              <a:buNone/>
            </a:pPr>
            <a:r>
              <a:rPr lang="en-US" sz="950" dirty="0">
                <a:solidFill>
                  <a:srgbClr val="1B2838"/>
                </a:solidFill>
              </a:rPr>
              <a:t>CC BY 4.0 — Free to use</a:t>
            </a:r>
            <a:endParaRPr lang="en-US" sz="950" dirty="0"/>
          </a:p>
        </p:txBody>
      </p:sp>
      <p:sp>
        <p:nvSpPr>
          <p:cNvPr id="39" name="Shape 37"/>
          <p:cNvSpPr/>
          <p:nvPr/>
        </p:nvSpPr>
        <p:spPr>
          <a:xfrm>
            <a:off x="4663440" y="1965960"/>
            <a:ext cx="4206240" cy="283464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40" name="Shape 38"/>
          <p:cNvSpPr/>
          <p:nvPr/>
        </p:nvSpPr>
        <p:spPr>
          <a:xfrm>
            <a:off x="4663440" y="1965960"/>
            <a:ext cx="4206240" cy="347472"/>
          </a:xfrm>
          <a:prstGeom prst="rect">
            <a:avLst/>
          </a:prstGeom>
          <a:solidFill>
            <a:srgbClr val="E07B39"/>
          </a:solidFill>
          <a:ln w="12700">
            <a:solidFill>
              <a:srgbClr val="E07B39"/>
            </a:solidFill>
            <a:prstDash val="solid"/>
          </a:ln>
        </p:spPr>
      </p:sp>
      <p:sp>
        <p:nvSpPr>
          <p:cNvPr id="41" name="Text 39"/>
          <p:cNvSpPr/>
          <p:nvPr/>
        </p:nvSpPr>
        <p:spPr>
          <a:xfrm>
            <a:off x="4754880" y="1965960"/>
            <a:ext cx="4023360" cy="347472"/>
          </a:xfrm>
          <a:prstGeom prst="rect">
            <a:avLst/>
          </a:prstGeom>
          <a:noFill/>
          <a:ln/>
        </p:spPr>
        <p:txBody>
          <a:bodyPr wrap="square" rtlCol="0" anchor="ctr"/>
          <a:lstStyle/>
          <a:p>
            <a:pPr marL="0" indent="0">
              <a:buNone/>
            </a:pPr>
            <a:r>
              <a:rPr lang="en-US" sz="1100" b="1" dirty="0">
                <a:solidFill>
                  <a:srgbClr val="FFFFFF"/>
                </a:solidFill>
              </a:rPr>
              <a:t>Key Features Used</a:t>
            </a:r>
            <a:endParaRPr lang="en-US" sz="1100" dirty="0"/>
          </a:p>
        </p:txBody>
      </p:sp>
      <p:sp>
        <p:nvSpPr>
          <p:cNvPr id="42" name="Shape 40"/>
          <p:cNvSpPr/>
          <p:nvPr/>
        </p:nvSpPr>
        <p:spPr>
          <a:xfrm>
            <a:off x="4663440" y="2313432"/>
            <a:ext cx="4206240" cy="384048"/>
          </a:xfrm>
          <a:prstGeom prst="rect">
            <a:avLst/>
          </a:prstGeom>
          <a:solidFill>
            <a:srgbClr val="F4F8FD"/>
          </a:solidFill>
          <a:ln w="6350">
            <a:solidFill>
              <a:srgbClr val="D6E8FA"/>
            </a:solidFill>
            <a:prstDash val="solid"/>
          </a:ln>
        </p:spPr>
      </p:sp>
      <p:sp>
        <p:nvSpPr>
          <p:cNvPr id="43" name="Text 41"/>
          <p:cNvSpPr/>
          <p:nvPr/>
        </p:nvSpPr>
        <p:spPr>
          <a:xfrm>
            <a:off x="4754880" y="2331720"/>
            <a:ext cx="1188720" cy="347472"/>
          </a:xfrm>
          <a:prstGeom prst="rect">
            <a:avLst/>
          </a:prstGeom>
          <a:noFill/>
          <a:ln/>
        </p:spPr>
        <p:txBody>
          <a:bodyPr wrap="square" rtlCol="0" anchor="ctr"/>
          <a:lstStyle/>
          <a:p>
            <a:pPr marL="0" indent="0">
              <a:buNone/>
            </a:pPr>
            <a:r>
              <a:rPr lang="en-US" sz="950" b="1" dirty="0">
                <a:solidFill>
                  <a:srgbClr val="E07B39"/>
                </a:solidFill>
              </a:rPr>
              <a:t>G1, G2, G3</a:t>
            </a:r>
            <a:endParaRPr lang="en-US" sz="950" dirty="0"/>
          </a:p>
        </p:txBody>
      </p:sp>
      <p:sp>
        <p:nvSpPr>
          <p:cNvPr id="44" name="Text 42"/>
          <p:cNvSpPr/>
          <p:nvPr/>
        </p:nvSpPr>
        <p:spPr>
          <a:xfrm>
            <a:off x="5989320" y="2331720"/>
            <a:ext cx="2743200" cy="347472"/>
          </a:xfrm>
          <a:prstGeom prst="rect">
            <a:avLst/>
          </a:prstGeom>
          <a:noFill/>
          <a:ln/>
        </p:spPr>
        <p:txBody>
          <a:bodyPr wrap="square" rtlCol="0" anchor="ctr"/>
          <a:lstStyle/>
          <a:p>
            <a:pPr marL="0" indent="0">
              <a:buNone/>
            </a:pPr>
            <a:r>
              <a:rPr lang="en-US" sz="950" dirty="0">
                <a:solidFill>
                  <a:srgbClr val="1B2838"/>
                </a:solidFill>
              </a:rPr>
              <a:t>Period grades (0-20) — Primary predictors</a:t>
            </a:r>
            <a:endParaRPr lang="en-US" sz="950" dirty="0"/>
          </a:p>
        </p:txBody>
      </p:sp>
      <p:sp>
        <p:nvSpPr>
          <p:cNvPr id="45" name="Shape 43"/>
          <p:cNvSpPr/>
          <p:nvPr/>
        </p:nvSpPr>
        <p:spPr>
          <a:xfrm>
            <a:off x="4663440" y="2697480"/>
            <a:ext cx="4206240" cy="384048"/>
          </a:xfrm>
          <a:prstGeom prst="rect">
            <a:avLst/>
          </a:prstGeom>
          <a:solidFill>
            <a:srgbClr val="FFFFFF"/>
          </a:solidFill>
          <a:ln w="6350">
            <a:solidFill>
              <a:srgbClr val="D6E8FA"/>
            </a:solidFill>
            <a:prstDash val="solid"/>
          </a:ln>
        </p:spPr>
      </p:sp>
      <p:sp>
        <p:nvSpPr>
          <p:cNvPr id="46" name="Text 44"/>
          <p:cNvSpPr/>
          <p:nvPr/>
        </p:nvSpPr>
        <p:spPr>
          <a:xfrm>
            <a:off x="4754880" y="2715768"/>
            <a:ext cx="1188720" cy="347472"/>
          </a:xfrm>
          <a:prstGeom prst="rect">
            <a:avLst/>
          </a:prstGeom>
          <a:noFill/>
          <a:ln/>
        </p:spPr>
        <p:txBody>
          <a:bodyPr wrap="square" rtlCol="0" anchor="ctr"/>
          <a:lstStyle/>
          <a:p>
            <a:pPr marL="0" indent="0">
              <a:buNone/>
            </a:pPr>
            <a:r>
              <a:rPr lang="en-US" sz="950" b="1" dirty="0">
                <a:solidFill>
                  <a:srgbClr val="E07B39"/>
                </a:solidFill>
              </a:rPr>
              <a:t>absences</a:t>
            </a:r>
            <a:endParaRPr lang="en-US" sz="950" dirty="0"/>
          </a:p>
        </p:txBody>
      </p:sp>
      <p:sp>
        <p:nvSpPr>
          <p:cNvPr id="47" name="Text 45"/>
          <p:cNvSpPr/>
          <p:nvPr/>
        </p:nvSpPr>
        <p:spPr>
          <a:xfrm>
            <a:off x="5989320" y="2715768"/>
            <a:ext cx="2743200" cy="347472"/>
          </a:xfrm>
          <a:prstGeom prst="rect">
            <a:avLst/>
          </a:prstGeom>
          <a:noFill/>
          <a:ln/>
        </p:spPr>
        <p:txBody>
          <a:bodyPr wrap="square" rtlCol="0" anchor="ctr"/>
          <a:lstStyle/>
          <a:p>
            <a:pPr marL="0" indent="0">
              <a:buNone/>
            </a:pPr>
            <a:r>
              <a:rPr lang="en-US" sz="950" dirty="0">
                <a:solidFill>
                  <a:srgbClr val="1B2838"/>
                </a:solidFill>
              </a:rPr>
              <a:t>Number of school absences</a:t>
            </a:r>
            <a:endParaRPr lang="en-US" sz="950" dirty="0"/>
          </a:p>
        </p:txBody>
      </p:sp>
      <p:sp>
        <p:nvSpPr>
          <p:cNvPr id="48" name="Shape 46"/>
          <p:cNvSpPr/>
          <p:nvPr/>
        </p:nvSpPr>
        <p:spPr>
          <a:xfrm>
            <a:off x="4663440" y="3081528"/>
            <a:ext cx="4206240" cy="384048"/>
          </a:xfrm>
          <a:prstGeom prst="rect">
            <a:avLst/>
          </a:prstGeom>
          <a:solidFill>
            <a:srgbClr val="F4F8FD"/>
          </a:solidFill>
          <a:ln w="6350">
            <a:solidFill>
              <a:srgbClr val="D6E8FA"/>
            </a:solidFill>
            <a:prstDash val="solid"/>
          </a:ln>
        </p:spPr>
      </p:sp>
      <p:sp>
        <p:nvSpPr>
          <p:cNvPr id="49" name="Text 47"/>
          <p:cNvSpPr/>
          <p:nvPr/>
        </p:nvSpPr>
        <p:spPr>
          <a:xfrm>
            <a:off x="4754880" y="3099816"/>
            <a:ext cx="1188720" cy="347472"/>
          </a:xfrm>
          <a:prstGeom prst="rect">
            <a:avLst/>
          </a:prstGeom>
          <a:noFill/>
          <a:ln/>
        </p:spPr>
        <p:txBody>
          <a:bodyPr wrap="square" rtlCol="0" anchor="ctr"/>
          <a:lstStyle/>
          <a:p>
            <a:pPr marL="0" indent="0">
              <a:buNone/>
            </a:pPr>
            <a:r>
              <a:rPr lang="en-US" sz="950" b="1" dirty="0">
                <a:solidFill>
                  <a:srgbClr val="E07B39"/>
                </a:solidFill>
              </a:rPr>
              <a:t>studytime</a:t>
            </a:r>
            <a:endParaRPr lang="en-US" sz="950" dirty="0"/>
          </a:p>
        </p:txBody>
      </p:sp>
      <p:sp>
        <p:nvSpPr>
          <p:cNvPr id="50" name="Text 48"/>
          <p:cNvSpPr/>
          <p:nvPr/>
        </p:nvSpPr>
        <p:spPr>
          <a:xfrm>
            <a:off x="5989320" y="3099816"/>
            <a:ext cx="2743200" cy="347472"/>
          </a:xfrm>
          <a:prstGeom prst="rect">
            <a:avLst/>
          </a:prstGeom>
          <a:noFill/>
          <a:ln/>
        </p:spPr>
        <p:txBody>
          <a:bodyPr wrap="square" rtlCol="0" anchor="ctr"/>
          <a:lstStyle/>
          <a:p>
            <a:pPr marL="0" indent="0">
              <a:buNone/>
            </a:pPr>
            <a:r>
              <a:rPr lang="en-US" sz="950" dirty="0">
                <a:solidFill>
                  <a:srgbClr val="1B2838"/>
                </a:solidFill>
              </a:rPr>
              <a:t>Weekly study time (1-4 scale)</a:t>
            </a:r>
            <a:endParaRPr lang="en-US" sz="950" dirty="0"/>
          </a:p>
        </p:txBody>
      </p:sp>
      <p:sp>
        <p:nvSpPr>
          <p:cNvPr id="51" name="Shape 49"/>
          <p:cNvSpPr/>
          <p:nvPr/>
        </p:nvSpPr>
        <p:spPr>
          <a:xfrm>
            <a:off x="4663440" y="3465576"/>
            <a:ext cx="4206240" cy="384048"/>
          </a:xfrm>
          <a:prstGeom prst="rect">
            <a:avLst/>
          </a:prstGeom>
          <a:solidFill>
            <a:srgbClr val="FFFFFF"/>
          </a:solidFill>
          <a:ln w="6350">
            <a:solidFill>
              <a:srgbClr val="D6E8FA"/>
            </a:solidFill>
            <a:prstDash val="solid"/>
          </a:ln>
        </p:spPr>
      </p:sp>
      <p:sp>
        <p:nvSpPr>
          <p:cNvPr id="52" name="Text 50"/>
          <p:cNvSpPr/>
          <p:nvPr/>
        </p:nvSpPr>
        <p:spPr>
          <a:xfrm>
            <a:off x="4754880" y="3483864"/>
            <a:ext cx="1188720" cy="347472"/>
          </a:xfrm>
          <a:prstGeom prst="rect">
            <a:avLst/>
          </a:prstGeom>
          <a:noFill/>
          <a:ln/>
        </p:spPr>
        <p:txBody>
          <a:bodyPr wrap="square" rtlCol="0" anchor="ctr"/>
          <a:lstStyle/>
          <a:p>
            <a:pPr marL="0" indent="0">
              <a:buNone/>
            </a:pPr>
            <a:r>
              <a:rPr lang="en-US" sz="950" b="1" dirty="0">
                <a:solidFill>
                  <a:srgbClr val="E07B39"/>
                </a:solidFill>
              </a:rPr>
              <a:t>failures</a:t>
            </a:r>
            <a:endParaRPr lang="en-US" sz="950" dirty="0"/>
          </a:p>
        </p:txBody>
      </p:sp>
      <p:sp>
        <p:nvSpPr>
          <p:cNvPr id="53" name="Text 51"/>
          <p:cNvSpPr/>
          <p:nvPr/>
        </p:nvSpPr>
        <p:spPr>
          <a:xfrm>
            <a:off x="5989320" y="3483864"/>
            <a:ext cx="2743200" cy="347472"/>
          </a:xfrm>
          <a:prstGeom prst="rect">
            <a:avLst/>
          </a:prstGeom>
          <a:noFill/>
          <a:ln/>
        </p:spPr>
        <p:txBody>
          <a:bodyPr wrap="square" rtlCol="0" anchor="ctr"/>
          <a:lstStyle/>
          <a:p>
            <a:pPr marL="0" indent="0">
              <a:buNone/>
            </a:pPr>
            <a:r>
              <a:rPr lang="en-US" sz="950" dirty="0">
                <a:solidFill>
                  <a:srgbClr val="1B2838"/>
                </a:solidFill>
              </a:rPr>
              <a:t>Number of past class failures</a:t>
            </a:r>
            <a:endParaRPr lang="en-US" sz="950" dirty="0"/>
          </a:p>
        </p:txBody>
      </p:sp>
      <p:sp>
        <p:nvSpPr>
          <p:cNvPr id="54" name="Shape 52"/>
          <p:cNvSpPr/>
          <p:nvPr/>
        </p:nvSpPr>
        <p:spPr>
          <a:xfrm>
            <a:off x="4663440" y="3849624"/>
            <a:ext cx="4206240" cy="384048"/>
          </a:xfrm>
          <a:prstGeom prst="rect">
            <a:avLst/>
          </a:prstGeom>
          <a:solidFill>
            <a:srgbClr val="F4F8FD"/>
          </a:solidFill>
          <a:ln w="6350">
            <a:solidFill>
              <a:srgbClr val="D6E8FA"/>
            </a:solidFill>
            <a:prstDash val="solid"/>
          </a:ln>
        </p:spPr>
      </p:sp>
      <p:sp>
        <p:nvSpPr>
          <p:cNvPr id="55" name="Text 53"/>
          <p:cNvSpPr/>
          <p:nvPr/>
        </p:nvSpPr>
        <p:spPr>
          <a:xfrm>
            <a:off x="4754880" y="3867912"/>
            <a:ext cx="1188720" cy="347472"/>
          </a:xfrm>
          <a:prstGeom prst="rect">
            <a:avLst/>
          </a:prstGeom>
          <a:noFill/>
          <a:ln/>
        </p:spPr>
        <p:txBody>
          <a:bodyPr wrap="square" rtlCol="0" anchor="ctr"/>
          <a:lstStyle/>
          <a:p>
            <a:pPr marL="0" indent="0">
              <a:buNone/>
            </a:pPr>
            <a:r>
              <a:rPr lang="en-US" sz="950" b="1" dirty="0">
                <a:solidFill>
                  <a:srgbClr val="E07B39"/>
                </a:solidFill>
              </a:rPr>
              <a:t>internet</a:t>
            </a:r>
            <a:endParaRPr lang="en-US" sz="950" dirty="0"/>
          </a:p>
        </p:txBody>
      </p:sp>
      <p:sp>
        <p:nvSpPr>
          <p:cNvPr id="56" name="Text 54"/>
          <p:cNvSpPr/>
          <p:nvPr/>
        </p:nvSpPr>
        <p:spPr>
          <a:xfrm>
            <a:off x="5989320" y="3867912"/>
            <a:ext cx="2743200" cy="347472"/>
          </a:xfrm>
          <a:prstGeom prst="rect">
            <a:avLst/>
          </a:prstGeom>
          <a:noFill/>
          <a:ln/>
        </p:spPr>
        <p:txBody>
          <a:bodyPr wrap="square" rtlCol="0" anchor="ctr"/>
          <a:lstStyle/>
          <a:p>
            <a:pPr marL="0" indent="0">
              <a:buNone/>
            </a:pPr>
            <a:r>
              <a:rPr lang="en-US" sz="950" dirty="0">
                <a:solidFill>
                  <a:srgbClr val="1B2838"/>
                </a:solidFill>
              </a:rPr>
              <a:t>Home internet access (yes/no)</a:t>
            </a:r>
            <a:endParaRPr lang="en-US" sz="950" dirty="0"/>
          </a:p>
        </p:txBody>
      </p:sp>
      <p:sp>
        <p:nvSpPr>
          <p:cNvPr id="57" name="Shape 55"/>
          <p:cNvSpPr/>
          <p:nvPr/>
        </p:nvSpPr>
        <p:spPr>
          <a:xfrm>
            <a:off x="4663440" y="4233672"/>
            <a:ext cx="4206240" cy="384048"/>
          </a:xfrm>
          <a:prstGeom prst="rect">
            <a:avLst/>
          </a:prstGeom>
          <a:solidFill>
            <a:srgbClr val="FFFFFF"/>
          </a:solidFill>
          <a:ln w="6350">
            <a:solidFill>
              <a:srgbClr val="D6E8FA"/>
            </a:solidFill>
            <a:prstDash val="solid"/>
          </a:ln>
        </p:spPr>
      </p:sp>
      <p:sp>
        <p:nvSpPr>
          <p:cNvPr id="58" name="Text 56"/>
          <p:cNvSpPr/>
          <p:nvPr/>
        </p:nvSpPr>
        <p:spPr>
          <a:xfrm>
            <a:off x="4754880" y="4251960"/>
            <a:ext cx="1188720" cy="347472"/>
          </a:xfrm>
          <a:prstGeom prst="rect">
            <a:avLst/>
          </a:prstGeom>
          <a:noFill/>
          <a:ln/>
        </p:spPr>
        <p:txBody>
          <a:bodyPr wrap="square" rtlCol="0" anchor="ctr"/>
          <a:lstStyle/>
          <a:p>
            <a:pPr marL="0" indent="0">
              <a:buNone/>
            </a:pPr>
            <a:r>
              <a:rPr lang="en-US" sz="950" b="1" dirty="0">
                <a:solidFill>
                  <a:srgbClr val="E07B39"/>
                </a:solidFill>
              </a:rPr>
              <a:t>sex, address</a:t>
            </a:r>
            <a:endParaRPr lang="en-US" sz="950" dirty="0"/>
          </a:p>
        </p:txBody>
      </p:sp>
      <p:sp>
        <p:nvSpPr>
          <p:cNvPr id="59" name="Text 57"/>
          <p:cNvSpPr/>
          <p:nvPr/>
        </p:nvSpPr>
        <p:spPr>
          <a:xfrm>
            <a:off x="5989320" y="4251960"/>
            <a:ext cx="2743200" cy="347472"/>
          </a:xfrm>
          <a:prstGeom prst="rect">
            <a:avLst/>
          </a:prstGeom>
          <a:noFill/>
          <a:ln/>
        </p:spPr>
        <p:txBody>
          <a:bodyPr wrap="square" rtlCol="0" anchor="ctr"/>
          <a:lstStyle/>
          <a:p>
            <a:pPr marL="0" indent="0">
              <a:buNone/>
            </a:pPr>
            <a:r>
              <a:rPr lang="en-US" sz="950" dirty="0">
                <a:solidFill>
                  <a:srgbClr val="1B2838"/>
                </a:solidFill>
              </a:rPr>
              <a:t>Demographic attributes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w="12700">
            <a:solidFill>
              <a:srgbClr val="1B3A6B"/>
            </a:solidFill>
            <a:prstDash val="solid"/>
          </a:ln>
        </p:spPr>
      </p:sp>
      <p:sp>
        <p:nvSpPr>
          <p:cNvPr id="3" name="Shape 1"/>
          <p:cNvSpPr/>
          <p:nvPr/>
        </p:nvSpPr>
        <p:spPr>
          <a:xfrm>
            <a:off x="0" y="640080"/>
            <a:ext cx="9144000" cy="54864"/>
          </a:xfrm>
          <a:prstGeom prst="rect">
            <a:avLst/>
          </a:prstGeom>
          <a:solidFill>
            <a:srgbClr val="E07B39"/>
          </a:solidFill>
          <a:ln w="12700">
            <a:solidFill>
              <a:srgbClr val="E07B39"/>
            </a:solidFill>
            <a:prstDash val="solid"/>
          </a:ln>
        </p:spPr>
      </p:sp>
      <p:sp>
        <p:nvSpPr>
          <p:cNvPr id="4" name="Text 2"/>
          <p:cNvSpPr/>
          <p:nvPr/>
        </p:nvSpPr>
        <p:spPr>
          <a:xfrm>
            <a:off x="365760" y="0"/>
            <a:ext cx="8229600" cy="6400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Task 1 &amp; 2: Data Import, Quality &amp; Restructuring</a:t>
            </a:r>
            <a:endParaRPr lang="en-US" sz="2000" dirty="0"/>
          </a:p>
        </p:txBody>
      </p:sp>
      <p:sp>
        <p:nvSpPr>
          <p:cNvPr id="5" name="Text 3"/>
          <p:cNvSpPr/>
          <p:nvPr/>
        </p:nvSpPr>
        <p:spPr>
          <a:xfrm>
            <a:off x="8046720" y="0"/>
            <a:ext cx="914400" cy="640080"/>
          </a:xfrm>
          <a:prstGeom prst="rect">
            <a:avLst/>
          </a:prstGeom>
          <a:noFill/>
          <a:ln/>
        </p:spPr>
        <p:txBody>
          <a:bodyPr wrap="square" rtlCol="0" anchor="ctr"/>
          <a:lstStyle/>
          <a:p>
            <a:pPr marL="0" indent="0" algn="r">
              <a:buNone/>
            </a:pPr>
            <a:r>
              <a:rPr lang="en-US" sz="2800" b="1" dirty="0">
                <a:solidFill>
                  <a:srgbClr val="FFFFFF"/>
                </a:solidFill>
              </a:rPr>
              <a:t>04</a:t>
            </a:r>
            <a:endParaRPr lang="en-US" sz="2800" dirty="0"/>
          </a:p>
        </p:txBody>
      </p:sp>
      <p:sp>
        <p:nvSpPr>
          <p:cNvPr id="6" name="Shape 4"/>
          <p:cNvSpPr/>
          <p:nvPr/>
        </p:nvSpPr>
        <p:spPr>
          <a:xfrm>
            <a:off x="274320" y="822960"/>
            <a:ext cx="1965960" cy="228600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7" name="Shape 5"/>
          <p:cNvSpPr/>
          <p:nvPr/>
        </p:nvSpPr>
        <p:spPr>
          <a:xfrm>
            <a:off x="274320" y="822960"/>
            <a:ext cx="1965960" cy="347472"/>
          </a:xfrm>
          <a:prstGeom prst="rect">
            <a:avLst/>
          </a:prstGeom>
          <a:solidFill>
            <a:srgbClr val="1B3A6B"/>
          </a:solidFill>
          <a:ln w="12700">
            <a:solidFill>
              <a:srgbClr val="1B3A6B"/>
            </a:solidFill>
            <a:prstDash val="solid"/>
          </a:ln>
        </p:spPr>
      </p:sp>
      <p:sp>
        <p:nvSpPr>
          <p:cNvPr id="8" name="Text 6"/>
          <p:cNvSpPr/>
          <p:nvPr/>
        </p:nvSpPr>
        <p:spPr>
          <a:xfrm>
            <a:off x="274320" y="822960"/>
            <a:ext cx="1965960" cy="347472"/>
          </a:xfrm>
          <a:prstGeom prst="rect">
            <a:avLst/>
          </a:prstGeom>
          <a:noFill/>
          <a:ln/>
        </p:spPr>
        <p:txBody>
          <a:bodyPr wrap="square" lIns="0" tIns="0" rIns="0" bIns="0" rtlCol="0" anchor="ctr"/>
          <a:lstStyle/>
          <a:p>
            <a:pPr marL="0" indent="0" algn="ctr">
              <a:buNone/>
            </a:pPr>
            <a:r>
              <a:rPr lang="en-US" sz="900" b="1" dirty="0">
                <a:solidFill>
                  <a:srgbClr val="FFFFFF"/>
                </a:solidFill>
              </a:rPr>
              <a:t>Step 1</a:t>
            </a:r>
            <a:endParaRPr lang="en-US" sz="900" dirty="0"/>
          </a:p>
        </p:txBody>
      </p:sp>
      <p:sp>
        <p:nvSpPr>
          <p:cNvPr id="9" name="Text 7"/>
          <p:cNvSpPr/>
          <p:nvPr/>
        </p:nvSpPr>
        <p:spPr>
          <a:xfrm>
            <a:off x="365760" y="1216152"/>
            <a:ext cx="1783080" cy="365760"/>
          </a:xfrm>
          <a:prstGeom prst="rect">
            <a:avLst/>
          </a:prstGeom>
          <a:noFill/>
          <a:ln/>
        </p:spPr>
        <p:txBody>
          <a:bodyPr wrap="square" rtlCol="0" anchor="ctr"/>
          <a:lstStyle/>
          <a:p>
            <a:pPr marL="0" indent="0">
              <a:buNone/>
            </a:pPr>
            <a:r>
              <a:rPr lang="en-US" sz="1050" b="1" dirty="0">
                <a:solidFill>
                  <a:srgbClr val="1B3A6B"/>
                </a:solidFill>
              </a:rPr>
              <a:t>Variable File Node</a:t>
            </a:r>
            <a:endParaRPr lang="en-US" sz="1050" dirty="0"/>
          </a:p>
        </p:txBody>
      </p:sp>
      <p:sp>
        <p:nvSpPr>
          <p:cNvPr id="10" name="Text 8"/>
          <p:cNvSpPr/>
          <p:nvPr/>
        </p:nvSpPr>
        <p:spPr>
          <a:xfrm>
            <a:off x="365760" y="1581912"/>
            <a:ext cx="1783080" cy="1417320"/>
          </a:xfrm>
          <a:prstGeom prst="rect">
            <a:avLst/>
          </a:prstGeom>
          <a:noFill/>
          <a:ln/>
        </p:spPr>
        <p:txBody>
          <a:bodyPr wrap="square" rtlCol="0" anchor="t"/>
          <a:lstStyle/>
          <a:p>
            <a:pPr marL="0" indent="0">
              <a:buNone/>
            </a:pPr>
            <a:r>
              <a:rPr lang="en-US" sz="950" dirty="0">
                <a:solidFill>
                  <a:srgbClr val="5A6A7E"/>
                </a:solidFill>
              </a:rPr>
              <a:t>Import student-mat.csv with semicolon delimiter. First row set as column names.</a:t>
            </a:r>
            <a:endParaRPr lang="en-US" sz="950" dirty="0"/>
          </a:p>
        </p:txBody>
      </p:sp>
      <p:sp>
        <p:nvSpPr>
          <p:cNvPr id="11" name="Shape 9"/>
          <p:cNvSpPr/>
          <p:nvPr/>
        </p:nvSpPr>
        <p:spPr>
          <a:xfrm>
            <a:off x="2240280" y="1965960"/>
            <a:ext cx="210312" cy="0"/>
          </a:xfrm>
          <a:prstGeom prst="line">
            <a:avLst/>
          </a:prstGeom>
          <a:noFill/>
          <a:ln w="25400">
            <a:solidFill>
              <a:srgbClr val="E07B39"/>
            </a:solidFill>
            <a:prstDash val="solid"/>
          </a:ln>
        </p:spPr>
      </p:sp>
      <p:sp>
        <p:nvSpPr>
          <p:cNvPr id="12" name="Shape 10"/>
          <p:cNvSpPr/>
          <p:nvPr/>
        </p:nvSpPr>
        <p:spPr>
          <a:xfrm>
            <a:off x="2450592" y="822960"/>
            <a:ext cx="1965960" cy="228600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13" name="Shape 11"/>
          <p:cNvSpPr/>
          <p:nvPr/>
        </p:nvSpPr>
        <p:spPr>
          <a:xfrm>
            <a:off x="2450592" y="822960"/>
            <a:ext cx="1965960" cy="347472"/>
          </a:xfrm>
          <a:prstGeom prst="rect">
            <a:avLst/>
          </a:prstGeom>
          <a:solidFill>
            <a:srgbClr val="2E75B6"/>
          </a:solidFill>
          <a:ln w="12700">
            <a:solidFill>
              <a:srgbClr val="2E75B6"/>
            </a:solidFill>
            <a:prstDash val="solid"/>
          </a:ln>
        </p:spPr>
      </p:sp>
      <p:sp>
        <p:nvSpPr>
          <p:cNvPr id="14" name="Text 12"/>
          <p:cNvSpPr/>
          <p:nvPr/>
        </p:nvSpPr>
        <p:spPr>
          <a:xfrm>
            <a:off x="2450592" y="822960"/>
            <a:ext cx="1965960" cy="347472"/>
          </a:xfrm>
          <a:prstGeom prst="rect">
            <a:avLst/>
          </a:prstGeom>
          <a:noFill/>
          <a:ln/>
        </p:spPr>
        <p:txBody>
          <a:bodyPr wrap="square" lIns="0" tIns="0" rIns="0" bIns="0" rtlCol="0" anchor="ctr"/>
          <a:lstStyle/>
          <a:p>
            <a:pPr marL="0" indent="0" algn="ctr">
              <a:buNone/>
            </a:pPr>
            <a:r>
              <a:rPr lang="en-US" sz="900" b="1" dirty="0">
                <a:solidFill>
                  <a:srgbClr val="FFFFFF"/>
                </a:solidFill>
              </a:rPr>
              <a:t>Step 2</a:t>
            </a:r>
            <a:endParaRPr lang="en-US" sz="900" dirty="0"/>
          </a:p>
        </p:txBody>
      </p:sp>
      <p:sp>
        <p:nvSpPr>
          <p:cNvPr id="15" name="Text 13"/>
          <p:cNvSpPr/>
          <p:nvPr/>
        </p:nvSpPr>
        <p:spPr>
          <a:xfrm>
            <a:off x="2542032" y="1216152"/>
            <a:ext cx="1783080" cy="365760"/>
          </a:xfrm>
          <a:prstGeom prst="rect">
            <a:avLst/>
          </a:prstGeom>
          <a:noFill/>
          <a:ln/>
        </p:spPr>
        <p:txBody>
          <a:bodyPr wrap="square" rtlCol="0" anchor="ctr"/>
          <a:lstStyle/>
          <a:p>
            <a:pPr marL="0" indent="0">
              <a:buNone/>
            </a:pPr>
            <a:r>
              <a:rPr lang="en-US" sz="1050" b="1" dirty="0">
                <a:solidFill>
                  <a:srgbClr val="1B3A6B"/>
                </a:solidFill>
              </a:rPr>
              <a:t>Type Node</a:t>
            </a:r>
            <a:endParaRPr lang="en-US" sz="1050" dirty="0"/>
          </a:p>
        </p:txBody>
      </p:sp>
      <p:sp>
        <p:nvSpPr>
          <p:cNvPr id="16" name="Text 14"/>
          <p:cNvSpPr/>
          <p:nvPr/>
        </p:nvSpPr>
        <p:spPr>
          <a:xfrm>
            <a:off x="2542032" y="1581912"/>
            <a:ext cx="1783080" cy="1417320"/>
          </a:xfrm>
          <a:prstGeom prst="rect">
            <a:avLst/>
          </a:prstGeom>
          <a:noFill/>
          <a:ln/>
        </p:spPr>
        <p:txBody>
          <a:bodyPr wrap="square" rtlCol="0" anchor="t"/>
          <a:lstStyle/>
          <a:p>
            <a:pPr marL="0" indent="0">
              <a:buNone/>
            </a:pPr>
            <a:r>
              <a:rPr lang="en-US" sz="950" dirty="0">
                <a:solidFill>
                  <a:srgbClr val="5A6A7E"/>
                </a:solidFill>
              </a:rPr>
              <a:t>Define field roles: G3 = Target, absences/studytime/failures = Input fields.</a:t>
            </a:r>
            <a:endParaRPr lang="en-US" sz="950" dirty="0"/>
          </a:p>
        </p:txBody>
      </p:sp>
      <p:sp>
        <p:nvSpPr>
          <p:cNvPr id="17" name="Shape 15"/>
          <p:cNvSpPr/>
          <p:nvPr/>
        </p:nvSpPr>
        <p:spPr>
          <a:xfrm>
            <a:off x="4416552" y="1965960"/>
            <a:ext cx="210312" cy="0"/>
          </a:xfrm>
          <a:prstGeom prst="line">
            <a:avLst/>
          </a:prstGeom>
          <a:noFill/>
          <a:ln w="25400">
            <a:solidFill>
              <a:srgbClr val="E07B39"/>
            </a:solidFill>
            <a:prstDash val="solid"/>
          </a:ln>
        </p:spPr>
      </p:sp>
      <p:sp>
        <p:nvSpPr>
          <p:cNvPr id="18" name="Shape 16"/>
          <p:cNvSpPr/>
          <p:nvPr/>
        </p:nvSpPr>
        <p:spPr>
          <a:xfrm>
            <a:off x="4626864" y="822960"/>
            <a:ext cx="1965960" cy="228600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19" name="Shape 17"/>
          <p:cNvSpPr/>
          <p:nvPr/>
        </p:nvSpPr>
        <p:spPr>
          <a:xfrm>
            <a:off x="4626864" y="822960"/>
            <a:ext cx="1965960" cy="347472"/>
          </a:xfrm>
          <a:prstGeom prst="rect">
            <a:avLst/>
          </a:prstGeom>
          <a:solidFill>
            <a:srgbClr val="E07B39"/>
          </a:solidFill>
          <a:ln w="12700">
            <a:solidFill>
              <a:srgbClr val="E07B39"/>
            </a:solidFill>
            <a:prstDash val="solid"/>
          </a:ln>
        </p:spPr>
      </p:sp>
      <p:sp>
        <p:nvSpPr>
          <p:cNvPr id="20" name="Text 18"/>
          <p:cNvSpPr/>
          <p:nvPr/>
        </p:nvSpPr>
        <p:spPr>
          <a:xfrm>
            <a:off x="4626864" y="822960"/>
            <a:ext cx="1965960" cy="347472"/>
          </a:xfrm>
          <a:prstGeom prst="rect">
            <a:avLst/>
          </a:prstGeom>
          <a:noFill/>
          <a:ln/>
        </p:spPr>
        <p:txBody>
          <a:bodyPr wrap="square" lIns="0" tIns="0" rIns="0" bIns="0" rtlCol="0" anchor="ctr"/>
          <a:lstStyle/>
          <a:p>
            <a:pPr marL="0" indent="0" algn="ctr">
              <a:buNone/>
            </a:pPr>
            <a:r>
              <a:rPr lang="en-US" sz="900" b="1" dirty="0">
                <a:solidFill>
                  <a:srgbClr val="FFFFFF"/>
                </a:solidFill>
              </a:rPr>
              <a:t>Step 3</a:t>
            </a:r>
            <a:endParaRPr lang="en-US" sz="900" dirty="0"/>
          </a:p>
        </p:txBody>
      </p:sp>
      <p:sp>
        <p:nvSpPr>
          <p:cNvPr id="21" name="Text 19"/>
          <p:cNvSpPr/>
          <p:nvPr/>
        </p:nvSpPr>
        <p:spPr>
          <a:xfrm>
            <a:off x="4718304" y="1216152"/>
            <a:ext cx="1783080" cy="365760"/>
          </a:xfrm>
          <a:prstGeom prst="rect">
            <a:avLst/>
          </a:prstGeom>
          <a:noFill/>
          <a:ln/>
        </p:spPr>
        <p:txBody>
          <a:bodyPr wrap="square" rtlCol="0" anchor="ctr"/>
          <a:lstStyle/>
          <a:p>
            <a:pPr marL="0" indent="0">
              <a:buNone/>
            </a:pPr>
            <a:r>
              <a:rPr lang="en-US" sz="1050" b="1" dirty="0">
                <a:solidFill>
                  <a:srgbClr val="1B3A6B"/>
                </a:solidFill>
              </a:rPr>
              <a:t>Data Audit Node</a:t>
            </a:r>
            <a:endParaRPr lang="en-US" sz="1050" dirty="0"/>
          </a:p>
        </p:txBody>
      </p:sp>
      <p:sp>
        <p:nvSpPr>
          <p:cNvPr id="22" name="Text 20"/>
          <p:cNvSpPr/>
          <p:nvPr/>
        </p:nvSpPr>
        <p:spPr>
          <a:xfrm>
            <a:off x="4718304" y="1581912"/>
            <a:ext cx="1783080" cy="1417320"/>
          </a:xfrm>
          <a:prstGeom prst="rect">
            <a:avLst/>
          </a:prstGeom>
          <a:noFill/>
          <a:ln/>
        </p:spPr>
        <p:txBody>
          <a:bodyPr wrap="square" rtlCol="0" anchor="t"/>
          <a:lstStyle/>
          <a:p>
            <a:pPr marL="0" indent="0">
              <a:buNone/>
            </a:pPr>
            <a:r>
              <a:rPr lang="en-US" sz="950" dirty="0">
                <a:solidFill>
                  <a:srgbClr val="5A6A7E"/>
                </a:solidFill>
              </a:rPr>
              <a:t>Full quality report — missing values, distributions, min/max for all 33 fields.</a:t>
            </a:r>
            <a:endParaRPr lang="en-US" sz="950" dirty="0"/>
          </a:p>
        </p:txBody>
      </p:sp>
      <p:sp>
        <p:nvSpPr>
          <p:cNvPr id="23" name="Shape 21"/>
          <p:cNvSpPr/>
          <p:nvPr/>
        </p:nvSpPr>
        <p:spPr>
          <a:xfrm>
            <a:off x="6592824" y="1965960"/>
            <a:ext cx="210312" cy="0"/>
          </a:xfrm>
          <a:prstGeom prst="line">
            <a:avLst/>
          </a:prstGeom>
          <a:noFill/>
          <a:ln w="25400">
            <a:solidFill>
              <a:srgbClr val="E07B39"/>
            </a:solidFill>
            <a:prstDash val="solid"/>
          </a:ln>
        </p:spPr>
      </p:sp>
      <p:sp>
        <p:nvSpPr>
          <p:cNvPr id="24" name="Shape 22"/>
          <p:cNvSpPr/>
          <p:nvPr/>
        </p:nvSpPr>
        <p:spPr>
          <a:xfrm>
            <a:off x="6803136" y="822960"/>
            <a:ext cx="1965960" cy="228600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25" name="Shape 23"/>
          <p:cNvSpPr/>
          <p:nvPr/>
        </p:nvSpPr>
        <p:spPr>
          <a:xfrm>
            <a:off x="6803136" y="822960"/>
            <a:ext cx="1965960" cy="347472"/>
          </a:xfrm>
          <a:prstGeom prst="rect">
            <a:avLst/>
          </a:prstGeom>
          <a:solidFill>
            <a:srgbClr val="1A7A4A"/>
          </a:solidFill>
          <a:ln w="12700">
            <a:solidFill>
              <a:srgbClr val="1A7A4A"/>
            </a:solidFill>
            <a:prstDash val="solid"/>
          </a:ln>
        </p:spPr>
      </p:sp>
      <p:sp>
        <p:nvSpPr>
          <p:cNvPr id="26" name="Text 24"/>
          <p:cNvSpPr/>
          <p:nvPr/>
        </p:nvSpPr>
        <p:spPr>
          <a:xfrm>
            <a:off x="6803136" y="822960"/>
            <a:ext cx="1965960" cy="347472"/>
          </a:xfrm>
          <a:prstGeom prst="rect">
            <a:avLst/>
          </a:prstGeom>
          <a:noFill/>
          <a:ln/>
        </p:spPr>
        <p:txBody>
          <a:bodyPr wrap="square" lIns="0" tIns="0" rIns="0" bIns="0" rtlCol="0" anchor="ctr"/>
          <a:lstStyle/>
          <a:p>
            <a:pPr marL="0" indent="0" algn="ctr">
              <a:buNone/>
            </a:pPr>
            <a:r>
              <a:rPr lang="en-US" sz="900" b="1" dirty="0">
                <a:solidFill>
                  <a:srgbClr val="FFFFFF"/>
                </a:solidFill>
              </a:rPr>
              <a:t>Step 4</a:t>
            </a:r>
            <a:endParaRPr lang="en-US" sz="900" dirty="0"/>
          </a:p>
        </p:txBody>
      </p:sp>
      <p:sp>
        <p:nvSpPr>
          <p:cNvPr id="27" name="Text 25"/>
          <p:cNvSpPr/>
          <p:nvPr/>
        </p:nvSpPr>
        <p:spPr>
          <a:xfrm>
            <a:off x="6894576" y="1216152"/>
            <a:ext cx="1783080" cy="365760"/>
          </a:xfrm>
          <a:prstGeom prst="rect">
            <a:avLst/>
          </a:prstGeom>
          <a:noFill/>
          <a:ln/>
        </p:spPr>
        <p:txBody>
          <a:bodyPr wrap="square" rtlCol="0" anchor="ctr"/>
          <a:lstStyle/>
          <a:p>
            <a:pPr marL="0" indent="0">
              <a:buNone/>
            </a:pPr>
            <a:r>
              <a:rPr lang="en-US" sz="1050" b="1" dirty="0">
                <a:solidFill>
                  <a:srgbClr val="1B3A6B"/>
                </a:solidFill>
              </a:rPr>
              <a:t>Select Node</a:t>
            </a:r>
            <a:endParaRPr lang="en-US" sz="1050" dirty="0"/>
          </a:p>
        </p:txBody>
      </p:sp>
      <p:sp>
        <p:nvSpPr>
          <p:cNvPr id="28" name="Text 26"/>
          <p:cNvSpPr/>
          <p:nvPr/>
        </p:nvSpPr>
        <p:spPr>
          <a:xfrm>
            <a:off x="6894576" y="1581912"/>
            <a:ext cx="1783080" cy="1417320"/>
          </a:xfrm>
          <a:prstGeom prst="rect">
            <a:avLst/>
          </a:prstGeom>
          <a:noFill/>
          <a:ln/>
        </p:spPr>
        <p:txBody>
          <a:bodyPr wrap="square" rtlCol="0" anchor="t"/>
          <a:lstStyle/>
          <a:p>
            <a:pPr marL="0" indent="0">
              <a:buNone/>
            </a:pPr>
            <a:r>
              <a:rPr lang="en-US" sz="950" dirty="0">
                <a:solidFill>
                  <a:srgbClr val="5A6A7E"/>
                </a:solidFill>
              </a:rPr>
              <a:t>Filter invalid records: absences &gt;= 0 AND G3 &gt;= 0 to remove corrupt data.</a:t>
            </a:r>
            <a:endParaRPr lang="en-US" sz="950" dirty="0"/>
          </a:p>
        </p:txBody>
      </p:sp>
      <p:sp>
        <p:nvSpPr>
          <p:cNvPr id="29" name="Shape 27"/>
          <p:cNvSpPr/>
          <p:nvPr/>
        </p:nvSpPr>
        <p:spPr>
          <a:xfrm>
            <a:off x="274320" y="3246120"/>
            <a:ext cx="8595360" cy="292608"/>
          </a:xfrm>
          <a:prstGeom prst="rect">
            <a:avLst/>
          </a:prstGeom>
          <a:solidFill>
            <a:srgbClr val="1B3A6B"/>
          </a:solidFill>
          <a:ln w="12700">
            <a:solidFill>
              <a:srgbClr val="1B3A6B"/>
            </a:solidFill>
            <a:prstDash val="solid"/>
          </a:ln>
        </p:spPr>
      </p:sp>
      <p:sp>
        <p:nvSpPr>
          <p:cNvPr id="30" name="Text 28"/>
          <p:cNvSpPr/>
          <p:nvPr/>
        </p:nvSpPr>
        <p:spPr>
          <a:xfrm>
            <a:off x="365760" y="3246120"/>
            <a:ext cx="8412480" cy="292608"/>
          </a:xfrm>
          <a:prstGeom prst="rect">
            <a:avLst/>
          </a:prstGeom>
          <a:noFill/>
          <a:ln/>
        </p:spPr>
        <p:txBody>
          <a:bodyPr wrap="square" rtlCol="0" anchor="ctr"/>
          <a:lstStyle/>
          <a:p>
            <a:pPr marL="0" indent="0">
              <a:buNone/>
            </a:pPr>
            <a:r>
              <a:rPr lang="en-US" sz="950" b="1" kern="0" spc="200" dirty="0">
                <a:solidFill>
                  <a:srgbClr val="FFFFFF"/>
                </a:solidFill>
              </a:rPr>
              <a:t>KEY QUALITY FINDINGS</a:t>
            </a:r>
            <a:endParaRPr lang="en-US" sz="950" dirty="0"/>
          </a:p>
        </p:txBody>
      </p:sp>
      <p:sp>
        <p:nvSpPr>
          <p:cNvPr id="31" name="Shape 29"/>
          <p:cNvSpPr/>
          <p:nvPr/>
        </p:nvSpPr>
        <p:spPr>
          <a:xfrm>
            <a:off x="274320" y="3611880"/>
            <a:ext cx="1965960" cy="1188720"/>
          </a:xfrm>
          <a:prstGeom prst="rect">
            <a:avLst/>
          </a:prstGeom>
          <a:solidFill>
            <a:srgbClr val="D4EDDA"/>
          </a:solidFill>
          <a:ln w="12700">
            <a:solidFill>
              <a:srgbClr val="D4EDDA"/>
            </a:solidFill>
            <a:prstDash val="solid"/>
          </a:ln>
          <a:effectLst>
            <a:outerShdw blurRad="76200" dist="25400" dir="8100000" algn="bl" rotWithShape="0">
              <a:srgbClr val="000000">
                <a:alpha val="12000"/>
              </a:srgbClr>
            </a:outerShdw>
          </a:effectLst>
        </p:spPr>
      </p:sp>
      <p:sp>
        <p:nvSpPr>
          <p:cNvPr id="32" name="Shape 30"/>
          <p:cNvSpPr/>
          <p:nvPr/>
        </p:nvSpPr>
        <p:spPr>
          <a:xfrm>
            <a:off x="274320" y="3611880"/>
            <a:ext cx="1965960" cy="64008"/>
          </a:xfrm>
          <a:prstGeom prst="rect">
            <a:avLst/>
          </a:prstGeom>
          <a:solidFill>
            <a:srgbClr val="1A7A4A"/>
          </a:solidFill>
          <a:ln w="12700">
            <a:solidFill>
              <a:srgbClr val="1A7A4A"/>
            </a:solidFill>
            <a:prstDash val="solid"/>
          </a:ln>
        </p:spPr>
      </p:sp>
      <p:sp>
        <p:nvSpPr>
          <p:cNvPr id="33" name="Text 31"/>
          <p:cNvSpPr/>
          <p:nvPr/>
        </p:nvSpPr>
        <p:spPr>
          <a:xfrm>
            <a:off x="365760" y="3703320"/>
            <a:ext cx="1783080" cy="347472"/>
          </a:xfrm>
          <a:prstGeom prst="rect">
            <a:avLst/>
          </a:prstGeom>
          <a:noFill/>
          <a:ln/>
        </p:spPr>
        <p:txBody>
          <a:bodyPr wrap="square" rtlCol="0" anchor="ctr"/>
          <a:lstStyle/>
          <a:p>
            <a:pPr marL="0" indent="0">
              <a:buNone/>
            </a:pPr>
            <a:r>
              <a:rPr lang="en-US" sz="1000" b="1" dirty="0">
                <a:solidFill>
                  <a:srgbClr val="1A7A4A"/>
                </a:solidFill>
              </a:rPr>
              <a:t>Minimal Missing Values</a:t>
            </a:r>
            <a:endParaRPr lang="en-US" sz="1000" dirty="0"/>
          </a:p>
        </p:txBody>
      </p:sp>
      <p:sp>
        <p:nvSpPr>
          <p:cNvPr id="34" name="Text 32"/>
          <p:cNvSpPr/>
          <p:nvPr/>
        </p:nvSpPr>
        <p:spPr>
          <a:xfrm>
            <a:off x="365760" y="4050792"/>
            <a:ext cx="1783080" cy="658368"/>
          </a:xfrm>
          <a:prstGeom prst="rect">
            <a:avLst/>
          </a:prstGeom>
          <a:noFill/>
          <a:ln/>
        </p:spPr>
        <p:txBody>
          <a:bodyPr wrap="square" rtlCol="0" anchor="ctr"/>
          <a:lstStyle/>
          <a:p>
            <a:pPr marL="0" indent="0">
              <a:buNone/>
            </a:pPr>
            <a:r>
              <a:rPr lang="en-US" sz="950" dirty="0">
                <a:solidFill>
                  <a:srgbClr val="1B2838"/>
                </a:solidFill>
              </a:rPr>
              <a:t>Very few nulls across all 33 fields</a:t>
            </a:r>
            <a:endParaRPr lang="en-US" sz="950" dirty="0"/>
          </a:p>
        </p:txBody>
      </p:sp>
      <p:sp>
        <p:nvSpPr>
          <p:cNvPr id="35" name="Shape 33"/>
          <p:cNvSpPr/>
          <p:nvPr/>
        </p:nvSpPr>
        <p:spPr>
          <a:xfrm>
            <a:off x="2450592" y="3611880"/>
            <a:ext cx="1965960" cy="1188720"/>
          </a:xfrm>
          <a:prstGeom prst="rect">
            <a:avLst/>
          </a:prstGeom>
          <a:solidFill>
            <a:srgbClr val="D6E8FA"/>
          </a:solidFill>
          <a:ln w="12700">
            <a:solidFill>
              <a:srgbClr val="D6E8FA"/>
            </a:solidFill>
            <a:prstDash val="solid"/>
          </a:ln>
          <a:effectLst>
            <a:outerShdw blurRad="76200" dist="25400" dir="8100000" algn="bl" rotWithShape="0">
              <a:srgbClr val="000000">
                <a:alpha val="12000"/>
              </a:srgbClr>
            </a:outerShdw>
          </a:effectLst>
        </p:spPr>
      </p:sp>
      <p:sp>
        <p:nvSpPr>
          <p:cNvPr id="36" name="Shape 34"/>
          <p:cNvSpPr/>
          <p:nvPr/>
        </p:nvSpPr>
        <p:spPr>
          <a:xfrm>
            <a:off x="2450592" y="3611880"/>
            <a:ext cx="1965960" cy="64008"/>
          </a:xfrm>
          <a:prstGeom prst="rect">
            <a:avLst/>
          </a:prstGeom>
          <a:solidFill>
            <a:srgbClr val="1B3A6B"/>
          </a:solidFill>
          <a:ln w="12700">
            <a:solidFill>
              <a:srgbClr val="1B3A6B"/>
            </a:solidFill>
            <a:prstDash val="solid"/>
          </a:ln>
        </p:spPr>
      </p:sp>
      <p:sp>
        <p:nvSpPr>
          <p:cNvPr id="37" name="Text 35"/>
          <p:cNvSpPr/>
          <p:nvPr/>
        </p:nvSpPr>
        <p:spPr>
          <a:xfrm>
            <a:off x="2542032" y="3703320"/>
            <a:ext cx="1783080" cy="347472"/>
          </a:xfrm>
          <a:prstGeom prst="rect">
            <a:avLst/>
          </a:prstGeom>
          <a:noFill/>
          <a:ln/>
        </p:spPr>
        <p:txBody>
          <a:bodyPr wrap="square" rtlCol="0" anchor="ctr"/>
          <a:lstStyle/>
          <a:p>
            <a:pPr marL="0" indent="0">
              <a:buNone/>
            </a:pPr>
            <a:r>
              <a:rPr lang="en-US" sz="1000" b="1" dirty="0">
                <a:solidFill>
                  <a:srgbClr val="1B3A6B"/>
                </a:solidFill>
              </a:rPr>
              <a:t>G3 Range: 0–20</a:t>
            </a:r>
            <a:endParaRPr lang="en-US" sz="1000" dirty="0"/>
          </a:p>
        </p:txBody>
      </p:sp>
      <p:sp>
        <p:nvSpPr>
          <p:cNvPr id="38" name="Text 36"/>
          <p:cNvSpPr/>
          <p:nvPr/>
        </p:nvSpPr>
        <p:spPr>
          <a:xfrm>
            <a:off x="2542032" y="4050792"/>
            <a:ext cx="1783080" cy="658368"/>
          </a:xfrm>
          <a:prstGeom prst="rect">
            <a:avLst/>
          </a:prstGeom>
          <a:noFill/>
          <a:ln/>
        </p:spPr>
        <p:txBody>
          <a:bodyPr wrap="square" rtlCol="0" anchor="ctr"/>
          <a:lstStyle/>
          <a:p>
            <a:pPr marL="0" indent="0">
              <a:buNone/>
            </a:pPr>
            <a:r>
              <a:rPr lang="en-US" sz="950" dirty="0">
                <a:solidFill>
                  <a:srgbClr val="1B2838"/>
                </a:solidFill>
              </a:rPr>
              <a:t>Mean grade approximately 10.4</a:t>
            </a:r>
            <a:endParaRPr lang="en-US" sz="950" dirty="0"/>
          </a:p>
        </p:txBody>
      </p:sp>
      <p:sp>
        <p:nvSpPr>
          <p:cNvPr id="39" name="Shape 37"/>
          <p:cNvSpPr/>
          <p:nvPr/>
        </p:nvSpPr>
        <p:spPr>
          <a:xfrm>
            <a:off x="4626864" y="3611880"/>
            <a:ext cx="1965960" cy="1188720"/>
          </a:xfrm>
          <a:prstGeom prst="rect">
            <a:avLst/>
          </a:prstGeom>
          <a:solidFill>
            <a:srgbClr val="FEF3C7"/>
          </a:solidFill>
          <a:ln w="12700">
            <a:solidFill>
              <a:srgbClr val="FEF3C7"/>
            </a:solidFill>
            <a:prstDash val="solid"/>
          </a:ln>
          <a:effectLst>
            <a:outerShdw blurRad="76200" dist="25400" dir="8100000" algn="bl" rotWithShape="0">
              <a:srgbClr val="000000">
                <a:alpha val="12000"/>
              </a:srgbClr>
            </a:outerShdw>
          </a:effectLst>
        </p:spPr>
      </p:sp>
      <p:sp>
        <p:nvSpPr>
          <p:cNvPr id="40" name="Shape 38"/>
          <p:cNvSpPr/>
          <p:nvPr/>
        </p:nvSpPr>
        <p:spPr>
          <a:xfrm>
            <a:off x="4626864" y="3611880"/>
            <a:ext cx="1965960" cy="64008"/>
          </a:xfrm>
          <a:prstGeom prst="rect">
            <a:avLst/>
          </a:prstGeom>
          <a:solidFill>
            <a:srgbClr val="F59E0B"/>
          </a:solidFill>
          <a:ln w="12700">
            <a:solidFill>
              <a:srgbClr val="F59E0B"/>
            </a:solidFill>
            <a:prstDash val="solid"/>
          </a:ln>
        </p:spPr>
      </p:sp>
      <p:sp>
        <p:nvSpPr>
          <p:cNvPr id="41" name="Text 39"/>
          <p:cNvSpPr/>
          <p:nvPr/>
        </p:nvSpPr>
        <p:spPr>
          <a:xfrm>
            <a:off x="4718304" y="3703320"/>
            <a:ext cx="1783080" cy="347472"/>
          </a:xfrm>
          <a:prstGeom prst="rect">
            <a:avLst/>
          </a:prstGeom>
          <a:noFill/>
          <a:ln/>
        </p:spPr>
        <p:txBody>
          <a:bodyPr wrap="square" rtlCol="0" anchor="ctr"/>
          <a:lstStyle/>
          <a:p>
            <a:pPr marL="0" indent="0">
              <a:buNone/>
            </a:pPr>
            <a:r>
              <a:rPr lang="en-US" sz="1000" b="1" dirty="0">
                <a:solidFill>
                  <a:srgbClr val="F59E0B"/>
                </a:solidFill>
              </a:rPr>
              <a:t>Absence Outliers</a:t>
            </a:r>
            <a:endParaRPr lang="en-US" sz="1000" dirty="0"/>
          </a:p>
        </p:txBody>
      </p:sp>
      <p:sp>
        <p:nvSpPr>
          <p:cNvPr id="42" name="Text 40"/>
          <p:cNvSpPr/>
          <p:nvPr/>
        </p:nvSpPr>
        <p:spPr>
          <a:xfrm>
            <a:off x="4718304" y="4050792"/>
            <a:ext cx="1783080" cy="658368"/>
          </a:xfrm>
          <a:prstGeom prst="rect">
            <a:avLst/>
          </a:prstGeom>
          <a:noFill/>
          <a:ln/>
        </p:spPr>
        <p:txBody>
          <a:bodyPr wrap="square" rtlCol="0" anchor="ctr"/>
          <a:lstStyle/>
          <a:p>
            <a:pPr marL="0" indent="0">
              <a:buNone/>
            </a:pPr>
            <a:r>
              <a:rPr lang="en-US" sz="950" dirty="0">
                <a:solidFill>
                  <a:srgbClr val="1B2838"/>
                </a:solidFill>
              </a:rPr>
              <a:t>Some students exceed 50 absences</a:t>
            </a:r>
            <a:endParaRPr lang="en-US" sz="950" dirty="0"/>
          </a:p>
        </p:txBody>
      </p:sp>
      <p:sp>
        <p:nvSpPr>
          <p:cNvPr id="43" name="Shape 41"/>
          <p:cNvSpPr/>
          <p:nvPr/>
        </p:nvSpPr>
        <p:spPr>
          <a:xfrm>
            <a:off x="6803136" y="3611880"/>
            <a:ext cx="1965960" cy="1188720"/>
          </a:xfrm>
          <a:prstGeom prst="rect">
            <a:avLst/>
          </a:prstGeom>
          <a:solidFill>
            <a:srgbClr val="FCE8E8"/>
          </a:solidFill>
          <a:ln w="12700">
            <a:solidFill>
              <a:srgbClr val="FCE8E8"/>
            </a:solidFill>
            <a:prstDash val="solid"/>
          </a:ln>
          <a:effectLst>
            <a:outerShdw blurRad="76200" dist="25400" dir="8100000" algn="bl" rotWithShape="0">
              <a:srgbClr val="000000">
                <a:alpha val="12000"/>
              </a:srgbClr>
            </a:outerShdw>
          </a:effectLst>
        </p:spPr>
      </p:sp>
      <p:sp>
        <p:nvSpPr>
          <p:cNvPr id="44" name="Shape 42"/>
          <p:cNvSpPr/>
          <p:nvPr/>
        </p:nvSpPr>
        <p:spPr>
          <a:xfrm>
            <a:off x="6803136" y="3611880"/>
            <a:ext cx="1965960" cy="64008"/>
          </a:xfrm>
          <a:prstGeom prst="rect">
            <a:avLst/>
          </a:prstGeom>
          <a:solidFill>
            <a:srgbClr val="B91C1C"/>
          </a:solidFill>
          <a:ln w="12700">
            <a:solidFill>
              <a:srgbClr val="B91C1C"/>
            </a:solidFill>
            <a:prstDash val="solid"/>
          </a:ln>
        </p:spPr>
      </p:sp>
      <p:sp>
        <p:nvSpPr>
          <p:cNvPr id="45" name="Text 43"/>
          <p:cNvSpPr/>
          <p:nvPr/>
        </p:nvSpPr>
        <p:spPr>
          <a:xfrm>
            <a:off x="6894576" y="3703320"/>
            <a:ext cx="1783080" cy="347472"/>
          </a:xfrm>
          <a:prstGeom prst="rect">
            <a:avLst/>
          </a:prstGeom>
          <a:noFill/>
          <a:ln/>
        </p:spPr>
        <p:txBody>
          <a:bodyPr wrap="square" rtlCol="0" anchor="ctr"/>
          <a:lstStyle/>
          <a:p>
            <a:pPr marL="0" indent="0">
              <a:buNone/>
            </a:pPr>
            <a:r>
              <a:rPr lang="en-US" sz="1000" b="1" dirty="0">
                <a:solidFill>
                  <a:srgbClr val="B91C1C"/>
                </a:solidFill>
              </a:rPr>
              <a:t>70%+ Zero Failures</a:t>
            </a:r>
            <a:endParaRPr lang="en-US" sz="1000" dirty="0"/>
          </a:p>
        </p:txBody>
      </p:sp>
      <p:sp>
        <p:nvSpPr>
          <p:cNvPr id="46" name="Text 44"/>
          <p:cNvSpPr/>
          <p:nvPr/>
        </p:nvSpPr>
        <p:spPr>
          <a:xfrm>
            <a:off x="6894576" y="4050792"/>
            <a:ext cx="1783080" cy="658368"/>
          </a:xfrm>
          <a:prstGeom prst="rect">
            <a:avLst/>
          </a:prstGeom>
          <a:noFill/>
          <a:ln/>
        </p:spPr>
        <p:txBody>
          <a:bodyPr wrap="square" rtlCol="0" anchor="ctr"/>
          <a:lstStyle/>
          <a:p>
            <a:pPr marL="0" indent="0">
              <a:buNone/>
            </a:pPr>
            <a:r>
              <a:rPr lang="en-US" sz="950" dirty="0">
                <a:solidFill>
                  <a:srgbClr val="1B2838"/>
                </a:solidFill>
              </a:rPr>
              <a:t>Most students have no past failures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w="12700">
            <a:solidFill>
              <a:srgbClr val="1B3A6B"/>
            </a:solidFill>
            <a:prstDash val="solid"/>
          </a:ln>
        </p:spPr>
      </p:sp>
      <p:sp>
        <p:nvSpPr>
          <p:cNvPr id="3" name="Shape 1"/>
          <p:cNvSpPr/>
          <p:nvPr/>
        </p:nvSpPr>
        <p:spPr>
          <a:xfrm>
            <a:off x="0" y="640080"/>
            <a:ext cx="9144000" cy="54864"/>
          </a:xfrm>
          <a:prstGeom prst="rect">
            <a:avLst/>
          </a:prstGeom>
          <a:solidFill>
            <a:srgbClr val="E07B39"/>
          </a:solidFill>
          <a:ln w="12700">
            <a:solidFill>
              <a:srgbClr val="E07B39"/>
            </a:solidFill>
            <a:prstDash val="solid"/>
          </a:ln>
        </p:spPr>
      </p:sp>
      <p:sp>
        <p:nvSpPr>
          <p:cNvPr id="4" name="Text 2"/>
          <p:cNvSpPr/>
          <p:nvPr/>
        </p:nvSpPr>
        <p:spPr>
          <a:xfrm>
            <a:off x="365760" y="0"/>
            <a:ext cx="8229600" cy="6400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Task 3 &amp; 4: Combining Data &amp; Field Creation</a:t>
            </a:r>
            <a:endParaRPr lang="en-US" sz="2000" dirty="0"/>
          </a:p>
        </p:txBody>
      </p:sp>
      <p:sp>
        <p:nvSpPr>
          <p:cNvPr id="5" name="Text 3"/>
          <p:cNvSpPr/>
          <p:nvPr/>
        </p:nvSpPr>
        <p:spPr>
          <a:xfrm>
            <a:off x="8046720" y="0"/>
            <a:ext cx="914400" cy="640080"/>
          </a:xfrm>
          <a:prstGeom prst="rect">
            <a:avLst/>
          </a:prstGeom>
          <a:noFill/>
          <a:ln/>
        </p:spPr>
        <p:txBody>
          <a:bodyPr wrap="square" rtlCol="0" anchor="ctr"/>
          <a:lstStyle/>
          <a:p>
            <a:pPr marL="0" indent="0" algn="r">
              <a:buNone/>
            </a:pPr>
            <a:r>
              <a:rPr lang="en-US" sz="2800" b="1" dirty="0">
                <a:solidFill>
                  <a:srgbClr val="FFFFFF"/>
                </a:solidFill>
              </a:rPr>
              <a:t>05</a:t>
            </a:r>
            <a:endParaRPr lang="en-US" sz="2800" dirty="0"/>
          </a:p>
        </p:txBody>
      </p:sp>
      <p:sp>
        <p:nvSpPr>
          <p:cNvPr id="6" name="Shape 4"/>
          <p:cNvSpPr/>
          <p:nvPr/>
        </p:nvSpPr>
        <p:spPr>
          <a:xfrm>
            <a:off x="274320" y="822960"/>
            <a:ext cx="4114800" cy="397764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7" name="Shape 5"/>
          <p:cNvSpPr/>
          <p:nvPr/>
        </p:nvSpPr>
        <p:spPr>
          <a:xfrm>
            <a:off x="274320" y="822960"/>
            <a:ext cx="4114800" cy="365760"/>
          </a:xfrm>
          <a:prstGeom prst="rect">
            <a:avLst/>
          </a:prstGeom>
          <a:solidFill>
            <a:srgbClr val="1B3A6B"/>
          </a:solidFill>
          <a:ln w="12700">
            <a:solidFill>
              <a:srgbClr val="1B3A6B"/>
            </a:solidFill>
            <a:prstDash val="solid"/>
          </a:ln>
        </p:spPr>
      </p:sp>
      <p:sp>
        <p:nvSpPr>
          <p:cNvPr id="8" name="Text 6"/>
          <p:cNvSpPr/>
          <p:nvPr/>
        </p:nvSpPr>
        <p:spPr>
          <a:xfrm>
            <a:off x="365760" y="822960"/>
            <a:ext cx="3931920" cy="365760"/>
          </a:xfrm>
          <a:prstGeom prst="rect">
            <a:avLst/>
          </a:prstGeom>
          <a:noFill/>
          <a:ln/>
        </p:spPr>
        <p:txBody>
          <a:bodyPr wrap="square" rtlCol="0" anchor="ctr"/>
          <a:lstStyle/>
          <a:p>
            <a:pPr marL="0" indent="0">
              <a:buNone/>
            </a:pPr>
            <a:r>
              <a:rPr lang="en-US" sz="1050" b="1" dirty="0">
                <a:solidFill>
                  <a:srgbClr val="FFFFFF"/>
                </a:solidFill>
              </a:rPr>
              <a:t>TASK 3 — Combining Data Sources</a:t>
            </a:r>
            <a:endParaRPr lang="en-US" sz="1050" dirty="0"/>
          </a:p>
        </p:txBody>
      </p:sp>
      <p:sp>
        <p:nvSpPr>
          <p:cNvPr id="9" name="Shape 7"/>
          <p:cNvSpPr/>
          <p:nvPr/>
        </p:nvSpPr>
        <p:spPr>
          <a:xfrm>
            <a:off x="320040" y="1261872"/>
            <a:ext cx="4023360" cy="731520"/>
          </a:xfrm>
          <a:prstGeom prst="rect">
            <a:avLst/>
          </a:prstGeom>
          <a:solidFill>
            <a:srgbClr val="F4F8FD"/>
          </a:solidFill>
          <a:ln w="6350">
            <a:solidFill>
              <a:srgbClr val="D6E8FA"/>
            </a:solidFill>
            <a:prstDash val="solid"/>
          </a:ln>
        </p:spPr>
      </p:sp>
      <p:sp>
        <p:nvSpPr>
          <p:cNvPr id="10" name="Shape 8"/>
          <p:cNvSpPr/>
          <p:nvPr/>
        </p:nvSpPr>
        <p:spPr>
          <a:xfrm>
            <a:off x="320040" y="1261872"/>
            <a:ext cx="365760" cy="731520"/>
          </a:xfrm>
          <a:prstGeom prst="rect">
            <a:avLst/>
          </a:prstGeom>
          <a:solidFill>
            <a:srgbClr val="2E75B6"/>
          </a:solidFill>
          <a:ln w="12700">
            <a:solidFill>
              <a:srgbClr val="2E75B6"/>
            </a:solidFill>
            <a:prstDash val="solid"/>
          </a:ln>
        </p:spPr>
      </p:sp>
      <p:sp>
        <p:nvSpPr>
          <p:cNvPr id="11" name="Text 9"/>
          <p:cNvSpPr/>
          <p:nvPr/>
        </p:nvSpPr>
        <p:spPr>
          <a:xfrm>
            <a:off x="320040" y="1261872"/>
            <a:ext cx="365760" cy="731520"/>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2" name="Text 10"/>
          <p:cNvSpPr/>
          <p:nvPr/>
        </p:nvSpPr>
        <p:spPr>
          <a:xfrm>
            <a:off x="758952" y="1280160"/>
            <a:ext cx="3474720" cy="256032"/>
          </a:xfrm>
          <a:prstGeom prst="rect">
            <a:avLst/>
          </a:prstGeom>
          <a:noFill/>
          <a:ln/>
        </p:spPr>
        <p:txBody>
          <a:bodyPr wrap="square" rtlCol="0" anchor="ctr"/>
          <a:lstStyle/>
          <a:p>
            <a:pPr marL="0" indent="0">
              <a:buNone/>
            </a:pPr>
            <a:r>
              <a:rPr lang="en-US" sz="950" b="1" dirty="0">
                <a:solidFill>
                  <a:srgbClr val="1B3A6B"/>
                </a:solidFill>
              </a:rPr>
              <a:t>Import student-por.csv</a:t>
            </a:r>
            <a:endParaRPr lang="en-US" sz="950" dirty="0"/>
          </a:p>
        </p:txBody>
      </p:sp>
      <p:sp>
        <p:nvSpPr>
          <p:cNvPr id="13" name="Text 11"/>
          <p:cNvSpPr/>
          <p:nvPr/>
        </p:nvSpPr>
        <p:spPr>
          <a:xfrm>
            <a:off x="758952" y="1527048"/>
            <a:ext cx="3474720" cy="384048"/>
          </a:xfrm>
          <a:prstGeom prst="rect">
            <a:avLst/>
          </a:prstGeom>
          <a:noFill/>
          <a:ln/>
        </p:spPr>
        <p:txBody>
          <a:bodyPr wrap="square" rtlCol="0" anchor="ctr"/>
          <a:lstStyle/>
          <a:p>
            <a:pPr marL="0" indent="0">
              <a:buNone/>
            </a:pPr>
            <a:r>
              <a:rPr lang="en-US" sz="900" dirty="0">
                <a:solidFill>
                  <a:srgbClr val="5A6A7E"/>
                </a:solidFill>
              </a:rPr>
              <a:t>Add second Variable File node pointing to Portuguese dataset with semicolon delimiter</a:t>
            </a:r>
            <a:endParaRPr lang="en-US" sz="900" dirty="0"/>
          </a:p>
        </p:txBody>
      </p:sp>
      <p:sp>
        <p:nvSpPr>
          <p:cNvPr id="14" name="Shape 12"/>
          <p:cNvSpPr/>
          <p:nvPr/>
        </p:nvSpPr>
        <p:spPr>
          <a:xfrm>
            <a:off x="320040" y="2066544"/>
            <a:ext cx="4023360" cy="731520"/>
          </a:xfrm>
          <a:prstGeom prst="rect">
            <a:avLst/>
          </a:prstGeom>
          <a:solidFill>
            <a:srgbClr val="FFFFFF"/>
          </a:solidFill>
          <a:ln w="6350">
            <a:solidFill>
              <a:srgbClr val="D6E8FA"/>
            </a:solidFill>
            <a:prstDash val="solid"/>
          </a:ln>
        </p:spPr>
      </p:sp>
      <p:sp>
        <p:nvSpPr>
          <p:cNvPr id="15" name="Shape 13"/>
          <p:cNvSpPr/>
          <p:nvPr/>
        </p:nvSpPr>
        <p:spPr>
          <a:xfrm>
            <a:off x="320040" y="2066544"/>
            <a:ext cx="365760" cy="731520"/>
          </a:xfrm>
          <a:prstGeom prst="rect">
            <a:avLst/>
          </a:prstGeom>
          <a:solidFill>
            <a:srgbClr val="2E75B6"/>
          </a:solidFill>
          <a:ln w="12700">
            <a:solidFill>
              <a:srgbClr val="2E75B6"/>
            </a:solidFill>
            <a:prstDash val="solid"/>
          </a:ln>
        </p:spPr>
      </p:sp>
      <p:sp>
        <p:nvSpPr>
          <p:cNvPr id="16" name="Text 14"/>
          <p:cNvSpPr/>
          <p:nvPr/>
        </p:nvSpPr>
        <p:spPr>
          <a:xfrm>
            <a:off x="320040" y="2066544"/>
            <a:ext cx="365760" cy="731520"/>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7" name="Text 15"/>
          <p:cNvSpPr/>
          <p:nvPr/>
        </p:nvSpPr>
        <p:spPr>
          <a:xfrm>
            <a:off x="758952" y="2084832"/>
            <a:ext cx="3474720" cy="256032"/>
          </a:xfrm>
          <a:prstGeom prst="rect">
            <a:avLst/>
          </a:prstGeom>
          <a:noFill/>
          <a:ln/>
        </p:spPr>
        <p:txBody>
          <a:bodyPr wrap="square" rtlCol="0" anchor="ctr"/>
          <a:lstStyle/>
          <a:p>
            <a:pPr marL="0" indent="0">
              <a:buNone/>
            </a:pPr>
            <a:r>
              <a:rPr lang="en-US" sz="950" b="1" dirty="0">
                <a:solidFill>
                  <a:srgbClr val="1B3A6B"/>
                </a:solidFill>
              </a:rPr>
              <a:t>Add Append Node</a:t>
            </a:r>
            <a:endParaRPr lang="en-US" sz="950" dirty="0"/>
          </a:p>
        </p:txBody>
      </p:sp>
      <p:sp>
        <p:nvSpPr>
          <p:cNvPr id="18" name="Text 16"/>
          <p:cNvSpPr/>
          <p:nvPr/>
        </p:nvSpPr>
        <p:spPr>
          <a:xfrm>
            <a:off x="758952" y="2331720"/>
            <a:ext cx="3474720" cy="384048"/>
          </a:xfrm>
          <a:prstGeom prst="rect">
            <a:avLst/>
          </a:prstGeom>
          <a:noFill/>
          <a:ln/>
        </p:spPr>
        <p:txBody>
          <a:bodyPr wrap="square" rtlCol="0" anchor="ctr"/>
          <a:lstStyle/>
          <a:p>
            <a:pPr marL="0" indent="0">
              <a:buNone/>
            </a:pPr>
            <a:r>
              <a:rPr lang="en-US" sz="900" dirty="0">
                <a:solidFill>
                  <a:srgbClr val="5A6A7E"/>
                </a:solidFill>
              </a:rPr>
              <a:t>Drag Append node from Record Ops tab. Connect both Type nodes to the Append node</a:t>
            </a:r>
            <a:endParaRPr lang="en-US" sz="900" dirty="0"/>
          </a:p>
        </p:txBody>
      </p:sp>
      <p:sp>
        <p:nvSpPr>
          <p:cNvPr id="19" name="Shape 17"/>
          <p:cNvSpPr/>
          <p:nvPr/>
        </p:nvSpPr>
        <p:spPr>
          <a:xfrm>
            <a:off x="320040" y="2871216"/>
            <a:ext cx="4023360" cy="731520"/>
          </a:xfrm>
          <a:prstGeom prst="rect">
            <a:avLst/>
          </a:prstGeom>
          <a:solidFill>
            <a:srgbClr val="F4F8FD"/>
          </a:solidFill>
          <a:ln w="6350">
            <a:solidFill>
              <a:srgbClr val="D6E8FA"/>
            </a:solidFill>
            <a:prstDash val="solid"/>
          </a:ln>
        </p:spPr>
      </p:sp>
      <p:sp>
        <p:nvSpPr>
          <p:cNvPr id="20" name="Shape 18"/>
          <p:cNvSpPr/>
          <p:nvPr/>
        </p:nvSpPr>
        <p:spPr>
          <a:xfrm>
            <a:off x="320040" y="2871216"/>
            <a:ext cx="365760" cy="731520"/>
          </a:xfrm>
          <a:prstGeom prst="rect">
            <a:avLst/>
          </a:prstGeom>
          <a:solidFill>
            <a:srgbClr val="2E75B6"/>
          </a:solidFill>
          <a:ln w="12700">
            <a:solidFill>
              <a:srgbClr val="2E75B6"/>
            </a:solidFill>
            <a:prstDash val="solid"/>
          </a:ln>
        </p:spPr>
      </p:sp>
      <p:sp>
        <p:nvSpPr>
          <p:cNvPr id="21" name="Text 19"/>
          <p:cNvSpPr/>
          <p:nvPr/>
        </p:nvSpPr>
        <p:spPr>
          <a:xfrm>
            <a:off x="320040" y="2871216"/>
            <a:ext cx="365760" cy="731520"/>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22" name="Text 20"/>
          <p:cNvSpPr/>
          <p:nvPr/>
        </p:nvSpPr>
        <p:spPr>
          <a:xfrm>
            <a:off x="758952" y="2889504"/>
            <a:ext cx="3474720" cy="256032"/>
          </a:xfrm>
          <a:prstGeom prst="rect">
            <a:avLst/>
          </a:prstGeom>
          <a:noFill/>
          <a:ln/>
        </p:spPr>
        <p:txBody>
          <a:bodyPr wrap="square" rtlCol="0" anchor="ctr"/>
          <a:lstStyle/>
          <a:p>
            <a:pPr marL="0" indent="0">
              <a:buNone/>
            </a:pPr>
            <a:r>
              <a:rPr lang="en-US" sz="950" b="1" dirty="0">
                <a:solidFill>
                  <a:srgbClr val="1B3A6B"/>
                </a:solidFill>
              </a:rPr>
              <a:t>Match by Name</a:t>
            </a:r>
            <a:endParaRPr lang="en-US" sz="950" dirty="0"/>
          </a:p>
        </p:txBody>
      </p:sp>
      <p:sp>
        <p:nvSpPr>
          <p:cNvPr id="23" name="Text 21"/>
          <p:cNvSpPr/>
          <p:nvPr/>
        </p:nvSpPr>
        <p:spPr>
          <a:xfrm>
            <a:off x="758952" y="3136392"/>
            <a:ext cx="3474720" cy="384048"/>
          </a:xfrm>
          <a:prstGeom prst="rect">
            <a:avLst/>
          </a:prstGeom>
          <a:noFill/>
          <a:ln/>
        </p:spPr>
        <p:txBody>
          <a:bodyPr wrap="square" rtlCol="0" anchor="ctr"/>
          <a:lstStyle/>
          <a:p>
            <a:pPr marL="0" indent="0">
              <a:buNone/>
            </a:pPr>
            <a:r>
              <a:rPr lang="en-US" sz="900" dirty="0">
                <a:solidFill>
                  <a:srgbClr val="5A6A7E"/>
                </a:solidFill>
              </a:rPr>
              <a:t>Set 'Match fields by name' option to align all 33 columns from both datasets</a:t>
            </a:r>
            <a:endParaRPr lang="en-US" sz="900" dirty="0"/>
          </a:p>
        </p:txBody>
      </p:sp>
      <p:sp>
        <p:nvSpPr>
          <p:cNvPr id="24" name="Shape 22"/>
          <p:cNvSpPr/>
          <p:nvPr/>
        </p:nvSpPr>
        <p:spPr>
          <a:xfrm>
            <a:off x="320040" y="3675888"/>
            <a:ext cx="4023360" cy="731520"/>
          </a:xfrm>
          <a:prstGeom prst="rect">
            <a:avLst/>
          </a:prstGeom>
          <a:solidFill>
            <a:srgbClr val="FFFFFF"/>
          </a:solidFill>
          <a:ln w="6350">
            <a:solidFill>
              <a:srgbClr val="D6E8FA"/>
            </a:solidFill>
            <a:prstDash val="solid"/>
          </a:ln>
        </p:spPr>
      </p:sp>
      <p:sp>
        <p:nvSpPr>
          <p:cNvPr id="25" name="Shape 23"/>
          <p:cNvSpPr/>
          <p:nvPr/>
        </p:nvSpPr>
        <p:spPr>
          <a:xfrm>
            <a:off x="320040" y="3675888"/>
            <a:ext cx="365760" cy="731520"/>
          </a:xfrm>
          <a:prstGeom prst="rect">
            <a:avLst/>
          </a:prstGeom>
          <a:solidFill>
            <a:srgbClr val="2E75B6"/>
          </a:solidFill>
          <a:ln w="12700">
            <a:solidFill>
              <a:srgbClr val="2E75B6"/>
            </a:solidFill>
            <a:prstDash val="solid"/>
          </a:ln>
        </p:spPr>
      </p:sp>
      <p:sp>
        <p:nvSpPr>
          <p:cNvPr id="26" name="Text 24"/>
          <p:cNvSpPr/>
          <p:nvPr/>
        </p:nvSpPr>
        <p:spPr>
          <a:xfrm>
            <a:off x="320040" y="3675888"/>
            <a:ext cx="365760" cy="731520"/>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7" name="Text 25"/>
          <p:cNvSpPr/>
          <p:nvPr/>
        </p:nvSpPr>
        <p:spPr>
          <a:xfrm>
            <a:off x="758952" y="3694176"/>
            <a:ext cx="3474720" cy="256032"/>
          </a:xfrm>
          <a:prstGeom prst="rect">
            <a:avLst/>
          </a:prstGeom>
          <a:noFill/>
          <a:ln/>
        </p:spPr>
        <p:txBody>
          <a:bodyPr wrap="square" rtlCol="0" anchor="ctr"/>
          <a:lstStyle/>
          <a:p>
            <a:pPr marL="0" indent="0">
              <a:buNone/>
            </a:pPr>
            <a:r>
              <a:rPr lang="en-US" sz="950" b="1" dirty="0">
                <a:solidFill>
                  <a:srgbClr val="1B3A6B"/>
                </a:solidFill>
              </a:rPr>
              <a:t>Verify Output</a:t>
            </a:r>
            <a:endParaRPr lang="en-US" sz="950" dirty="0"/>
          </a:p>
        </p:txBody>
      </p:sp>
      <p:sp>
        <p:nvSpPr>
          <p:cNvPr id="28" name="Text 26"/>
          <p:cNvSpPr/>
          <p:nvPr/>
        </p:nvSpPr>
        <p:spPr>
          <a:xfrm>
            <a:off x="758952" y="3941064"/>
            <a:ext cx="3474720" cy="384048"/>
          </a:xfrm>
          <a:prstGeom prst="rect">
            <a:avLst/>
          </a:prstGeom>
          <a:noFill/>
          <a:ln/>
        </p:spPr>
        <p:txBody>
          <a:bodyPr wrap="square" rtlCol="0" anchor="ctr"/>
          <a:lstStyle/>
          <a:p>
            <a:pPr marL="0" indent="0">
              <a:buNone/>
            </a:pPr>
            <a:r>
              <a:rPr lang="en-US" sz="900" dirty="0">
                <a:solidFill>
                  <a:srgbClr val="5A6A7E"/>
                </a:solidFill>
              </a:rPr>
              <a:t>Run Table node — confirm ~1,044 rows combining 395 Math + 649 Portuguese records</a:t>
            </a:r>
            <a:endParaRPr lang="en-US" sz="900" dirty="0"/>
          </a:p>
        </p:txBody>
      </p:sp>
      <p:sp>
        <p:nvSpPr>
          <p:cNvPr id="29" name="Shape 27"/>
          <p:cNvSpPr/>
          <p:nvPr/>
        </p:nvSpPr>
        <p:spPr>
          <a:xfrm>
            <a:off x="4663440" y="822960"/>
            <a:ext cx="4206240" cy="397764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30" name="Shape 28"/>
          <p:cNvSpPr/>
          <p:nvPr/>
        </p:nvSpPr>
        <p:spPr>
          <a:xfrm>
            <a:off x="4663440" y="822960"/>
            <a:ext cx="4206240" cy="365760"/>
          </a:xfrm>
          <a:prstGeom prst="rect">
            <a:avLst/>
          </a:prstGeom>
          <a:solidFill>
            <a:srgbClr val="E07B39"/>
          </a:solidFill>
          <a:ln w="12700">
            <a:solidFill>
              <a:srgbClr val="E07B39"/>
            </a:solidFill>
            <a:prstDash val="solid"/>
          </a:ln>
        </p:spPr>
      </p:sp>
      <p:sp>
        <p:nvSpPr>
          <p:cNvPr id="31" name="Text 29"/>
          <p:cNvSpPr/>
          <p:nvPr/>
        </p:nvSpPr>
        <p:spPr>
          <a:xfrm>
            <a:off x="4754880" y="822960"/>
            <a:ext cx="4023360" cy="365760"/>
          </a:xfrm>
          <a:prstGeom prst="rect">
            <a:avLst/>
          </a:prstGeom>
          <a:noFill/>
          <a:ln/>
        </p:spPr>
        <p:txBody>
          <a:bodyPr wrap="square" rtlCol="0" anchor="ctr"/>
          <a:lstStyle/>
          <a:p>
            <a:pPr marL="0" indent="0">
              <a:buNone/>
            </a:pPr>
            <a:r>
              <a:rPr lang="en-US" sz="1050" b="1" dirty="0">
                <a:solidFill>
                  <a:srgbClr val="FFFFFF"/>
                </a:solidFill>
              </a:rPr>
              <a:t>TASK 4 — Field Creation &amp; Transformation</a:t>
            </a:r>
            <a:endParaRPr lang="en-US" sz="1050" dirty="0"/>
          </a:p>
        </p:txBody>
      </p:sp>
      <p:sp>
        <p:nvSpPr>
          <p:cNvPr id="32" name="Shape 30"/>
          <p:cNvSpPr/>
          <p:nvPr/>
        </p:nvSpPr>
        <p:spPr>
          <a:xfrm>
            <a:off x="4709160" y="1261872"/>
            <a:ext cx="4114800" cy="640080"/>
          </a:xfrm>
          <a:prstGeom prst="rect">
            <a:avLst/>
          </a:prstGeom>
          <a:solidFill>
            <a:srgbClr val="D6E8FA"/>
          </a:solidFill>
          <a:ln w="12700">
            <a:solidFill>
              <a:srgbClr val="D6E8FA"/>
            </a:solidFill>
            <a:prstDash val="solid"/>
          </a:ln>
        </p:spPr>
      </p:sp>
      <p:sp>
        <p:nvSpPr>
          <p:cNvPr id="33" name="Shape 31"/>
          <p:cNvSpPr/>
          <p:nvPr/>
        </p:nvSpPr>
        <p:spPr>
          <a:xfrm>
            <a:off x="4709160" y="1261872"/>
            <a:ext cx="1371600" cy="640080"/>
          </a:xfrm>
          <a:prstGeom prst="rect">
            <a:avLst/>
          </a:prstGeom>
          <a:solidFill>
            <a:srgbClr val="1B3A6B"/>
          </a:solidFill>
          <a:ln w="12700">
            <a:solidFill>
              <a:srgbClr val="1B3A6B"/>
            </a:solidFill>
            <a:prstDash val="solid"/>
          </a:ln>
        </p:spPr>
      </p:sp>
      <p:sp>
        <p:nvSpPr>
          <p:cNvPr id="34" name="Text 32"/>
          <p:cNvSpPr/>
          <p:nvPr/>
        </p:nvSpPr>
        <p:spPr>
          <a:xfrm>
            <a:off x="4709160" y="1261872"/>
            <a:ext cx="1371600" cy="640080"/>
          </a:xfrm>
          <a:prstGeom prst="rect">
            <a:avLst/>
          </a:prstGeom>
          <a:noFill/>
          <a:ln/>
        </p:spPr>
        <p:txBody>
          <a:bodyPr wrap="square" lIns="0" tIns="0" rIns="0" bIns="0" rtlCol="0" anchor="ctr"/>
          <a:lstStyle/>
          <a:p>
            <a:pPr marL="0" indent="0" algn="ctr">
              <a:buNone/>
            </a:pPr>
            <a:r>
              <a:rPr lang="en-US" sz="1000" b="1" dirty="0">
                <a:solidFill>
                  <a:srgbClr val="FFFFFF"/>
                </a:solidFill>
              </a:rPr>
              <a:t>AvgGrade</a:t>
            </a:r>
            <a:endParaRPr lang="en-US" sz="1000" dirty="0"/>
          </a:p>
        </p:txBody>
      </p:sp>
      <p:sp>
        <p:nvSpPr>
          <p:cNvPr id="35" name="Text 33"/>
          <p:cNvSpPr/>
          <p:nvPr/>
        </p:nvSpPr>
        <p:spPr>
          <a:xfrm>
            <a:off x="6153912" y="1298448"/>
            <a:ext cx="2606040" cy="566928"/>
          </a:xfrm>
          <a:prstGeom prst="rect">
            <a:avLst/>
          </a:prstGeom>
          <a:noFill/>
          <a:ln/>
        </p:spPr>
        <p:txBody>
          <a:bodyPr wrap="square" rtlCol="0" anchor="ctr"/>
          <a:lstStyle/>
          <a:p>
            <a:pPr marL="0" indent="0">
              <a:buNone/>
            </a:pPr>
            <a:r>
              <a:rPr lang="en-US" sz="950" i="1" dirty="0">
                <a:solidFill>
                  <a:srgbClr val="1B2838"/>
                </a:solidFill>
              </a:rPr>
              <a:t>(G1 + G2 + G3) / 3</a:t>
            </a:r>
            <a:endParaRPr lang="en-US" sz="950" dirty="0"/>
          </a:p>
        </p:txBody>
      </p:sp>
      <p:sp>
        <p:nvSpPr>
          <p:cNvPr id="36" name="Shape 34"/>
          <p:cNvSpPr/>
          <p:nvPr/>
        </p:nvSpPr>
        <p:spPr>
          <a:xfrm>
            <a:off x="4709160" y="1956816"/>
            <a:ext cx="4114800" cy="640080"/>
          </a:xfrm>
          <a:prstGeom prst="rect">
            <a:avLst/>
          </a:prstGeom>
          <a:solidFill>
            <a:srgbClr val="D4EDDA"/>
          </a:solidFill>
          <a:ln w="12700">
            <a:solidFill>
              <a:srgbClr val="D4EDDA"/>
            </a:solidFill>
            <a:prstDash val="solid"/>
          </a:ln>
        </p:spPr>
      </p:sp>
      <p:sp>
        <p:nvSpPr>
          <p:cNvPr id="37" name="Shape 35"/>
          <p:cNvSpPr/>
          <p:nvPr/>
        </p:nvSpPr>
        <p:spPr>
          <a:xfrm>
            <a:off x="4709160" y="1956816"/>
            <a:ext cx="1371600" cy="640080"/>
          </a:xfrm>
          <a:prstGeom prst="rect">
            <a:avLst/>
          </a:prstGeom>
          <a:solidFill>
            <a:srgbClr val="1A7A4A"/>
          </a:solidFill>
          <a:ln w="12700">
            <a:solidFill>
              <a:srgbClr val="1A7A4A"/>
            </a:solidFill>
            <a:prstDash val="solid"/>
          </a:ln>
        </p:spPr>
      </p:sp>
      <p:sp>
        <p:nvSpPr>
          <p:cNvPr id="38" name="Text 36"/>
          <p:cNvSpPr/>
          <p:nvPr/>
        </p:nvSpPr>
        <p:spPr>
          <a:xfrm>
            <a:off x="4709160" y="1956816"/>
            <a:ext cx="1371600" cy="640080"/>
          </a:xfrm>
          <a:prstGeom prst="rect">
            <a:avLst/>
          </a:prstGeom>
          <a:noFill/>
          <a:ln/>
        </p:spPr>
        <p:txBody>
          <a:bodyPr wrap="square" lIns="0" tIns="0" rIns="0" bIns="0" rtlCol="0" anchor="ctr"/>
          <a:lstStyle/>
          <a:p>
            <a:pPr marL="0" indent="0" algn="ctr">
              <a:buNone/>
            </a:pPr>
            <a:r>
              <a:rPr lang="en-US" sz="1000" b="1" dirty="0">
                <a:solidFill>
                  <a:srgbClr val="FFFFFF"/>
                </a:solidFill>
              </a:rPr>
              <a:t>TotalScore</a:t>
            </a:r>
            <a:endParaRPr lang="en-US" sz="1000" dirty="0"/>
          </a:p>
        </p:txBody>
      </p:sp>
      <p:sp>
        <p:nvSpPr>
          <p:cNvPr id="39" name="Text 37"/>
          <p:cNvSpPr/>
          <p:nvPr/>
        </p:nvSpPr>
        <p:spPr>
          <a:xfrm>
            <a:off x="6153912" y="1993392"/>
            <a:ext cx="2606040" cy="566928"/>
          </a:xfrm>
          <a:prstGeom prst="rect">
            <a:avLst/>
          </a:prstGeom>
          <a:noFill/>
          <a:ln/>
        </p:spPr>
        <p:txBody>
          <a:bodyPr wrap="square" rtlCol="0" anchor="ctr"/>
          <a:lstStyle/>
          <a:p>
            <a:pPr marL="0" indent="0">
              <a:buNone/>
            </a:pPr>
            <a:r>
              <a:rPr lang="en-US" sz="950" i="1" dirty="0">
                <a:solidFill>
                  <a:srgbClr val="1B2838"/>
                </a:solidFill>
              </a:rPr>
              <a:t>G1 + G2 + G3</a:t>
            </a:r>
            <a:endParaRPr lang="en-US" sz="950" dirty="0"/>
          </a:p>
        </p:txBody>
      </p:sp>
      <p:sp>
        <p:nvSpPr>
          <p:cNvPr id="40" name="Shape 38"/>
          <p:cNvSpPr/>
          <p:nvPr/>
        </p:nvSpPr>
        <p:spPr>
          <a:xfrm>
            <a:off x="4709160" y="2651760"/>
            <a:ext cx="4114800" cy="640080"/>
          </a:xfrm>
          <a:prstGeom prst="rect">
            <a:avLst/>
          </a:prstGeom>
          <a:solidFill>
            <a:srgbClr val="FEF3C7"/>
          </a:solidFill>
          <a:ln w="12700">
            <a:solidFill>
              <a:srgbClr val="FEF3C7"/>
            </a:solidFill>
            <a:prstDash val="solid"/>
          </a:ln>
        </p:spPr>
      </p:sp>
      <p:sp>
        <p:nvSpPr>
          <p:cNvPr id="41" name="Shape 39"/>
          <p:cNvSpPr/>
          <p:nvPr/>
        </p:nvSpPr>
        <p:spPr>
          <a:xfrm>
            <a:off x="4709160" y="2651760"/>
            <a:ext cx="1371600" cy="640080"/>
          </a:xfrm>
          <a:prstGeom prst="rect">
            <a:avLst/>
          </a:prstGeom>
          <a:solidFill>
            <a:srgbClr val="E07B39"/>
          </a:solidFill>
          <a:ln w="12700">
            <a:solidFill>
              <a:srgbClr val="E07B39"/>
            </a:solidFill>
            <a:prstDash val="solid"/>
          </a:ln>
        </p:spPr>
      </p:sp>
      <p:sp>
        <p:nvSpPr>
          <p:cNvPr id="42" name="Text 40"/>
          <p:cNvSpPr/>
          <p:nvPr/>
        </p:nvSpPr>
        <p:spPr>
          <a:xfrm>
            <a:off x="4709160" y="2651760"/>
            <a:ext cx="1371600" cy="640080"/>
          </a:xfrm>
          <a:prstGeom prst="rect">
            <a:avLst/>
          </a:prstGeom>
          <a:noFill/>
          <a:ln/>
        </p:spPr>
        <p:txBody>
          <a:bodyPr wrap="square" lIns="0" tIns="0" rIns="0" bIns="0" rtlCol="0" anchor="ctr"/>
          <a:lstStyle/>
          <a:p>
            <a:pPr marL="0" indent="0" algn="ctr">
              <a:buNone/>
            </a:pPr>
            <a:r>
              <a:rPr lang="en-US" sz="1000" b="1" dirty="0">
                <a:solidFill>
                  <a:srgbClr val="FFFFFF"/>
                </a:solidFill>
              </a:rPr>
              <a:t>PassFail</a:t>
            </a:r>
            <a:endParaRPr lang="en-US" sz="1000" dirty="0"/>
          </a:p>
        </p:txBody>
      </p:sp>
      <p:sp>
        <p:nvSpPr>
          <p:cNvPr id="43" name="Text 41"/>
          <p:cNvSpPr/>
          <p:nvPr/>
        </p:nvSpPr>
        <p:spPr>
          <a:xfrm>
            <a:off x="6153912" y="2688336"/>
            <a:ext cx="2606040" cy="566928"/>
          </a:xfrm>
          <a:prstGeom prst="rect">
            <a:avLst/>
          </a:prstGeom>
          <a:noFill/>
          <a:ln/>
        </p:spPr>
        <p:txBody>
          <a:bodyPr wrap="square" rtlCol="0" anchor="ctr"/>
          <a:lstStyle/>
          <a:p>
            <a:pPr marL="0" indent="0">
              <a:buNone/>
            </a:pPr>
            <a:r>
              <a:rPr lang="en-US" sz="950" i="1" dirty="0">
                <a:solidFill>
                  <a:srgbClr val="1B2838"/>
                </a:solidFill>
              </a:rPr>
              <a:t>if G3 &gt;= 10 then Pass else Fail</a:t>
            </a:r>
            <a:endParaRPr lang="en-US" sz="950" dirty="0"/>
          </a:p>
        </p:txBody>
      </p:sp>
      <p:sp>
        <p:nvSpPr>
          <p:cNvPr id="44" name="Shape 42"/>
          <p:cNvSpPr/>
          <p:nvPr/>
        </p:nvSpPr>
        <p:spPr>
          <a:xfrm>
            <a:off x="4709160" y="3346704"/>
            <a:ext cx="4114800" cy="640080"/>
          </a:xfrm>
          <a:prstGeom prst="rect">
            <a:avLst/>
          </a:prstGeom>
          <a:solidFill>
            <a:srgbClr val="FCE8E8"/>
          </a:solidFill>
          <a:ln w="12700">
            <a:solidFill>
              <a:srgbClr val="FCE8E8"/>
            </a:solidFill>
            <a:prstDash val="solid"/>
          </a:ln>
        </p:spPr>
      </p:sp>
      <p:sp>
        <p:nvSpPr>
          <p:cNvPr id="45" name="Shape 43"/>
          <p:cNvSpPr/>
          <p:nvPr/>
        </p:nvSpPr>
        <p:spPr>
          <a:xfrm>
            <a:off x="4709160" y="3346704"/>
            <a:ext cx="1371600" cy="640080"/>
          </a:xfrm>
          <a:prstGeom prst="rect">
            <a:avLst/>
          </a:prstGeom>
          <a:solidFill>
            <a:srgbClr val="B91C1C"/>
          </a:solidFill>
          <a:ln w="12700">
            <a:solidFill>
              <a:srgbClr val="B91C1C"/>
            </a:solidFill>
            <a:prstDash val="solid"/>
          </a:ln>
        </p:spPr>
      </p:sp>
      <p:sp>
        <p:nvSpPr>
          <p:cNvPr id="46" name="Text 44"/>
          <p:cNvSpPr/>
          <p:nvPr/>
        </p:nvSpPr>
        <p:spPr>
          <a:xfrm>
            <a:off x="4709160" y="3346704"/>
            <a:ext cx="1371600" cy="640080"/>
          </a:xfrm>
          <a:prstGeom prst="rect">
            <a:avLst/>
          </a:prstGeom>
          <a:noFill/>
          <a:ln/>
        </p:spPr>
        <p:txBody>
          <a:bodyPr wrap="square" lIns="0" tIns="0" rIns="0" bIns="0" rtlCol="0" anchor="ctr"/>
          <a:lstStyle/>
          <a:p>
            <a:pPr marL="0" indent="0" algn="ctr">
              <a:buNone/>
            </a:pPr>
            <a:r>
              <a:rPr lang="en-US" sz="1000" b="1" dirty="0">
                <a:solidFill>
                  <a:srgbClr val="FFFFFF"/>
                </a:solidFill>
              </a:rPr>
              <a:t>DropoutRisk</a:t>
            </a:r>
            <a:endParaRPr lang="en-US" sz="1000" dirty="0"/>
          </a:p>
        </p:txBody>
      </p:sp>
      <p:sp>
        <p:nvSpPr>
          <p:cNvPr id="47" name="Text 45"/>
          <p:cNvSpPr/>
          <p:nvPr/>
        </p:nvSpPr>
        <p:spPr>
          <a:xfrm>
            <a:off x="6153912" y="3383280"/>
            <a:ext cx="2606040" cy="566928"/>
          </a:xfrm>
          <a:prstGeom prst="rect">
            <a:avLst/>
          </a:prstGeom>
          <a:noFill/>
          <a:ln/>
        </p:spPr>
        <p:txBody>
          <a:bodyPr wrap="square" rtlCol="0" anchor="ctr"/>
          <a:lstStyle/>
          <a:p>
            <a:pPr marL="0" indent="0">
              <a:buNone/>
            </a:pPr>
            <a:r>
              <a:rPr lang="en-US" sz="950" i="1" dirty="0">
                <a:solidFill>
                  <a:srgbClr val="1B2838"/>
                </a:solidFill>
              </a:rPr>
              <a:t>failures&gt;=2 OR absences&gt;=20 OR G3&lt;8</a:t>
            </a:r>
            <a:endParaRPr lang="en-US" sz="950" dirty="0"/>
          </a:p>
        </p:txBody>
      </p:sp>
      <p:sp>
        <p:nvSpPr>
          <p:cNvPr id="48" name="Shape 46"/>
          <p:cNvSpPr/>
          <p:nvPr/>
        </p:nvSpPr>
        <p:spPr>
          <a:xfrm>
            <a:off x="4709160" y="4041648"/>
            <a:ext cx="4114800" cy="640080"/>
          </a:xfrm>
          <a:prstGeom prst="rect">
            <a:avLst/>
          </a:prstGeom>
          <a:solidFill>
            <a:srgbClr val="D6E8FA"/>
          </a:solidFill>
          <a:ln w="12700">
            <a:solidFill>
              <a:srgbClr val="D6E8FA"/>
            </a:solidFill>
            <a:prstDash val="solid"/>
          </a:ln>
        </p:spPr>
      </p:sp>
      <p:sp>
        <p:nvSpPr>
          <p:cNvPr id="49" name="Shape 47"/>
          <p:cNvSpPr/>
          <p:nvPr/>
        </p:nvSpPr>
        <p:spPr>
          <a:xfrm>
            <a:off x="4709160" y="4041648"/>
            <a:ext cx="1371600" cy="640080"/>
          </a:xfrm>
          <a:prstGeom prst="rect">
            <a:avLst/>
          </a:prstGeom>
          <a:solidFill>
            <a:srgbClr val="2E75B6"/>
          </a:solidFill>
          <a:ln w="12700">
            <a:solidFill>
              <a:srgbClr val="2E75B6"/>
            </a:solidFill>
            <a:prstDash val="solid"/>
          </a:ln>
        </p:spPr>
      </p:sp>
      <p:sp>
        <p:nvSpPr>
          <p:cNvPr id="50" name="Text 48"/>
          <p:cNvSpPr/>
          <p:nvPr/>
        </p:nvSpPr>
        <p:spPr>
          <a:xfrm>
            <a:off x="4709160" y="4041648"/>
            <a:ext cx="1371600" cy="640080"/>
          </a:xfrm>
          <a:prstGeom prst="rect">
            <a:avLst/>
          </a:prstGeom>
          <a:noFill/>
          <a:ln/>
        </p:spPr>
        <p:txBody>
          <a:bodyPr wrap="square" lIns="0" tIns="0" rIns="0" bIns="0" rtlCol="0" anchor="ctr"/>
          <a:lstStyle/>
          <a:p>
            <a:pPr marL="0" indent="0" algn="ctr">
              <a:buNone/>
            </a:pPr>
            <a:r>
              <a:rPr lang="en-US" sz="1000" b="1" dirty="0">
                <a:solidFill>
                  <a:srgbClr val="FFFFFF"/>
                </a:solidFill>
              </a:rPr>
              <a:t>AbsenceGroup</a:t>
            </a:r>
            <a:endParaRPr lang="en-US" sz="1000" dirty="0"/>
          </a:p>
        </p:txBody>
      </p:sp>
      <p:sp>
        <p:nvSpPr>
          <p:cNvPr id="51" name="Text 49"/>
          <p:cNvSpPr/>
          <p:nvPr/>
        </p:nvSpPr>
        <p:spPr>
          <a:xfrm>
            <a:off x="6153912" y="4078224"/>
            <a:ext cx="2606040" cy="566928"/>
          </a:xfrm>
          <a:prstGeom prst="rect">
            <a:avLst/>
          </a:prstGeom>
          <a:noFill/>
          <a:ln/>
        </p:spPr>
        <p:txBody>
          <a:bodyPr wrap="square" rtlCol="0" anchor="ctr"/>
          <a:lstStyle/>
          <a:p>
            <a:pPr marL="0" indent="0">
              <a:buNone/>
            </a:pPr>
            <a:r>
              <a:rPr lang="en-US" sz="950" i="1" dirty="0">
                <a:solidFill>
                  <a:srgbClr val="1B2838"/>
                </a:solidFill>
              </a:rPr>
              <a:t>Low / Medium / High by count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w="12700">
            <a:solidFill>
              <a:srgbClr val="1B3A6B"/>
            </a:solidFill>
            <a:prstDash val="solid"/>
          </a:ln>
        </p:spPr>
      </p:sp>
      <p:sp>
        <p:nvSpPr>
          <p:cNvPr id="3" name="Shape 1"/>
          <p:cNvSpPr/>
          <p:nvPr/>
        </p:nvSpPr>
        <p:spPr>
          <a:xfrm>
            <a:off x="0" y="640080"/>
            <a:ext cx="9144000" cy="54864"/>
          </a:xfrm>
          <a:prstGeom prst="rect">
            <a:avLst/>
          </a:prstGeom>
          <a:solidFill>
            <a:srgbClr val="E07B39"/>
          </a:solidFill>
          <a:ln w="12700">
            <a:solidFill>
              <a:srgbClr val="E07B39"/>
            </a:solidFill>
            <a:prstDash val="solid"/>
          </a:ln>
        </p:spPr>
      </p:sp>
      <p:sp>
        <p:nvSpPr>
          <p:cNvPr id="4" name="Text 2"/>
          <p:cNvSpPr/>
          <p:nvPr/>
        </p:nvSpPr>
        <p:spPr>
          <a:xfrm>
            <a:off x="365760" y="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Task 5: Relationship Exploration</a:t>
            </a:r>
            <a:endParaRPr lang="en-US" sz="2200" dirty="0"/>
          </a:p>
        </p:txBody>
      </p:sp>
      <p:sp>
        <p:nvSpPr>
          <p:cNvPr id="5" name="Text 3"/>
          <p:cNvSpPr/>
          <p:nvPr/>
        </p:nvSpPr>
        <p:spPr>
          <a:xfrm>
            <a:off x="8046720" y="0"/>
            <a:ext cx="914400" cy="640080"/>
          </a:xfrm>
          <a:prstGeom prst="rect">
            <a:avLst/>
          </a:prstGeom>
          <a:noFill/>
          <a:ln/>
        </p:spPr>
        <p:txBody>
          <a:bodyPr wrap="square" rtlCol="0" anchor="ctr"/>
          <a:lstStyle/>
          <a:p>
            <a:pPr marL="0" indent="0" algn="r">
              <a:buNone/>
            </a:pPr>
            <a:r>
              <a:rPr lang="en-US" sz="2800" b="1" dirty="0">
                <a:solidFill>
                  <a:srgbClr val="FFFFFF"/>
                </a:solidFill>
              </a:rPr>
              <a:t>06</a:t>
            </a:r>
            <a:endParaRPr lang="en-US" sz="2800" dirty="0"/>
          </a:p>
        </p:txBody>
      </p:sp>
      <p:sp>
        <p:nvSpPr>
          <p:cNvPr id="6" name="Shape 4"/>
          <p:cNvSpPr/>
          <p:nvPr/>
        </p:nvSpPr>
        <p:spPr>
          <a:xfrm>
            <a:off x="274320" y="822960"/>
            <a:ext cx="8595360" cy="658368"/>
          </a:xfrm>
          <a:prstGeom prst="rect">
            <a:avLst/>
          </a:prstGeom>
          <a:solidFill>
            <a:srgbClr val="1B3A6B"/>
          </a:solidFill>
          <a:ln w="12700">
            <a:solidFill>
              <a:srgbClr val="1B3A6B"/>
            </a:solidFill>
            <a:prstDash val="solid"/>
          </a:ln>
          <a:effectLst>
            <a:outerShdw blurRad="76200" dist="25400" dir="8100000" algn="bl" rotWithShape="0">
              <a:srgbClr val="000000">
                <a:alpha val="12000"/>
              </a:srgbClr>
            </a:outerShdw>
          </a:effectLst>
        </p:spPr>
      </p:sp>
      <p:sp>
        <p:nvSpPr>
          <p:cNvPr id="7" name="Text 5"/>
          <p:cNvSpPr/>
          <p:nvPr/>
        </p:nvSpPr>
        <p:spPr>
          <a:xfrm>
            <a:off x="457200" y="822960"/>
            <a:ext cx="8229600" cy="658368"/>
          </a:xfrm>
          <a:prstGeom prst="rect">
            <a:avLst/>
          </a:prstGeom>
          <a:noFill/>
          <a:ln/>
        </p:spPr>
        <p:txBody>
          <a:bodyPr wrap="square" rtlCol="0" anchor="ctr"/>
          <a:lstStyle/>
          <a:p>
            <a:pPr marL="0" indent="0">
              <a:buNone/>
            </a:pPr>
            <a:r>
              <a:rPr lang="en-US" sz="1100" b="1" dirty="0">
                <a:solidFill>
                  <a:srgbClr val="FEF3C7"/>
                </a:solidFill>
              </a:rPr>
              <a:t>KEY FINDING: G1 and G3 show a very strong positive correlation of ~0.80 — first period grades are the most powerful predictor of final outcomes</a:t>
            </a:r>
            <a:endParaRPr lang="en-US" sz="1100" dirty="0"/>
          </a:p>
        </p:txBody>
      </p:sp>
      <p:sp>
        <p:nvSpPr>
          <p:cNvPr id="8" name="Shape 6"/>
          <p:cNvSpPr/>
          <p:nvPr/>
        </p:nvSpPr>
        <p:spPr>
          <a:xfrm>
            <a:off x="274320" y="1627632"/>
            <a:ext cx="4114800" cy="3172968"/>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9" name="Shape 7"/>
          <p:cNvSpPr/>
          <p:nvPr/>
        </p:nvSpPr>
        <p:spPr>
          <a:xfrm>
            <a:off x="274320" y="1627632"/>
            <a:ext cx="4114800" cy="347472"/>
          </a:xfrm>
          <a:prstGeom prst="rect">
            <a:avLst/>
          </a:prstGeom>
          <a:solidFill>
            <a:srgbClr val="2E75B6"/>
          </a:solidFill>
          <a:ln w="12700">
            <a:solidFill>
              <a:srgbClr val="2E75B6"/>
            </a:solidFill>
            <a:prstDash val="solid"/>
          </a:ln>
        </p:spPr>
      </p:sp>
      <p:sp>
        <p:nvSpPr>
          <p:cNvPr id="10" name="Text 8"/>
          <p:cNvSpPr/>
          <p:nvPr/>
        </p:nvSpPr>
        <p:spPr>
          <a:xfrm>
            <a:off x="365760" y="1627632"/>
            <a:ext cx="3931920" cy="347472"/>
          </a:xfrm>
          <a:prstGeom prst="rect">
            <a:avLst/>
          </a:prstGeom>
          <a:noFill/>
          <a:ln/>
        </p:spPr>
        <p:txBody>
          <a:bodyPr wrap="square" rtlCol="0" anchor="ctr"/>
          <a:lstStyle/>
          <a:p>
            <a:pPr marL="0" indent="0">
              <a:buNone/>
            </a:pPr>
            <a:r>
              <a:rPr lang="en-US" sz="1100" b="1" dirty="0">
                <a:solidFill>
                  <a:srgbClr val="FFFFFF"/>
                </a:solidFill>
              </a:rPr>
              <a:t>Correlation Summary</a:t>
            </a:r>
            <a:endParaRPr lang="en-US" sz="1100" dirty="0"/>
          </a:p>
        </p:txBody>
      </p:sp>
      <p:sp>
        <p:nvSpPr>
          <p:cNvPr id="11" name="Text 9"/>
          <p:cNvSpPr/>
          <p:nvPr/>
        </p:nvSpPr>
        <p:spPr>
          <a:xfrm>
            <a:off x="365760" y="2084832"/>
            <a:ext cx="1463040" cy="411480"/>
          </a:xfrm>
          <a:prstGeom prst="rect">
            <a:avLst/>
          </a:prstGeom>
          <a:noFill/>
          <a:ln/>
        </p:spPr>
        <p:txBody>
          <a:bodyPr wrap="square" rtlCol="0" anchor="ctr"/>
          <a:lstStyle/>
          <a:p>
            <a:pPr marL="0" indent="0">
              <a:buNone/>
            </a:pPr>
            <a:r>
              <a:rPr lang="en-US" sz="950" dirty="0">
                <a:solidFill>
                  <a:srgbClr val="1B2838"/>
                </a:solidFill>
              </a:rPr>
              <a:t>G1 vs G3</a:t>
            </a:r>
            <a:endParaRPr lang="en-US" sz="950" dirty="0"/>
          </a:p>
        </p:txBody>
      </p:sp>
      <p:sp>
        <p:nvSpPr>
          <p:cNvPr id="12" name="Shape 10"/>
          <p:cNvSpPr/>
          <p:nvPr/>
        </p:nvSpPr>
        <p:spPr>
          <a:xfrm>
            <a:off x="1874520" y="2157984"/>
            <a:ext cx="1609344" cy="256032"/>
          </a:xfrm>
          <a:prstGeom prst="rect">
            <a:avLst/>
          </a:prstGeom>
          <a:solidFill>
            <a:srgbClr val="1B3A6B"/>
          </a:solidFill>
          <a:ln w="12700">
            <a:solidFill>
              <a:srgbClr val="1B3A6B"/>
            </a:solidFill>
            <a:prstDash val="solid"/>
          </a:ln>
        </p:spPr>
      </p:sp>
      <p:sp>
        <p:nvSpPr>
          <p:cNvPr id="13" name="Text 11"/>
          <p:cNvSpPr/>
          <p:nvPr/>
        </p:nvSpPr>
        <p:spPr>
          <a:xfrm>
            <a:off x="3566160" y="2084832"/>
            <a:ext cx="640080" cy="411480"/>
          </a:xfrm>
          <a:prstGeom prst="rect">
            <a:avLst/>
          </a:prstGeom>
          <a:noFill/>
          <a:ln/>
        </p:spPr>
        <p:txBody>
          <a:bodyPr wrap="square" rtlCol="0" anchor="ctr"/>
          <a:lstStyle/>
          <a:p>
            <a:pPr marL="0" indent="0" algn="r">
              <a:buNone/>
            </a:pPr>
            <a:r>
              <a:rPr lang="en-US" sz="950" b="1" dirty="0">
                <a:solidFill>
                  <a:srgbClr val="1B3A6B"/>
                </a:solidFill>
              </a:rPr>
              <a:t>0.80</a:t>
            </a:r>
            <a:endParaRPr lang="en-US" sz="950" dirty="0"/>
          </a:p>
        </p:txBody>
      </p:sp>
      <p:sp>
        <p:nvSpPr>
          <p:cNvPr id="14" name="Text 12"/>
          <p:cNvSpPr/>
          <p:nvPr/>
        </p:nvSpPr>
        <p:spPr>
          <a:xfrm>
            <a:off x="365760" y="2596896"/>
            <a:ext cx="1463040" cy="411480"/>
          </a:xfrm>
          <a:prstGeom prst="rect">
            <a:avLst/>
          </a:prstGeom>
          <a:noFill/>
          <a:ln/>
        </p:spPr>
        <p:txBody>
          <a:bodyPr wrap="square" rtlCol="0" anchor="ctr"/>
          <a:lstStyle/>
          <a:p>
            <a:pPr marL="0" indent="0">
              <a:buNone/>
            </a:pPr>
            <a:r>
              <a:rPr lang="en-US" sz="950" dirty="0">
                <a:solidFill>
                  <a:srgbClr val="1B2838"/>
                </a:solidFill>
              </a:rPr>
              <a:t>G2 vs G3</a:t>
            </a:r>
            <a:endParaRPr lang="en-US" sz="950" dirty="0"/>
          </a:p>
        </p:txBody>
      </p:sp>
      <p:sp>
        <p:nvSpPr>
          <p:cNvPr id="15" name="Shape 13"/>
          <p:cNvSpPr/>
          <p:nvPr/>
        </p:nvSpPr>
        <p:spPr>
          <a:xfrm>
            <a:off x="1874520" y="2670048"/>
            <a:ext cx="1508760" cy="256032"/>
          </a:xfrm>
          <a:prstGeom prst="rect">
            <a:avLst/>
          </a:prstGeom>
          <a:solidFill>
            <a:srgbClr val="2E75B6"/>
          </a:solidFill>
          <a:ln w="12700">
            <a:solidFill>
              <a:srgbClr val="2E75B6"/>
            </a:solidFill>
            <a:prstDash val="solid"/>
          </a:ln>
        </p:spPr>
      </p:sp>
      <p:sp>
        <p:nvSpPr>
          <p:cNvPr id="16" name="Text 14"/>
          <p:cNvSpPr/>
          <p:nvPr/>
        </p:nvSpPr>
        <p:spPr>
          <a:xfrm>
            <a:off x="3566160" y="2596896"/>
            <a:ext cx="640080" cy="411480"/>
          </a:xfrm>
          <a:prstGeom prst="rect">
            <a:avLst/>
          </a:prstGeom>
          <a:noFill/>
          <a:ln/>
        </p:spPr>
        <p:txBody>
          <a:bodyPr wrap="square" rtlCol="0" anchor="ctr"/>
          <a:lstStyle/>
          <a:p>
            <a:pPr marL="0" indent="0" algn="r">
              <a:buNone/>
            </a:pPr>
            <a:r>
              <a:rPr lang="en-US" sz="950" b="1" dirty="0">
                <a:solidFill>
                  <a:srgbClr val="1B3A6B"/>
                </a:solidFill>
              </a:rPr>
              <a:t>0.75</a:t>
            </a:r>
            <a:endParaRPr lang="en-US" sz="950" dirty="0"/>
          </a:p>
        </p:txBody>
      </p:sp>
      <p:sp>
        <p:nvSpPr>
          <p:cNvPr id="17" name="Text 15"/>
          <p:cNvSpPr/>
          <p:nvPr/>
        </p:nvSpPr>
        <p:spPr>
          <a:xfrm>
            <a:off x="365760" y="3108960"/>
            <a:ext cx="1463040" cy="411480"/>
          </a:xfrm>
          <a:prstGeom prst="rect">
            <a:avLst/>
          </a:prstGeom>
          <a:noFill/>
          <a:ln/>
        </p:spPr>
        <p:txBody>
          <a:bodyPr wrap="square" rtlCol="0" anchor="ctr"/>
          <a:lstStyle/>
          <a:p>
            <a:pPr marL="0" indent="0">
              <a:buNone/>
            </a:pPr>
            <a:r>
              <a:rPr lang="en-US" sz="950" dirty="0">
                <a:solidFill>
                  <a:srgbClr val="1B2838"/>
                </a:solidFill>
              </a:rPr>
              <a:t>failures vs G3</a:t>
            </a:r>
            <a:endParaRPr lang="en-US" sz="950" dirty="0"/>
          </a:p>
        </p:txBody>
      </p:sp>
      <p:sp>
        <p:nvSpPr>
          <p:cNvPr id="18" name="Shape 16"/>
          <p:cNvSpPr/>
          <p:nvPr/>
        </p:nvSpPr>
        <p:spPr>
          <a:xfrm>
            <a:off x="1069848" y="3182112"/>
            <a:ext cx="804672" cy="256032"/>
          </a:xfrm>
          <a:prstGeom prst="rect">
            <a:avLst/>
          </a:prstGeom>
          <a:solidFill>
            <a:srgbClr val="B91C1C"/>
          </a:solidFill>
          <a:ln w="12700">
            <a:solidFill>
              <a:srgbClr val="B91C1C"/>
            </a:solidFill>
            <a:prstDash val="solid"/>
          </a:ln>
        </p:spPr>
      </p:sp>
      <p:sp>
        <p:nvSpPr>
          <p:cNvPr id="19" name="Text 17"/>
          <p:cNvSpPr/>
          <p:nvPr/>
        </p:nvSpPr>
        <p:spPr>
          <a:xfrm>
            <a:off x="3566160" y="3108960"/>
            <a:ext cx="640080" cy="411480"/>
          </a:xfrm>
          <a:prstGeom prst="rect">
            <a:avLst/>
          </a:prstGeom>
          <a:noFill/>
          <a:ln/>
        </p:spPr>
        <p:txBody>
          <a:bodyPr wrap="square" rtlCol="0" anchor="ctr"/>
          <a:lstStyle/>
          <a:p>
            <a:pPr marL="0" indent="0" algn="r">
              <a:buNone/>
            </a:pPr>
            <a:r>
              <a:rPr lang="en-US" sz="950" b="1" dirty="0">
                <a:solidFill>
                  <a:srgbClr val="B91C1C"/>
                </a:solidFill>
              </a:rPr>
              <a:t>-0.40</a:t>
            </a:r>
            <a:endParaRPr lang="en-US" sz="950" dirty="0"/>
          </a:p>
        </p:txBody>
      </p:sp>
      <p:sp>
        <p:nvSpPr>
          <p:cNvPr id="20" name="Text 18"/>
          <p:cNvSpPr/>
          <p:nvPr/>
        </p:nvSpPr>
        <p:spPr>
          <a:xfrm>
            <a:off x="365760" y="3621024"/>
            <a:ext cx="1463040" cy="411480"/>
          </a:xfrm>
          <a:prstGeom prst="rect">
            <a:avLst/>
          </a:prstGeom>
          <a:noFill/>
          <a:ln/>
        </p:spPr>
        <p:txBody>
          <a:bodyPr wrap="square" rtlCol="0" anchor="ctr"/>
          <a:lstStyle/>
          <a:p>
            <a:pPr marL="0" indent="0">
              <a:buNone/>
            </a:pPr>
            <a:r>
              <a:rPr lang="en-US" sz="950" dirty="0">
                <a:solidFill>
                  <a:srgbClr val="1B2838"/>
                </a:solidFill>
              </a:rPr>
              <a:t>absences vs G3</a:t>
            </a:r>
            <a:endParaRPr lang="en-US" sz="950" dirty="0"/>
          </a:p>
        </p:txBody>
      </p:sp>
      <p:sp>
        <p:nvSpPr>
          <p:cNvPr id="21" name="Shape 19"/>
          <p:cNvSpPr/>
          <p:nvPr/>
        </p:nvSpPr>
        <p:spPr>
          <a:xfrm>
            <a:off x="1271016" y="3694176"/>
            <a:ext cx="603504" cy="256032"/>
          </a:xfrm>
          <a:prstGeom prst="rect">
            <a:avLst/>
          </a:prstGeom>
          <a:solidFill>
            <a:srgbClr val="E07B39"/>
          </a:solidFill>
          <a:ln w="12700">
            <a:solidFill>
              <a:srgbClr val="E07B39"/>
            </a:solidFill>
            <a:prstDash val="solid"/>
          </a:ln>
        </p:spPr>
      </p:sp>
      <p:sp>
        <p:nvSpPr>
          <p:cNvPr id="22" name="Text 20"/>
          <p:cNvSpPr/>
          <p:nvPr/>
        </p:nvSpPr>
        <p:spPr>
          <a:xfrm>
            <a:off x="3566160" y="3621024"/>
            <a:ext cx="640080" cy="411480"/>
          </a:xfrm>
          <a:prstGeom prst="rect">
            <a:avLst/>
          </a:prstGeom>
          <a:noFill/>
          <a:ln/>
        </p:spPr>
        <p:txBody>
          <a:bodyPr wrap="square" rtlCol="0" anchor="ctr"/>
          <a:lstStyle/>
          <a:p>
            <a:pPr marL="0" indent="0" algn="r">
              <a:buNone/>
            </a:pPr>
            <a:r>
              <a:rPr lang="en-US" sz="950" b="1" dirty="0">
                <a:solidFill>
                  <a:srgbClr val="B91C1C"/>
                </a:solidFill>
              </a:rPr>
              <a:t>-0.30</a:t>
            </a:r>
            <a:endParaRPr lang="en-US" sz="950" dirty="0"/>
          </a:p>
        </p:txBody>
      </p:sp>
      <p:sp>
        <p:nvSpPr>
          <p:cNvPr id="23" name="Text 21"/>
          <p:cNvSpPr/>
          <p:nvPr/>
        </p:nvSpPr>
        <p:spPr>
          <a:xfrm>
            <a:off x="365760" y="4133088"/>
            <a:ext cx="1463040" cy="411480"/>
          </a:xfrm>
          <a:prstGeom prst="rect">
            <a:avLst/>
          </a:prstGeom>
          <a:noFill/>
          <a:ln/>
        </p:spPr>
        <p:txBody>
          <a:bodyPr wrap="square" rtlCol="0" anchor="ctr"/>
          <a:lstStyle/>
          <a:p>
            <a:pPr marL="0" indent="0">
              <a:buNone/>
            </a:pPr>
            <a:r>
              <a:rPr lang="en-US" sz="950" dirty="0">
                <a:solidFill>
                  <a:srgbClr val="1B2838"/>
                </a:solidFill>
              </a:rPr>
              <a:t>studytime vs G3</a:t>
            </a:r>
            <a:endParaRPr lang="en-US" sz="950" dirty="0"/>
          </a:p>
        </p:txBody>
      </p:sp>
      <p:sp>
        <p:nvSpPr>
          <p:cNvPr id="24" name="Shape 22"/>
          <p:cNvSpPr/>
          <p:nvPr/>
        </p:nvSpPr>
        <p:spPr>
          <a:xfrm>
            <a:off x="1874520" y="4206240"/>
            <a:ext cx="402336" cy="256032"/>
          </a:xfrm>
          <a:prstGeom prst="rect">
            <a:avLst/>
          </a:prstGeom>
          <a:solidFill>
            <a:srgbClr val="1A7A4A"/>
          </a:solidFill>
          <a:ln w="12700">
            <a:solidFill>
              <a:srgbClr val="1A7A4A"/>
            </a:solidFill>
            <a:prstDash val="solid"/>
          </a:ln>
        </p:spPr>
      </p:sp>
      <p:sp>
        <p:nvSpPr>
          <p:cNvPr id="25" name="Text 23"/>
          <p:cNvSpPr/>
          <p:nvPr/>
        </p:nvSpPr>
        <p:spPr>
          <a:xfrm>
            <a:off x="3566160" y="4133088"/>
            <a:ext cx="640080" cy="411480"/>
          </a:xfrm>
          <a:prstGeom prst="rect">
            <a:avLst/>
          </a:prstGeom>
          <a:noFill/>
          <a:ln/>
        </p:spPr>
        <p:txBody>
          <a:bodyPr wrap="square" rtlCol="0" anchor="ctr"/>
          <a:lstStyle/>
          <a:p>
            <a:pPr marL="0" indent="0" algn="r">
              <a:buNone/>
            </a:pPr>
            <a:r>
              <a:rPr lang="en-US" sz="950" b="1" dirty="0">
                <a:solidFill>
                  <a:srgbClr val="1B3A6B"/>
                </a:solidFill>
              </a:rPr>
              <a:t>+0.20</a:t>
            </a:r>
            <a:endParaRPr lang="en-US" sz="950" dirty="0"/>
          </a:p>
        </p:txBody>
      </p:sp>
      <p:sp>
        <p:nvSpPr>
          <p:cNvPr id="26" name="Shape 24"/>
          <p:cNvSpPr/>
          <p:nvPr/>
        </p:nvSpPr>
        <p:spPr>
          <a:xfrm>
            <a:off x="4663440" y="1627632"/>
            <a:ext cx="4206240" cy="3172968"/>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27" name="Shape 25"/>
          <p:cNvSpPr/>
          <p:nvPr/>
        </p:nvSpPr>
        <p:spPr>
          <a:xfrm>
            <a:off x="4663440" y="1627632"/>
            <a:ext cx="4206240" cy="347472"/>
          </a:xfrm>
          <a:prstGeom prst="rect">
            <a:avLst/>
          </a:prstGeom>
          <a:solidFill>
            <a:srgbClr val="E07B39"/>
          </a:solidFill>
          <a:ln w="12700">
            <a:solidFill>
              <a:srgbClr val="E07B39"/>
            </a:solidFill>
            <a:prstDash val="solid"/>
          </a:ln>
        </p:spPr>
      </p:sp>
      <p:sp>
        <p:nvSpPr>
          <p:cNvPr id="28" name="Text 26"/>
          <p:cNvSpPr/>
          <p:nvPr/>
        </p:nvSpPr>
        <p:spPr>
          <a:xfrm>
            <a:off x="4754880" y="1627632"/>
            <a:ext cx="4023360" cy="347472"/>
          </a:xfrm>
          <a:prstGeom prst="rect">
            <a:avLst/>
          </a:prstGeom>
          <a:noFill/>
          <a:ln/>
        </p:spPr>
        <p:txBody>
          <a:bodyPr wrap="square" rtlCol="0" anchor="ctr"/>
          <a:lstStyle/>
          <a:p>
            <a:pPr marL="0" indent="0">
              <a:buNone/>
            </a:pPr>
            <a:r>
              <a:rPr lang="en-US" sz="1100" b="1" dirty="0">
                <a:solidFill>
                  <a:srgbClr val="FFFFFF"/>
                </a:solidFill>
              </a:rPr>
              <a:t>Visualizations Created</a:t>
            </a:r>
            <a:endParaRPr lang="en-US" sz="1100" dirty="0"/>
          </a:p>
        </p:txBody>
      </p:sp>
      <p:sp>
        <p:nvSpPr>
          <p:cNvPr id="29" name="Shape 27"/>
          <p:cNvSpPr/>
          <p:nvPr/>
        </p:nvSpPr>
        <p:spPr>
          <a:xfrm>
            <a:off x="4663440" y="2048256"/>
            <a:ext cx="4206240" cy="539496"/>
          </a:xfrm>
          <a:prstGeom prst="rect">
            <a:avLst/>
          </a:prstGeom>
          <a:solidFill>
            <a:srgbClr val="F4F8FD"/>
          </a:solidFill>
          <a:ln w="6350">
            <a:solidFill>
              <a:srgbClr val="D6E8FA"/>
            </a:solidFill>
            <a:prstDash val="solid"/>
          </a:ln>
        </p:spPr>
      </p:sp>
      <p:sp>
        <p:nvSpPr>
          <p:cNvPr id="30" name="Text 28"/>
          <p:cNvSpPr/>
          <p:nvPr/>
        </p:nvSpPr>
        <p:spPr>
          <a:xfrm>
            <a:off x="4736592" y="2084832"/>
            <a:ext cx="1051560" cy="457200"/>
          </a:xfrm>
          <a:prstGeom prst="rect">
            <a:avLst/>
          </a:prstGeom>
          <a:noFill/>
          <a:ln/>
        </p:spPr>
        <p:txBody>
          <a:bodyPr wrap="square" rtlCol="0" anchor="ctr"/>
          <a:lstStyle/>
          <a:p>
            <a:pPr marL="0" indent="0">
              <a:buNone/>
            </a:pPr>
            <a:r>
              <a:rPr lang="en-US" sz="900" b="1" dirty="0">
                <a:solidFill>
                  <a:srgbClr val="2E75B6"/>
                </a:solidFill>
              </a:rPr>
              <a:t>Scatterplot</a:t>
            </a:r>
            <a:endParaRPr lang="en-US" sz="900" dirty="0"/>
          </a:p>
        </p:txBody>
      </p:sp>
      <p:sp>
        <p:nvSpPr>
          <p:cNvPr id="31" name="Text 29"/>
          <p:cNvSpPr/>
          <p:nvPr/>
        </p:nvSpPr>
        <p:spPr>
          <a:xfrm>
            <a:off x="5806440" y="2084832"/>
            <a:ext cx="1371600" cy="457200"/>
          </a:xfrm>
          <a:prstGeom prst="rect">
            <a:avLst/>
          </a:prstGeom>
          <a:noFill/>
          <a:ln/>
        </p:spPr>
        <p:txBody>
          <a:bodyPr wrap="square" rtlCol="0" anchor="ctr"/>
          <a:lstStyle/>
          <a:p>
            <a:pPr marL="0" indent="0">
              <a:buNone/>
            </a:pPr>
            <a:r>
              <a:rPr lang="en-US" sz="900" b="1" dirty="0">
                <a:solidFill>
                  <a:srgbClr val="1B2838"/>
                </a:solidFill>
              </a:rPr>
              <a:t>Absences vs G3</a:t>
            </a:r>
            <a:endParaRPr lang="en-US" sz="900" dirty="0"/>
          </a:p>
        </p:txBody>
      </p:sp>
      <p:sp>
        <p:nvSpPr>
          <p:cNvPr id="32" name="Text 30"/>
          <p:cNvSpPr/>
          <p:nvPr/>
        </p:nvSpPr>
        <p:spPr>
          <a:xfrm>
            <a:off x="7196328" y="2084832"/>
            <a:ext cx="1600200" cy="457200"/>
          </a:xfrm>
          <a:prstGeom prst="rect">
            <a:avLst/>
          </a:prstGeom>
          <a:noFill/>
          <a:ln/>
        </p:spPr>
        <p:txBody>
          <a:bodyPr wrap="square" rtlCol="0" anchor="ctr"/>
          <a:lstStyle/>
          <a:p>
            <a:pPr marL="0" indent="0">
              <a:buNone/>
            </a:pPr>
            <a:r>
              <a:rPr lang="en-US" sz="850" dirty="0">
                <a:solidFill>
                  <a:srgbClr val="5A6A7E"/>
                </a:solidFill>
              </a:rPr>
              <a:t>More absences = lower grade</a:t>
            </a:r>
            <a:endParaRPr lang="en-US" sz="850" dirty="0"/>
          </a:p>
        </p:txBody>
      </p:sp>
      <p:sp>
        <p:nvSpPr>
          <p:cNvPr id="33" name="Shape 31"/>
          <p:cNvSpPr/>
          <p:nvPr/>
        </p:nvSpPr>
        <p:spPr>
          <a:xfrm>
            <a:off x="4663440" y="2587752"/>
            <a:ext cx="4206240" cy="539496"/>
          </a:xfrm>
          <a:prstGeom prst="rect">
            <a:avLst/>
          </a:prstGeom>
          <a:solidFill>
            <a:srgbClr val="FFFFFF"/>
          </a:solidFill>
          <a:ln w="6350">
            <a:solidFill>
              <a:srgbClr val="D6E8FA"/>
            </a:solidFill>
            <a:prstDash val="solid"/>
          </a:ln>
        </p:spPr>
      </p:sp>
      <p:sp>
        <p:nvSpPr>
          <p:cNvPr id="34" name="Text 32"/>
          <p:cNvSpPr/>
          <p:nvPr/>
        </p:nvSpPr>
        <p:spPr>
          <a:xfrm>
            <a:off x="4736592" y="2624328"/>
            <a:ext cx="1051560" cy="457200"/>
          </a:xfrm>
          <a:prstGeom prst="rect">
            <a:avLst/>
          </a:prstGeom>
          <a:noFill/>
          <a:ln/>
        </p:spPr>
        <p:txBody>
          <a:bodyPr wrap="square" rtlCol="0" anchor="ctr"/>
          <a:lstStyle/>
          <a:p>
            <a:pPr marL="0" indent="0">
              <a:buNone/>
            </a:pPr>
            <a:r>
              <a:rPr lang="en-US" sz="900" b="1" dirty="0">
                <a:solidFill>
                  <a:srgbClr val="2E75B6"/>
                </a:solidFill>
              </a:rPr>
              <a:t>Bar Chart</a:t>
            </a:r>
            <a:endParaRPr lang="en-US" sz="900" dirty="0"/>
          </a:p>
        </p:txBody>
      </p:sp>
      <p:sp>
        <p:nvSpPr>
          <p:cNvPr id="35" name="Text 33"/>
          <p:cNvSpPr/>
          <p:nvPr/>
        </p:nvSpPr>
        <p:spPr>
          <a:xfrm>
            <a:off x="5806440" y="2624328"/>
            <a:ext cx="1371600" cy="457200"/>
          </a:xfrm>
          <a:prstGeom prst="rect">
            <a:avLst/>
          </a:prstGeom>
          <a:noFill/>
          <a:ln/>
        </p:spPr>
        <p:txBody>
          <a:bodyPr wrap="square" rtlCol="0" anchor="ctr"/>
          <a:lstStyle/>
          <a:p>
            <a:pPr marL="0" indent="0">
              <a:buNone/>
            </a:pPr>
            <a:r>
              <a:rPr lang="en-US" sz="900" b="1" dirty="0">
                <a:solidFill>
                  <a:srgbClr val="1B2838"/>
                </a:solidFill>
              </a:rPr>
              <a:t>Studytime vs G3</a:t>
            </a:r>
            <a:endParaRPr lang="en-US" sz="900" dirty="0"/>
          </a:p>
        </p:txBody>
      </p:sp>
      <p:sp>
        <p:nvSpPr>
          <p:cNvPr id="36" name="Text 34"/>
          <p:cNvSpPr/>
          <p:nvPr/>
        </p:nvSpPr>
        <p:spPr>
          <a:xfrm>
            <a:off x="7196328" y="2624328"/>
            <a:ext cx="1600200" cy="457200"/>
          </a:xfrm>
          <a:prstGeom prst="rect">
            <a:avLst/>
          </a:prstGeom>
          <a:noFill/>
          <a:ln/>
        </p:spPr>
        <p:txBody>
          <a:bodyPr wrap="square" rtlCol="0" anchor="ctr"/>
          <a:lstStyle/>
          <a:p>
            <a:pPr marL="0" indent="0">
              <a:buNone/>
            </a:pPr>
            <a:r>
              <a:rPr lang="en-US" sz="850" dirty="0">
                <a:solidFill>
                  <a:srgbClr val="5A6A7E"/>
                </a:solidFill>
              </a:rPr>
              <a:t>More study = higher grade</a:t>
            </a:r>
            <a:endParaRPr lang="en-US" sz="850" dirty="0"/>
          </a:p>
        </p:txBody>
      </p:sp>
      <p:sp>
        <p:nvSpPr>
          <p:cNvPr id="37" name="Shape 35"/>
          <p:cNvSpPr/>
          <p:nvPr/>
        </p:nvSpPr>
        <p:spPr>
          <a:xfrm>
            <a:off x="4663440" y="3127248"/>
            <a:ext cx="4206240" cy="539496"/>
          </a:xfrm>
          <a:prstGeom prst="rect">
            <a:avLst/>
          </a:prstGeom>
          <a:solidFill>
            <a:srgbClr val="F4F8FD"/>
          </a:solidFill>
          <a:ln w="6350">
            <a:solidFill>
              <a:srgbClr val="D6E8FA"/>
            </a:solidFill>
            <a:prstDash val="solid"/>
          </a:ln>
        </p:spPr>
      </p:sp>
      <p:sp>
        <p:nvSpPr>
          <p:cNvPr id="38" name="Text 36"/>
          <p:cNvSpPr/>
          <p:nvPr/>
        </p:nvSpPr>
        <p:spPr>
          <a:xfrm>
            <a:off x="4736592" y="3163824"/>
            <a:ext cx="1051560" cy="457200"/>
          </a:xfrm>
          <a:prstGeom prst="rect">
            <a:avLst/>
          </a:prstGeom>
          <a:noFill/>
          <a:ln/>
        </p:spPr>
        <p:txBody>
          <a:bodyPr wrap="square" rtlCol="0" anchor="ctr"/>
          <a:lstStyle/>
          <a:p>
            <a:pPr marL="0" indent="0">
              <a:buNone/>
            </a:pPr>
            <a:r>
              <a:rPr lang="en-US" sz="900" b="1" dirty="0">
                <a:solidFill>
                  <a:srgbClr val="2E75B6"/>
                </a:solidFill>
              </a:rPr>
              <a:t>Bar Chart</a:t>
            </a:r>
            <a:endParaRPr lang="en-US" sz="900" dirty="0"/>
          </a:p>
        </p:txBody>
      </p:sp>
      <p:sp>
        <p:nvSpPr>
          <p:cNvPr id="39" name="Text 37"/>
          <p:cNvSpPr/>
          <p:nvPr/>
        </p:nvSpPr>
        <p:spPr>
          <a:xfrm>
            <a:off x="5806440" y="3163824"/>
            <a:ext cx="1371600" cy="457200"/>
          </a:xfrm>
          <a:prstGeom prst="rect">
            <a:avLst/>
          </a:prstGeom>
          <a:noFill/>
          <a:ln/>
        </p:spPr>
        <p:txBody>
          <a:bodyPr wrap="square" rtlCol="0" anchor="ctr"/>
          <a:lstStyle/>
          <a:p>
            <a:pPr marL="0" indent="0">
              <a:buNone/>
            </a:pPr>
            <a:r>
              <a:rPr lang="en-US" sz="900" b="1" dirty="0">
                <a:solidFill>
                  <a:srgbClr val="1B2838"/>
                </a:solidFill>
              </a:rPr>
              <a:t>Failures vs G3</a:t>
            </a:r>
            <a:endParaRPr lang="en-US" sz="900" dirty="0"/>
          </a:p>
        </p:txBody>
      </p:sp>
      <p:sp>
        <p:nvSpPr>
          <p:cNvPr id="40" name="Text 38"/>
          <p:cNvSpPr/>
          <p:nvPr/>
        </p:nvSpPr>
        <p:spPr>
          <a:xfrm>
            <a:off x="7196328" y="3163824"/>
            <a:ext cx="1600200" cy="457200"/>
          </a:xfrm>
          <a:prstGeom prst="rect">
            <a:avLst/>
          </a:prstGeom>
          <a:noFill/>
          <a:ln/>
        </p:spPr>
        <p:txBody>
          <a:bodyPr wrap="square" rtlCol="0" anchor="ctr"/>
          <a:lstStyle/>
          <a:p>
            <a:pPr marL="0" indent="0">
              <a:buNone/>
            </a:pPr>
            <a:r>
              <a:rPr lang="en-US" sz="850" dirty="0">
                <a:solidFill>
                  <a:srgbClr val="5A6A7E"/>
                </a:solidFill>
              </a:rPr>
              <a:t>Past failures = lower grade</a:t>
            </a:r>
            <a:endParaRPr lang="en-US" sz="850" dirty="0"/>
          </a:p>
        </p:txBody>
      </p:sp>
      <p:sp>
        <p:nvSpPr>
          <p:cNvPr id="41" name="Shape 39"/>
          <p:cNvSpPr/>
          <p:nvPr/>
        </p:nvSpPr>
        <p:spPr>
          <a:xfrm>
            <a:off x="4663440" y="3666744"/>
            <a:ext cx="4206240" cy="539496"/>
          </a:xfrm>
          <a:prstGeom prst="rect">
            <a:avLst/>
          </a:prstGeom>
          <a:solidFill>
            <a:srgbClr val="FFFFFF"/>
          </a:solidFill>
          <a:ln w="6350">
            <a:solidFill>
              <a:srgbClr val="D6E8FA"/>
            </a:solidFill>
            <a:prstDash val="solid"/>
          </a:ln>
        </p:spPr>
      </p:sp>
      <p:sp>
        <p:nvSpPr>
          <p:cNvPr id="42" name="Text 40"/>
          <p:cNvSpPr/>
          <p:nvPr/>
        </p:nvSpPr>
        <p:spPr>
          <a:xfrm>
            <a:off x="4736592" y="3703320"/>
            <a:ext cx="1051560" cy="457200"/>
          </a:xfrm>
          <a:prstGeom prst="rect">
            <a:avLst/>
          </a:prstGeom>
          <a:noFill/>
          <a:ln/>
        </p:spPr>
        <p:txBody>
          <a:bodyPr wrap="square" rtlCol="0" anchor="ctr"/>
          <a:lstStyle/>
          <a:p>
            <a:pPr marL="0" indent="0">
              <a:buNone/>
            </a:pPr>
            <a:r>
              <a:rPr lang="en-US" sz="900" b="1" dirty="0">
                <a:solidFill>
                  <a:srgbClr val="2E75B6"/>
                </a:solidFill>
              </a:rPr>
              <a:t>Box Plot</a:t>
            </a:r>
            <a:endParaRPr lang="en-US" sz="900" dirty="0"/>
          </a:p>
        </p:txBody>
      </p:sp>
      <p:sp>
        <p:nvSpPr>
          <p:cNvPr id="43" name="Text 41"/>
          <p:cNvSpPr/>
          <p:nvPr/>
        </p:nvSpPr>
        <p:spPr>
          <a:xfrm>
            <a:off x="5806440" y="3703320"/>
            <a:ext cx="1371600" cy="457200"/>
          </a:xfrm>
          <a:prstGeom prst="rect">
            <a:avLst/>
          </a:prstGeom>
          <a:noFill/>
          <a:ln/>
        </p:spPr>
        <p:txBody>
          <a:bodyPr wrap="square" rtlCol="0" anchor="ctr"/>
          <a:lstStyle/>
          <a:p>
            <a:pPr marL="0" indent="0">
              <a:buNone/>
            </a:pPr>
            <a:r>
              <a:rPr lang="en-US" sz="900" b="1" dirty="0">
                <a:solidFill>
                  <a:srgbClr val="1B2838"/>
                </a:solidFill>
              </a:rPr>
              <a:t>PassFail vs Absences</a:t>
            </a:r>
            <a:endParaRPr lang="en-US" sz="900" dirty="0"/>
          </a:p>
        </p:txBody>
      </p:sp>
      <p:sp>
        <p:nvSpPr>
          <p:cNvPr id="44" name="Text 42"/>
          <p:cNvSpPr/>
          <p:nvPr/>
        </p:nvSpPr>
        <p:spPr>
          <a:xfrm>
            <a:off x="7196328" y="3703320"/>
            <a:ext cx="1600200" cy="457200"/>
          </a:xfrm>
          <a:prstGeom prst="rect">
            <a:avLst/>
          </a:prstGeom>
          <a:noFill/>
          <a:ln/>
        </p:spPr>
        <p:txBody>
          <a:bodyPr wrap="square" rtlCol="0" anchor="ctr"/>
          <a:lstStyle/>
          <a:p>
            <a:pPr marL="0" indent="0">
              <a:buNone/>
            </a:pPr>
            <a:r>
              <a:rPr lang="en-US" sz="850" dirty="0">
                <a:solidFill>
                  <a:srgbClr val="5A6A7E"/>
                </a:solidFill>
              </a:rPr>
              <a:t>Fail group has more absences</a:t>
            </a:r>
            <a:endParaRPr lang="en-US" sz="850" dirty="0"/>
          </a:p>
        </p:txBody>
      </p:sp>
      <p:sp>
        <p:nvSpPr>
          <p:cNvPr id="45" name="Shape 43"/>
          <p:cNvSpPr/>
          <p:nvPr/>
        </p:nvSpPr>
        <p:spPr>
          <a:xfrm>
            <a:off x="4663440" y="4206240"/>
            <a:ext cx="4206240" cy="539496"/>
          </a:xfrm>
          <a:prstGeom prst="rect">
            <a:avLst/>
          </a:prstGeom>
          <a:solidFill>
            <a:srgbClr val="F4F8FD"/>
          </a:solidFill>
          <a:ln w="6350">
            <a:solidFill>
              <a:srgbClr val="D6E8FA"/>
            </a:solidFill>
            <a:prstDash val="solid"/>
          </a:ln>
        </p:spPr>
      </p:sp>
      <p:sp>
        <p:nvSpPr>
          <p:cNvPr id="46" name="Text 44"/>
          <p:cNvSpPr/>
          <p:nvPr/>
        </p:nvSpPr>
        <p:spPr>
          <a:xfrm>
            <a:off x="4736592" y="4242816"/>
            <a:ext cx="1051560" cy="457200"/>
          </a:xfrm>
          <a:prstGeom prst="rect">
            <a:avLst/>
          </a:prstGeom>
          <a:noFill/>
          <a:ln/>
        </p:spPr>
        <p:txBody>
          <a:bodyPr wrap="square" rtlCol="0" anchor="ctr"/>
          <a:lstStyle/>
          <a:p>
            <a:pPr marL="0" indent="0">
              <a:buNone/>
            </a:pPr>
            <a:r>
              <a:rPr lang="en-US" sz="900" b="1" dirty="0">
                <a:solidFill>
                  <a:srgbClr val="2E75B6"/>
                </a:solidFill>
              </a:rPr>
              <a:t>Bar Chart</a:t>
            </a:r>
            <a:endParaRPr lang="en-US" sz="900" dirty="0"/>
          </a:p>
        </p:txBody>
      </p:sp>
      <p:sp>
        <p:nvSpPr>
          <p:cNvPr id="47" name="Text 45"/>
          <p:cNvSpPr/>
          <p:nvPr/>
        </p:nvSpPr>
        <p:spPr>
          <a:xfrm>
            <a:off x="5806440" y="4242816"/>
            <a:ext cx="1371600" cy="457200"/>
          </a:xfrm>
          <a:prstGeom prst="rect">
            <a:avLst/>
          </a:prstGeom>
          <a:noFill/>
          <a:ln/>
        </p:spPr>
        <p:txBody>
          <a:bodyPr wrap="square" rtlCol="0" anchor="ctr"/>
          <a:lstStyle/>
          <a:p>
            <a:pPr marL="0" indent="0">
              <a:buNone/>
            </a:pPr>
            <a:r>
              <a:rPr lang="en-US" sz="900" b="1" dirty="0">
                <a:solidFill>
                  <a:srgbClr val="1B2838"/>
                </a:solidFill>
              </a:rPr>
              <a:t>DropoutRisk vs AvgGrade</a:t>
            </a:r>
            <a:endParaRPr lang="en-US" sz="900" dirty="0"/>
          </a:p>
        </p:txBody>
      </p:sp>
      <p:sp>
        <p:nvSpPr>
          <p:cNvPr id="48" name="Text 46"/>
          <p:cNvSpPr/>
          <p:nvPr/>
        </p:nvSpPr>
        <p:spPr>
          <a:xfrm>
            <a:off x="7196328" y="4242816"/>
            <a:ext cx="1600200" cy="457200"/>
          </a:xfrm>
          <a:prstGeom prst="rect">
            <a:avLst/>
          </a:prstGeom>
          <a:noFill/>
          <a:ln/>
        </p:spPr>
        <p:txBody>
          <a:bodyPr wrap="square" rtlCol="0" anchor="ctr"/>
          <a:lstStyle/>
          <a:p>
            <a:pPr marL="0" indent="0">
              <a:buNone/>
            </a:pPr>
            <a:r>
              <a:rPr lang="en-US" sz="850" dirty="0">
                <a:solidFill>
                  <a:srgbClr val="5A6A7E"/>
                </a:solidFill>
              </a:rPr>
              <a:t>High risk = lower avg grade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w="12700">
            <a:solidFill>
              <a:srgbClr val="1B3A6B"/>
            </a:solidFill>
            <a:prstDash val="solid"/>
          </a:ln>
        </p:spPr>
      </p:sp>
      <p:sp>
        <p:nvSpPr>
          <p:cNvPr id="3" name="Shape 1"/>
          <p:cNvSpPr/>
          <p:nvPr/>
        </p:nvSpPr>
        <p:spPr>
          <a:xfrm>
            <a:off x="0" y="640080"/>
            <a:ext cx="9144000" cy="54864"/>
          </a:xfrm>
          <a:prstGeom prst="rect">
            <a:avLst/>
          </a:prstGeom>
          <a:solidFill>
            <a:srgbClr val="E07B39"/>
          </a:solidFill>
          <a:ln w="12700">
            <a:solidFill>
              <a:srgbClr val="E07B39"/>
            </a:solidFill>
            <a:prstDash val="solid"/>
          </a:ln>
        </p:spPr>
      </p:sp>
      <p:sp>
        <p:nvSpPr>
          <p:cNvPr id="4" name="Text 2"/>
          <p:cNvSpPr/>
          <p:nvPr/>
        </p:nvSpPr>
        <p:spPr>
          <a:xfrm>
            <a:off x="365760" y="0"/>
            <a:ext cx="8229600" cy="6400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Task 6: Predictive Modeling — CHAID &amp; C5.0</a:t>
            </a:r>
            <a:endParaRPr lang="en-US" sz="2000" dirty="0"/>
          </a:p>
        </p:txBody>
      </p:sp>
      <p:sp>
        <p:nvSpPr>
          <p:cNvPr id="5" name="Text 3"/>
          <p:cNvSpPr/>
          <p:nvPr/>
        </p:nvSpPr>
        <p:spPr>
          <a:xfrm>
            <a:off x="8046720" y="0"/>
            <a:ext cx="914400" cy="640080"/>
          </a:xfrm>
          <a:prstGeom prst="rect">
            <a:avLst/>
          </a:prstGeom>
          <a:noFill/>
          <a:ln/>
        </p:spPr>
        <p:txBody>
          <a:bodyPr wrap="square" rtlCol="0" anchor="ctr"/>
          <a:lstStyle/>
          <a:p>
            <a:pPr marL="0" indent="0" algn="r">
              <a:buNone/>
            </a:pPr>
            <a:r>
              <a:rPr lang="en-US" sz="2800" b="1" dirty="0">
                <a:solidFill>
                  <a:srgbClr val="FFFFFF"/>
                </a:solidFill>
              </a:rPr>
              <a:t>07</a:t>
            </a:r>
            <a:endParaRPr lang="en-US" sz="2800" dirty="0"/>
          </a:p>
        </p:txBody>
      </p:sp>
      <p:sp>
        <p:nvSpPr>
          <p:cNvPr id="6" name="Shape 4"/>
          <p:cNvSpPr/>
          <p:nvPr/>
        </p:nvSpPr>
        <p:spPr>
          <a:xfrm>
            <a:off x="274320" y="804672"/>
            <a:ext cx="8595360" cy="411480"/>
          </a:xfrm>
          <a:prstGeom prst="rect">
            <a:avLst/>
          </a:prstGeom>
          <a:solidFill>
            <a:srgbClr val="D6E8FA"/>
          </a:solidFill>
          <a:ln w="12700">
            <a:solidFill>
              <a:srgbClr val="2E75B6"/>
            </a:solidFill>
            <a:prstDash val="solid"/>
          </a:ln>
        </p:spPr>
      </p:sp>
      <p:sp>
        <p:nvSpPr>
          <p:cNvPr id="7" name="Text 5"/>
          <p:cNvSpPr/>
          <p:nvPr/>
        </p:nvSpPr>
        <p:spPr>
          <a:xfrm>
            <a:off x="457200" y="804672"/>
            <a:ext cx="8229600" cy="411480"/>
          </a:xfrm>
          <a:prstGeom prst="rect">
            <a:avLst/>
          </a:prstGeom>
          <a:noFill/>
          <a:ln/>
        </p:spPr>
        <p:txBody>
          <a:bodyPr wrap="square" rtlCol="0" anchor="ctr"/>
          <a:lstStyle/>
          <a:p>
            <a:pPr marL="0" indent="0" algn="ctr">
              <a:buNone/>
            </a:pPr>
            <a:r>
              <a:rPr lang="en-US" sz="1050" b="1" dirty="0">
                <a:solidFill>
                  <a:srgbClr val="1B3A6B"/>
                </a:solidFill>
              </a:rPr>
              <a:t>Partition Node: 70% Training Data  |  30% Testing Data  |  Target: PassFail &amp; DropoutRisk</a:t>
            </a:r>
            <a:endParaRPr lang="en-US" sz="1050" dirty="0"/>
          </a:p>
        </p:txBody>
      </p:sp>
      <p:sp>
        <p:nvSpPr>
          <p:cNvPr id="8" name="Shape 6"/>
          <p:cNvSpPr/>
          <p:nvPr/>
        </p:nvSpPr>
        <p:spPr>
          <a:xfrm>
            <a:off x="274320" y="1325880"/>
            <a:ext cx="4114800" cy="347472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9" name="Shape 7"/>
          <p:cNvSpPr/>
          <p:nvPr/>
        </p:nvSpPr>
        <p:spPr>
          <a:xfrm>
            <a:off x="274320" y="1325880"/>
            <a:ext cx="4114800" cy="384048"/>
          </a:xfrm>
          <a:prstGeom prst="rect">
            <a:avLst/>
          </a:prstGeom>
          <a:solidFill>
            <a:srgbClr val="1B3A6B"/>
          </a:solidFill>
          <a:ln w="12700">
            <a:solidFill>
              <a:srgbClr val="1B3A6B"/>
            </a:solidFill>
            <a:prstDash val="solid"/>
          </a:ln>
        </p:spPr>
      </p:sp>
      <p:sp>
        <p:nvSpPr>
          <p:cNvPr id="10" name="Text 8"/>
          <p:cNvSpPr/>
          <p:nvPr/>
        </p:nvSpPr>
        <p:spPr>
          <a:xfrm>
            <a:off x="365760" y="1325880"/>
            <a:ext cx="2743200" cy="384048"/>
          </a:xfrm>
          <a:prstGeom prst="rect">
            <a:avLst/>
          </a:prstGeom>
          <a:noFill/>
          <a:ln/>
        </p:spPr>
        <p:txBody>
          <a:bodyPr wrap="square" rtlCol="0" anchor="ctr"/>
          <a:lstStyle/>
          <a:p>
            <a:pPr marL="0" indent="0">
              <a:buNone/>
            </a:pPr>
            <a:r>
              <a:rPr lang="en-US" sz="1200" b="1" dirty="0">
                <a:solidFill>
                  <a:srgbClr val="FFFFFF"/>
                </a:solidFill>
              </a:rPr>
              <a:t>CHAID Model</a:t>
            </a:r>
            <a:endParaRPr lang="en-US" sz="1200" dirty="0"/>
          </a:p>
        </p:txBody>
      </p:sp>
      <p:sp>
        <p:nvSpPr>
          <p:cNvPr id="11" name="Text 9"/>
          <p:cNvSpPr/>
          <p:nvPr/>
        </p:nvSpPr>
        <p:spPr>
          <a:xfrm>
            <a:off x="3017520" y="1325880"/>
            <a:ext cx="1280160" cy="384048"/>
          </a:xfrm>
          <a:prstGeom prst="rect">
            <a:avLst/>
          </a:prstGeom>
          <a:noFill/>
          <a:ln/>
        </p:spPr>
        <p:txBody>
          <a:bodyPr wrap="square" rtlCol="0" anchor="ctr"/>
          <a:lstStyle/>
          <a:p>
            <a:pPr marL="0" indent="0" algn="r">
              <a:buNone/>
            </a:pPr>
            <a:r>
              <a:rPr lang="en-US" sz="950" b="1" dirty="0">
                <a:solidFill>
                  <a:srgbClr val="FEF3C7"/>
                </a:solidFill>
              </a:rPr>
              <a:t>~75–80% Accuracy</a:t>
            </a:r>
            <a:endParaRPr lang="en-US" sz="950" dirty="0"/>
          </a:p>
        </p:txBody>
      </p:sp>
      <p:sp>
        <p:nvSpPr>
          <p:cNvPr id="12" name="Text 10"/>
          <p:cNvSpPr/>
          <p:nvPr/>
        </p:nvSpPr>
        <p:spPr>
          <a:xfrm>
            <a:off x="365760" y="1783080"/>
            <a:ext cx="3840480" cy="502920"/>
          </a:xfrm>
          <a:prstGeom prst="rect">
            <a:avLst/>
          </a:prstGeom>
          <a:noFill/>
          <a:ln/>
        </p:spPr>
        <p:txBody>
          <a:bodyPr wrap="square" rtlCol="0" anchor="ctr"/>
          <a:lstStyle/>
          <a:p>
            <a:pPr marL="0" indent="0">
              <a:buNone/>
            </a:pPr>
            <a:r>
              <a:rPr lang="en-US" sz="950" dirty="0">
                <a:solidFill>
                  <a:srgbClr val="5A6A7E"/>
                </a:solidFill>
              </a:rPr>
              <a:t>Chi-squared Automatic Interaction Detection — Interpretable decision tree ideal for reporting and explanation.</a:t>
            </a:r>
            <a:endParaRPr lang="en-US" sz="950" dirty="0"/>
          </a:p>
        </p:txBody>
      </p:sp>
      <p:sp>
        <p:nvSpPr>
          <p:cNvPr id="13" name="Shape 11"/>
          <p:cNvSpPr/>
          <p:nvPr/>
        </p:nvSpPr>
        <p:spPr>
          <a:xfrm>
            <a:off x="320040" y="2359152"/>
            <a:ext cx="4023360" cy="347472"/>
          </a:xfrm>
          <a:prstGeom prst="rect">
            <a:avLst/>
          </a:prstGeom>
          <a:solidFill>
            <a:srgbClr val="F4F8FD"/>
          </a:solidFill>
          <a:ln w="6350">
            <a:solidFill>
              <a:srgbClr val="D6E8FA"/>
            </a:solidFill>
            <a:prstDash val="solid"/>
          </a:ln>
        </p:spPr>
      </p:sp>
      <p:sp>
        <p:nvSpPr>
          <p:cNvPr id="14" name="Text 12"/>
          <p:cNvSpPr/>
          <p:nvPr/>
        </p:nvSpPr>
        <p:spPr>
          <a:xfrm>
            <a:off x="393192" y="2377440"/>
            <a:ext cx="2560320" cy="310896"/>
          </a:xfrm>
          <a:prstGeom prst="rect">
            <a:avLst/>
          </a:prstGeom>
          <a:noFill/>
          <a:ln/>
        </p:spPr>
        <p:txBody>
          <a:bodyPr wrap="square" rtlCol="0" anchor="ctr"/>
          <a:lstStyle/>
          <a:p>
            <a:pPr marL="0" indent="0">
              <a:buNone/>
            </a:pPr>
            <a:r>
              <a:rPr lang="en-US" sz="950" dirty="0">
                <a:solidFill>
                  <a:srgbClr val="1B2838"/>
                </a:solidFill>
              </a:rPr>
              <a:t>Max Tree Depth</a:t>
            </a:r>
            <a:endParaRPr lang="en-US" sz="950" dirty="0"/>
          </a:p>
        </p:txBody>
      </p:sp>
      <p:sp>
        <p:nvSpPr>
          <p:cNvPr id="15" name="Text 13"/>
          <p:cNvSpPr/>
          <p:nvPr/>
        </p:nvSpPr>
        <p:spPr>
          <a:xfrm>
            <a:off x="2971800" y="2377440"/>
            <a:ext cx="1280160" cy="310896"/>
          </a:xfrm>
          <a:prstGeom prst="rect">
            <a:avLst/>
          </a:prstGeom>
          <a:noFill/>
          <a:ln/>
        </p:spPr>
        <p:txBody>
          <a:bodyPr wrap="square" rtlCol="0" anchor="ctr"/>
          <a:lstStyle/>
          <a:p>
            <a:pPr marL="0" indent="0" algn="r">
              <a:buNone/>
            </a:pPr>
            <a:r>
              <a:rPr lang="en-US" sz="950" b="1" dirty="0">
                <a:solidFill>
                  <a:srgbClr val="1B3A6B"/>
                </a:solidFill>
              </a:rPr>
              <a:t>5</a:t>
            </a:r>
            <a:endParaRPr lang="en-US" sz="950" dirty="0"/>
          </a:p>
        </p:txBody>
      </p:sp>
      <p:sp>
        <p:nvSpPr>
          <p:cNvPr id="16" name="Shape 14"/>
          <p:cNvSpPr/>
          <p:nvPr/>
        </p:nvSpPr>
        <p:spPr>
          <a:xfrm>
            <a:off x="320040" y="2706624"/>
            <a:ext cx="4023360" cy="347472"/>
          </a:xfrm>
          <a:prstGeom prst="rect">
            <a:avLst/>
          </a:prstGeom>
          <a:solidFill>
            <a:srgbClr val="FFFFFF"/>
          </a:solidFill>
          <a:ln w="6350">
            <a:solidFill>
              <a:srgbClr val="D6E8FA"/>
            </a:solidFill>
            <a:prstDash val="solid"/>
          </a:ln>
        </p:spPr>
      </p:sp>
      <p:sp>
        <p:nvSpPr>
          <p:cNvPr id="17" name="Text 15"/>
          <p:cNvSpPr/>
          <p:nvPr/>
        </p:nvSpPr>
        <p:spPr>
          <a:xfrm>
            <a:off x="393192" y="2724912"/>
            <a:ext cx="2560320" cy="310896"/>
          </a:xfrm>
          <a:prstGeom prst="rect">
            <a:avLst/>
          </a:prstGeom>
          <a:noFill/>
          <a:ln/>
        </p:spPr>
        <p:txBody>
          <a:bodyPr wrap="square" rtlCol="0" anchor="ctr"/>
          <a:lstStyle/>
          <a:p>
            <a:pPr marL="0" indent="0">
              <a:buNone/>
            </a:pPr>
            <a:r>
              <a:rPr lang="en-US" sz="950" dirty="0">
                <a:solidFill>
                  <a:srgbClr val="1B2838"/>
                </a:solidFill>
              </a:rPr>
              <a:t>Min Parent Records</a:t>
            </a:r>
            <a:endParaRPr lang="en-US" sz="950" dirty="0"/>
          </a:p>
        </p:txBody>
      </p:sp>
      <p:sp>
        <p:nvSpPr>
          <p:cNvPr id="18" name="Text 16"/>
          <p:cNvSpPr/>
          <p:nvPr/>
        </p:nvSpPr>
        <p:spPr>
          <a:xfrm>
            <a:off x="2971800" y="2724912"/>
            <a:ext cx="1280160" cy="310896"/>
          </a:xfrm>
          <a:prstGeom prst="rect">
            <a:avLst/>
          </a:prstGeom>
          <a:noFill/>
          <a:ln/>
        </p:spPr>
        <p:txBody>
          <a:bodyPr wrap="square" rtlCol="0" anchor="ctr"/>
          <a:lstStyle/>
          <a:p>
            <a:pPr marL="0" indent="0" algn="r">
              <a:buNone/>
            </a:pPr>
            <a:r>
              <a:rPr lang="en-US" sz="950" b="1" dirty="0">
                <a:solidFill>
                  <a:srgbClr val="1B3A6B"/>
                </a:solidFill>
              </a:rPr>
              <a:t>20</a:t>
            </a:r>
            <a:endParaRPr lang="en-US" sz="950" dirty="0"/>
          </a:p>
        </p:txBody>
      </p:sp>
      <p:sp>
        <p:nvSpPr>
          <p:cNvPr id="19" name="Shape 17"/>
          <p:cNvSpPr/>
          <p:nvPr/>
        </p:nvSpPr>
        <p:spPr>
          <a:xfrm>
            <a:off x="320040" y="3054096"/>
            <a:ext cx="4023360" cy="347472"/>
          </a:xfrm>
          <a:prstGeom prst="rect">
            <a:avLst/>
          </a:prstGeom>
          <a:solidFill>
            <a:srgbClr val="F4F8FD"/>
          </a:solidFill>
          <a:ln w="6350">
            <a:solidFill>
              <a:srgbClr val="D6E8FA"/>
            </a:solidFill>
            <a:prstDash val="solid"/>
          </a:ln>
        </p:spPr>
      </p:sp>
      <p:sp>
        <p:nvSpPr>
          <p:cNvPr id="20" name="Text 18"/>
          <p:cNvSpPr/>
          <p:nvPr/>
        </p:nvSpPr>
        <p:spPr>
          <a:xfrm>
            <a:off x="393192" y="3072384"/>
            <a:ext cx="2560320" cy="310896"/>
          </a:xfrm>
          <a:prstGeom prst="rect">
            <a:avLst/>
          </a:prstGeom>
          <a:noFill/>
          <a:ln/>
        </p:spPr>
        <p:txBody>
          <a:bodyPr wrap="square" rtlCol="0" anchor="ctr"/>
          <a:lstStyle/>
          <a:p>
            <a:pPr marL="0" indent="0">
              <a:buNone/>
            </a:pPr>
            <a:r>
              <a:rPr lang="en-US" sz="950" dirty="0">
                <a:solidFill>
                  <a:srgbClr val="1B2838"/>
                </a:solidFill>
              </a:rPr>
              <a:t>Min Child Records</a:t>
            </a:r>
            <a:endParaRPr lang="en-US" sz="950" dirty="0"/>
          </a:p>
        </p:txBody>
      </p:sp>
      <p:sp>
        <p:nvSpPr>
          <p:cNvPr id="21" name="Text 19"/>
          <p:cNvSpPr/>
          <p:nvPr/>
        </p:nvSpPr>
        <p:spPr>
          <a:xfrm>
            <a:off x="2971800" y="3072384"/>
            <a:ext cx="1280160" cy="310896"/>
          </a:xfrm>
          <a:prstGeom prst="rect">
            <a:avLst/>
          </a:prstGeom>
          <a:noFill/>
          <a:ln/>
        </p:spPr>
        <p:txBody>
          <a:bodyPr wrap="square" rtlCol="0" anchor="ctr"/>
          <a:lstStyle/>
          <a:p>
            <a:pPr marL="0" indent="0" algn="r">
              <a:buNone/>
            </a:pPr>
            <a:r>
              <a:rPr lang="en-US" sz="950" b="1" dirty="0">
                <a:solidFill>
                  <a:srgbClr val="1B3A6B"/>
                </a:solidFill>
              </a:rPr>
              <a:t>10</a:t>
            </a:r>
            <a:endParaRPr lang="en-US" sz="950" dirty="0"/>
          </a:p>
        </p:txBody>
      </p:sp>
      <p:sp>
        <p:nvSpPr>
          <p:cNvPr id="22" name="Shape 20"/>
          <p:cNvSpPr/>
          <p:nvPr/>
        </p:nvSpPr>
        <p:spPr>
          <a:xfrm>
            <a:off x="320040" y="3401568"/>
            <a:ext cx="4023360" cy="347472"/>
          </a:xfrm>
          <a:prstGeom prst="rect">
            <a:avLst/>
          </a:prstGeom>
          <a:solidFill>
            <a:srgbClr val="FFFFFF"/>
          </a:solidFill>
          <a:ln w="6350">
            <a:solidFill>
              <a:srgbClr val="D6E8FA"/>
            </a:solidFill>
            <a:prstDash val="solid"/>
          </a:ln>
        </p:spPr>
      </p:sp>
      <p:sp>
        <p:nvSpPr>
          <p:cNvPr id="23" name="Text 21"/>
          <p:cNvSpPr/>
          <p:nvPr/>
        </p:nvSpPr>
        <p:spPr>
          <a:xfrm>
            <a:off x="393192" y="3419856"/>
            <a:ext cx="2560320" cy="310896"/>
          </a:xfrm>
          <a:prstGeom prst="rect">
            <a:avLst/>
          </a:prstGeom>
          <a:noFill/>
          <a:ln/>
        </p:spPr>
        <p:txBody>
          <a:bodyPr wrap="square" rtlCol="0" anchor="ctr"/>
          <a:lstStyle/>
          <a:p>
            <a:pPr marL="0" indent="0">
              <a:buNone/>
            </a:pPr>
            <a:r>
              <a:rPr lang="en-US" sz="950" dirty="0">
                <a:solidFill>
                  <a:srgbClr val="1B2838"/>
                </a:solidFill>
              </a:rPr>
              <a:t>Significance Level</a:t>
            </a:r>
            <a:endParaRPr lang="en-US" sz="950" dirty="0"/>
          </a:p>
        </p:txBody>
      </p:sp>
      <p:sp>
        <p:nvSpPr>
          <p:cNvPr id="24" name="Text 22"/>
          <p:cNvSpPr/>
          <p:nvPr/>
        </p:nvSpPr>
        <p:spPr>
          <a:xfrm>
            <a:off x="2971800" y="3419856"/>
            <a:ext cx="1280160" cy="310896"/>
          </a:xfrm>
          <a:prstGeom prst="rect">
            <a:avLst/>
          </a:prstGeom>
          <a:noFill/>
          <a:ln/>
        </p:spPr>
        <p:txBody>
          <a:bodyPr wrap="square" rtlCol="0" anchor="ctr"/>
          <a:lstStyle/>
          <a:p>
            <a:pPr marL="0" indent="0" algn="r">
              <a:buNone/>
            </a:pPr>
            <a:r>
              <a:rPr lang="en-US" sz="950" b="1" dirty="0">
                <a:solidFill>
                  <a:srgbClr val="1B3A6B"/>
                </a:solidFill>
              </a:rPr>
              <a:t>0.05</a:t>
            </a:r>
            <a:endParaRPr lang="en-US" sz="950" dirty="0"/>
          </a:p>
        </p:txBody>
      </p:sp>
      <p:sp>
        <p:nvSpPr>
          <p:cNvPr id="25" name="Shape 23"/>
          <p:cNvSpPr/>
          <p:nvPr/>
        </p:nvSpPr>
        <p:spPr>
          <a:xfrm>
            <a:off x="274320" y="3767328"/>
            <a:ext cx="4114800" cy="292608"/>
          </a:xfrm>
          <a:prstGeom prst="rect">
            <a:avLst/>
          </a:prstGeom>
          <a:solidFill>
            <a:srgbClr val="D6E8FA"/>
          </a:solidFill>
          <a:ln w="12700">
            <a:solidFill>
              <a:srgbClr val="D6E8FA"/>
            </a:solidFill>
            <a:prstDash val="solid"/>
          </a:ln>
        </p:spPr>
      </p:sp>
      <p:sp>
        <p:nvSpPr>
          <p:cNvPr id="26" name="Text 24"/>
          <p:cNvSpPr/>
          <p:nvPr/>
        </p:nvSpPr>
        <p:spPr>
          <a:xfrm>
            <a:off x="347472" y="3767328"/>
            <a:ext cx="3931920" cy="292608"/>
          </a:xfrm>
          <a:prstGeom prst="rect">
            <a:avLst/>
          </a:prstGeom>
          <a:noFill/>
          <a:ln/>
        </p:spPr>
        <p:txBody>
          <a:bodyPr wrap="square" rtlCol="0" anchor="ctr"/>
          <a:lstStyle/>
          <a:p>
            <a:pPr marL="0" indent="0">
              <a:buNone/>
            </a:pPr>
            <a:r>
              <a:rPr lang="en-US" sz="850" b="1" dirty="0">
                <a:solidFill>
                  <a:srgbClr val="1B3A6B"/>
                </a:solidFill>
              </a:rPr>
              <a:t>KEY RULES: G1&lt;10 → Fail  |  failures&gt;=2 → DropoutRisk High  |  absences&gt;15 → Low Grade</a:t>
            </a:r>
            <a:endParaRPr lang="en-US" sz="850" dirty="0"/>
          </a:p>
        </p:txBody>
      </p:sp>
      <p:sp>
        <p:nvSpPr>
          <p:cNvPr id="27" name="Shape 25"/>
          <p:cNvSpPr/>
          <p:nvPr/>
        </p:nvSpPr>
        <p:spPr>
          <a:xfrm>
            <a:off x="4663440" y="1325880"/>
            <a:ext cx="4206240" cy="347472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28" name="Shape 26"/>
          <p:cNvSpPr/>
          <p:nvPr/>
        </p:nvSpPr>
        <p:spPr>
          <a:xfrm>
            <a:off x="4663440" y="1325880"/>
            <a:ext cx="4206240" cy="384048"/>
          </a:xfrm>
          <a:prstGeom prst="rect">
            <a:avLst/>
          </a:prstGeom>
          <a:solidFill>
            <a:srgbClr val="E07B39"/>
          </a:solidFill>
          <a:ln w="12700">
            <a:solidFill>
              <a:srgbClr val="E07B39"/>
            </a:solidFill>
            <a:prstDash val="solid"/>
          </a:ln>
        </p:spPr>
      </p:sp>
      <p:sp>
        <p:nvSpPr>
          <p:cNvPr id="29" name="Text 27"/>
          <p:cNvSpPr/>
          <p:nvPr/>
        </p:nvSpPr>
        <p:spPr>
          <a:xfrm>
            <a:off x="4754880" y="1325880"/>
            <a:ext cx="2743200" cy="384048"/>
          </a:xfrm>
          <a:prstGeom prst="rect">
            <a:avLst/>
          </a:prstGeom>
          <a:noFill/>
          <a:ln/>
        </p:spPr>
        <p:txBody>
          <a:bodyPr wrap="square" rtlCol="0" anchor="ctr"/>
          <a:lstStyle/>
          <a:p>
            <a:pPr marL="0" indent="0">
              <a:buNone/>
            </a:pPr>
            <a:r>
              <a:rPr lang="en-US" sz="1200" b="1" dirty="0">
                <a:solidFill>
                  <a:srgbClr val="FFFFFF"/>
                </a:solidFill>
              </a:rPr>
              <a:t>C5.0 Model</a:t>
            </a:r>
            <a:endParaRPr lang="en-US" sz="1200" dirty="0"/>
          </a:p>
        </p:txBody>
      </p:sp>
      <p:sp>
        <p:nvSpPr>
          <p:cNvPr id="30" name="Text 28"/>
          <p:cNvSpPr/>
          <p:nvPr/>
        </p:nvSpPr>
        <p:spPr>
          <a:xfrm>
            <a:off x="7040880" y="1325880"/>
            <a:ext cx="1737360" cy="384048"/>
          </a:xfrm>
          <a:prstGeom prst="rect">
            <a:avLst/>
          </a:prstGeom>
          <a:noFill/>
          <a:ln/>
        </p:spPr>
        <p:txBody>
          <a:bodyPr wrap="square" rtlCol="0" anchor="ctr"/>
          <a:lstStyle/>
          <a:p>
            <a:pPr marL="0" indent="0" algn="r">
              <a:buNone/>
            </a:pPr>
            <a:r>
              <a:rPr lang="en-US" sz="950" b="1" dirty="0">
                <a:solidFill>
                  <a:srgbClr val="FEF3C7"/>
                </a:solidFill>
              </a:rPr>
              <a:t>~85–90% Accuracy</a:t>
            </a:r>
            <a:endParaRPr lang="en-US" sz="950" dirty="0"/>
          </a:p>
        </p:txBody>
      </p:sp>
      <p:sp>
        <p:nvSpPr>
          <p:cNvPr id="31" name="Text 29"/>
          <p:cNvSpPr/>
          <p:nvPr/>
        </p:nvSpPr>
        <p:spPr>
          <a:xfrm>
            <a:off x="4754880" y="1783080"/>
            <a:ext cx="3931920" cy="502920"/>
          </a:xfrm>
          <a:prstGeom prst="rect">
            <a:avLst/>
          </a:prstGeom>
          <a:noFill/>
          <a:ln/>
        </p:spPr>
        <p:txBody>
          <a:bodyPr wrap="square" rtlCol="0" anchor="ctr"/>
          <a:lstStyle/>
          <a:p>
            <a:pPr marL="0" indent="0">
              <a:buNone/>
            </a:pPr>
            <a:r>
              <a:rPr lang="en-US" sz="950" dirty="0">
                <a:solidFill>
                  <a:srgbClr val="5A6A7E"/>
                </a:solidFill>
              </a:rPr>
              <a:t>Higher accuracy classification with Boosting (10 trials). Best for maximum predictive performance.</a:t>
            </a:r>
            <a:endParaRPr lang="en-US" sz="950" dirty="0"/>
          </a:p>
        </p:txBody>
      </p:sp>
      <p:sp>
        <p:nvSpPr>
          <p:cNvPr id="32" name="Shape 30"/>
          <p:cNvSpPr/>
          <p:nvPr/>
        </p:nvSpPr>
        <p:spPr>
          <a:xfrm>
            <a:off x="4663440" y="2331720"/>
            <a:ext cx="4206240" cy="320040"/>
          </a:xfrm>
          <a:prstGeom prst="rect">
            <a:avLst/>
          </a:prstGeom>
          <a:solidFill>
            <a:srgbClr val="F4F8FD"/>
          </a:solidFill>
          <a:ln w="6350">
            <a:solidFill>
              <a:srgbClr val="D6E8FA"/>
            </a:solidFill>
            <a:prstDash val="solid"/>
          </a:ln>
        </p:spPr>
      </p:sp>
      <p:sp>
        <p:nvSpPr>
          <p:cNvPr id="33" name="Text 31"/>
          <p:cNvSpPr/>
          <p:nvPr/>
        </p:nvSpPr>
        <p:spPr>
          <a:xfrm>
            <a:off x="4754880" y="2331720"/>
            <a:ext cx="4023360" cy="320040"/>
          </a:xfrm>
          <a:prstGeom prst="rect">
            <a:avLst/>
          </a:prstGeom>
          <a:noFill/>
          <a:ln/>
        </p:spPr>
        <p:txBody>
          <a:bodyPr wrap="square" rtlCol="0" anchor="ctr"/>
          <a:lstStyle/>
          <a:p>
            <a:pPr marL="0" indent="0">
              <a:buNone/>
            </a:pPr>
            <a:r>
              <a:rPr lang="en-US" sz="950" b="1" dirty="0">
                <a:solidFill>
                  <a:srgbClr val="1B3A6B"/>
                </a:solidFill>
              </a:rPr>
              <a:t>Predictor Importance Ranking</a:t>
            </a:r>
            <a:endParaRPr lang="en-US" sz="950" dirty="0"/>
          </a:p>
        </p:txBody>
      </p:sp>
      <p:sp>
        <p:nvSpPr>
          <p:cNvPr id="34" name="Text 32"/>
          <p:cNvSpPr/>
          <p:nvPr/>
        </p:nvSpPr>
        <p:spPr>
          <a:xfrm>
            <a:off x="4736592" y="2743200"/>
            <a:ext cx="2194560" cy="347472"/>
          </a:xfrm>
          <a:prstGeom prst="rect">
            <a:avLst/>
          </a:prstGeom>
          <a:noFill/>
          <a:ln/>
        </p:spPr>
        <p:txBody>
          <a:bodyPr wrap="square" rtlCol="0" anchor="ctr"/>
          <a:lstStyle/>
          <a:p>
            <a:pPr marL="0" indent="0">
              <a:buNone/>
            </a:pPr>
            <a:r>
              <a:rPr lang="en-US" sz="900" dirty="0">
                <a:solidFill>
                  <a:srgbClr val="1B2838"/>
                </a:solidFill>
              </a:rPr>
              <a:t>G1 — First Period Grade</a:t>
            </a:r>
            <a:endParaRPr lang="en-US" sz="900" dirty="0"/>
          </a:p>
        </p:txBody>
      </p:sp>
      <p:sp>
        <p:nvSpPr>
          <p:cNvPr id="35" name="Shape 33"/>
          <p:cNvSpPr/>
          <p:nvPr/>
        </p:nvSpPr>
        <p:spPr>
          <a:xfrm>
            <a:off x="6995160" y="2834640"/>
            <a:ext cx="1645920" cy="201168"/>
          </a:xfrm>
          <a:prstGeom prst="rect">
            <a:avLst/>
          </a:prstGeom>
          <a:solidFill>
            <a:srgbClr val="E8EFF8"/>
          </a:solidFill>
          <a:ln w="12700">
            <a:solidFill>
              <a:srgbClr val="E8EFF8"/>
            </a:solidFill>
            <a:prstDash val="solid"/>
          </a:ln>
        </p:spPr>
      </p:sp>
      <p:sp>
        <p:nvSpPr>
          <p:cNvPr id="36" name="Shape 34"/>
          <p:cNvSpPr/>
          <p:nvPr/>
        </p:nvSpPr>
        <p:spPr>
          <a:xfrm>
            <a:off x="6995160" y="2834640"/>
            <a:ext cx="1481328" cy="201168"/>
          </a:xfrm>
          <a:prstGeom prst="rect">
            <a:avLst/>
          </a:prstGeom>
          <a:solidFill>
            <a:srgbClr val="1B3A6B"/>
          </a:solidFill>
          <a:ln w="12700">
            <a:solidFill>
              <a:srgbClr val="1B3A6B"/>
            </a:solidFill>
            <a:prstDash val="solid"/>
          </a:ln>
        </p:spPr>
      </p:sp>
      <p:sp>
        <p:nvSpPr>
          <p:cNvPr id="37" name="Text 35"/>
          <p:cNvSpPr/>
          <p:nvPr/>
        </p:nvSpPr>
        <p:spPr>
          <a:xfrm>
            <a:off x="8668512" y="2743200"/>
            <a:ext cx="457200" cy="347472"/>
          </a:xfrm>
          <a:prstGeom prst="rect">
            <a:avLst/>
          </a:prstGeom>
          <a:noFill/>
          <a:ln/>
        </p:spPr>
        <p:txBody>
          <a:bodyPr wrap="square" rtlCol="0" anchor="ctr"/>
          <a:lstStyle/>
          <a:p>
            <a:pPr marL="0" indent="0">
              <a:buNone/>
            </a:pPr>
            <a:r>
              <a:rPr lang="en-US" sz="900" b="1" dirty="0">
                <a:solidFill>
                  <a:srgbClr val="1B3A6B"/>
                </a:solidFill>
              </a:rPr>
              <a:t>90%</a:t>
            </a:r>
            <a:endParaRPr lang="en-US" sz="900" dirty="0"/>
          </a:p>
        </p:txBody>
      </p:sp>
      <p:sp>
        <p:nvSpPr>
          <p:cNvPr id="38" name="Text 36"/>
          <p:cNvSpPr/>
          <p:nvPr/>
        </p:nvSpPr>
        <p:spPr>
          <a:xfrm>
            <a:off x="4736592" y="3172968"/>
            <a:ext cx="2194560" cy="347472"/>
          </a:xfrm>
          <a:prstGeom prst="rect">
            <a:avLst/>
          </a:prstGeom>
          <a:noFill/>
          <a:ln/>
        </p:spPr>
        <p:txBody>
          <a:bodyPr wrap="square" rtlCol="0" anchor="ctr"/>
          <a:lstStyle/>
          <a:p>
            <a:pPr marL="0" indent="0">
              <a:buNone/>
            </a:pPr>
            <a:r>
              <a:rPr lang="en-US" sz="900" dirty="0">
                <a:solidFill>
                  <a:srgbClr val="1B2838"/>
                </a:solidFill>
              </a:rPr>
              <a:t>failures — Past Failures</a:t>
            </a:r>
            <a:endParaRPr lang="en-US" sz="900" dirty="0"/>
          </a:p>
        </p:txBody>
      </p:sp>
      <p:sp>
        <p:nvSpPr>
          <p:cNvPr id="39" name="Shape 37"/>
          <p:cNvSpPr/>
          <p:nvPr/>
        </p:nvSpPr>
        <p:spPr>
          <a:xfrm>
            <a:off x="6995160" y="3264408"/>
            <a:ext cx="1645920" cy="201168"/>
          </a:xfrm>
          <a:prstGeom prst="rect">
            <a:avLst/>
          </a:prstGeom>
          <a:solidFill>
            <a:srgbClr val="E8EFF8"/>
          </a:solidFill>
          <a:ln w="12700">
            <a:solidFill>
              <a:srgbClr val="E8EFF8"/>
            </a:solidFill>
            <a:prstDash val="solid"/>
          </a:ln>
        </p:spPr>
      </p:sp>
      <p:sp>
        <p:nvSpPr>
          <p:cNvPr id="40" name="Shape 38"/>
          <p:cNvSpPr/>
          <p:nvPr/>
        </p:nvSpPr>
        <p:spPr>
          <a:xfrm>
            <a:off x="6995160" y="3264408"/>
            <a:ext cx="1234440" cy="201168"/>
          </a:xfrm>
          <a:prstGeom prst="rect">
            <a:avLst/>
          </a:prstGeom>
          <a:solidFill>
            <a:srgbClr val="B91C1C"/>
          </a:solidFill>
          <a:ln w="12700">
            <a:solidFill>
              <a:srgbClr val="B91C1C"/>
            </a:solidFill>
            <a:prstDash val="solid"/>
          </a:ln>
        </p:spPr>
      </p:sp>
      <p:sp>
        <p:nvSpPr>
          <p:cNvPr id="41" name="Text 39"/>
          <p:cNvSpPr/>
          <p:nvPr/>
        </p:nvSpPr>
        <p:spPr>
          <a:xfrm>
            <a:off x="8668512" y="3172968"/>
            <a:ext cx="457200" cy="347472"/>
          </a:xfrm>
          <a:prstGeom prst="rect">
            <a:avLst/>
          </a:prstGeom>
          <a:noFill/>
          <a:ln/>
        </p:spPr>
        <p:txBody>
          <a:bodyPr wrap="square" rtlCol="0" anchor="ctr"/>
          <a:lstStyle/>
          <a:p>
            <a:pPr marL="0" indent="0">
              <a:buNone/>
            </a:pPr>
            <a:r>
              <a:rPr lang="en-US" sz="900" b="1" dirty="0">
                <a:solidFill>
                  <a:srgbClr val="B91C1C"/>
                </a:solidFill>
              </a:rPr>
              <a:t>75%</a:t>
            </a:r>
            <a:endParaRPr lang="en-US" sz="900" dirty="0"/>
          </a:p>
        </p:txBody>
      </p:sp>
      <p:sp>
        <p:nvSpPr>
          <p:cNvPr id="42" name="Text 40"/>
          <p:cNvSpPr/>
          <p:nvPr/>
        </p:nvSpPr>
        <p:spPr>
          <a:xfrm>
            <a:off x="4736592" y="3602736"/>
            <a:ext cx="2194560" cy="347472"/>
          </a:xfrm>
          <a:prstGeom prst="rect">
            <a:avLst/>
          </a:prstGeom>
          <a:noFill/>
          <a:ln/>
        </p:spPr>
        <p:txBody>
          <a:bodyPr wrap="square" rtlCol="0" anchor="ctr"/>
          <a:lstStyle/>
          <a:p>
            <a:pPr marL="0" indent="0">
              <a:buNone/>
            </a:pPr>
            <a:r>
              <a:rPr lang="en-US" sz="900" dirty="0">
                <a:solidFill>
                  <a:srgbClr val="1B2838"/>
                </a:solidFill>
              </a:rPr>
              <a:t>absences — Total Absences</a:t>
            </a:r>
            <a:endParaRPr lang="en-US" sz="900" dirty="0"/>
          </a:p>
        </p:txBody>
      </p:sp>
      <p:sp>
        <p:nvSpPr>
          <p:cNvPr id="43" name="Shape 41"/>
          <p:cNvSpPr/>
          <p:nvPr/>
        </p:nvSpPr>
        <p:spPr>
          <a:xfrm>
            <a:off x="6995160" y="3694176"/>
            <a:ext cx="1645920" cy="201168"/>
          </a:xfrm>
          <a:prstGeom prst="rect">
            <a:avLst/>
          </a:prstGeom>
          <a:solidFill>
            <a:srgbClr val="E8EFF8"/>
          </a:solidFill>
          <a:ln w="12700">
            <a:solidFill>
              <a:srgbClr val="E8EFF8"/>
            </a:solidFill>
            <a:prstDash val="solid"/>
          </a:ln>
        </p:spPr>
      </p:sp>
      <p:sp>
        <p:nvSpPr>
          <p:cNvPr id="44" name="Shape 42"/>
          <p:cNvSpPr/>
          <p:nvPr/>
        </p:nvSpPr>
        <p:spPr>
          <a:xfrm>
            <a:off x="6995160" y="3694176"/>
            <a:ext cx="1069848" cy="201168"/>
          </a:xfrm>
          <a:prstGeom prst="rect">
            <a:avLst/>
          </a:prstGeom>
          <a:solidFill>
            <a:srgbClr val="E07B39"/>
          </a:solidFill>
          <a:ln w="12700">
            <a:solidFill>
              <a:srgbClr val="E07B39"/>
            </a:solidFill>
            <a:prstDash val="solid"/>
          </a:ln>
        </p:spPr>
      </p:sp>
      <p:sp>
        <p:nvSpPr>
          <p:cNvPr id="45" name="Text 43"/>
          <p:cNvSpPr/>
          <p:nvPr/>
        </p:nvSpPr>
        <p:spPr>
          <a:xfrm>
            <a:off x="8668512" y="3602736"/>
            <a:ext cx="457200" cy="347472"/>
          </a:xfrm>
          <a:prstGeom prst="rect">
            <a:avLst/>
          </a:prstGeom>
          <a:noFill/>
          <a:ln/>
        </p:spPr>
        <p:txBody>
          <a:bodyPr wrap="square" rtlCol="0" anchor="ctr"/>
          <a:lstStyle/>
          <a:p>
            <a:pPr marL="0" indent="0">
              <a:buNone/>
            </a:pPr>
            <a:r>
              <a:rPr lang="en-US" sz="900" b="1" dirty="0">
                <a:solidFill>
                  <a:srgbClr val="E07B39"/>
                </a:solidFill>
              </a:rPr>
              <a:t>65%</a:t>
            </a:r>
            <a:endParaRPr lang="en-US" sz="900" dirty="0"/>
          </a:p>
        </p:txBody>
      </p:sp>
      <p:sp>
        <p:nvSpPr>
          <p:cNvPr id="46" name="Text 44"/>
          <p:cNvSpPr/>
          <p:nvPr/>
        </p:nvSpPr>
        <p:spPr>
          <a:xfrm>
            <a:off x="4736592" y="4032504"/>
            <a:ext cx="2194560" cy="347472"/>
          </a:xfrm>
          <a:prstGeom prst="rect">
            <a:avLst/>
          </a:prstGeom>
          <a:noFill/>
          <a:ln/>
        </p:spPr>
        <p:txBody>
          <a:bodyPr wrap="square" rtlCol="0" anchor="ctr"/>
          <a:lstStyle/>
          <a:p>
            <a:pPr marL="0" indent="0">
              <a:buNone/>
            </a:pPr>
            <a:r>
              <a:rPr lang="en-US" sz="900" dirty="0">
                <a:solidFill>
                  <a:srgbClr val="1B2838"/>
                </a:solidFill>
              </a:rPr>
              <a:t>G2 — Second Period Grade</a:t>
            </a:r>
            <a:endParaRPr lang="en-US" sz="900" dirty="0"/>
          </a:p>
        </p:txBody>
      </p:sp>
      <p:sp>
        <p:nvSpPr>
          <p:cNvPr id="47" name="Shape 45"/>
          <p:cNvSpPr/>
          <p:nvPr/>
        </p:nvSpPr>
        <p:spPr>
          <a:xfrm>
            <a:off x="6995160" y="4123944"/>
            <a:ext cx="1645920" cy="201168"/>
          </a:xfrm>
          <a:prstGeom prst="rect">
            <a:avLst/>
          </a:prstGeom>
          <a:solidFill>
            <a:srgbClr val="E8EFF8"/>
          </a:solidFill>
          <a:ln w="12700">
            <a:solidFill>
              <a:srgbClr val="E8EFF8"/>
            </a:solidFill>
            <a:prstDash val="solid"/>
          </a:ln>
        </p:spPr>
      </p:sp>
      <p:sp>
        <p:nvSpPr>
          <p:cNvPr id="48" name="Shape 46"/>
          <p:cNvSpPr/>
          <p:nvPr/>
        </p:nvSpPr>
        <p:spPr>
          <a:xfrm>
            <a:off x="6995160" y="4123944"/>
            <a:ext cx="954634" cy="201168"/>
          </a:xfrm>
          <a:prstGeom prst="rect">
            <a:avLst/>
          </a:prstGeom>
          <a:solidFill>
            <a:srgbClr val="2E75B6"/>
          </a:solidFill>
          <a:ln w="12700">
            <a:solidFill>
              <a:srgbClr val="2E75B6"/>
            </a:solidFill>
            <a:prstDash val="solid"/>
          </a:ln>
        </p:spPr>
      </p:sp>
      <p:sp>
        <p:nvSpPr>
          <p:cNvPr id="49" name="Text 47"/>
          <p:cNvSpPr/>
          <p:nvPr/>
        </p:nvSpPr>
        <p:spPr>
          <a:xfrm>
            <a:off x="8668512" y="4032504"/>
            <a:ext cx="457200" cy="347472"/>
          </a:xfrm>
          <a:prstGeom prst="rect">
            <a:avLst/>
          </a:prstGeom>
          <a:noFill/>
          <a:ln/>
        </p:spPr>
        <p:txBody>
          <a:bodyPr wrap="square" rtlCol="0" anchor="ctr"/>
          <a:lstStyle/>
          <a:p>
            <a:pPr marL="0" indent="0">
              <a:buNone/>
            </a:pPr>
            <a:r>
              <a:rPr lang="en-US" sz="900" b="1" dirty="0">
                <a:solidFill>
                  <a:srgbClr val="2E75B6"/>
                </a:solidFill>
              </a:rPr>
              <a:t>58%</a:t>
            </a:r>
            <a:endParaRPr lang="en-US" sz="900" dirty="0"/>
          </a:p>
        </p:txBody>
      </p:sp>
      <p:sp>
        <p:nvSpPr>
          <p:cNvPr id="50" name="Text 48"/>
          <p:cNvSpPr/>
          <p:nvPr/>
        </p:nvSpPr>
        <p:spPr>
          <a:xfrm>
            <a:off x="4736592" y="4462272"/>
            <a:ext cx="2194560" cy="347472"/>
          </a:xfrm>
          <a:prstGeom prst="rect">
            <a:avLst/>
          </a:prstGeom>
          <a:noFill/>
          <a:ln/>
        </p:spPr>
        <p:txBody>
          <a:bodyPr wrap="square" rtlCol="0" anchor="ctr"/>
          <a:lstStyle/>
          <a:p>
            <a:pPr marL="0" indent="0">
              <a:buNone/>
            </a:pPr>
            <a:r>
              <a:rPr lang="en-US" sz="900" dirty="0">
                <a:solidFill>
                  <a:srgbClr val="1B2838"/>
                </a:solidFill>
              </a:rPr>
              <a:t>studytime — Study Time</a:t>
            </a:r>
            <a:endParaRPr lang="en-US" sz="900" dirty="0"/>
          </a:p>
        </p:txBody>
      </p:sp>
      <p:sp>
        <p:nvSpPr>
          <p:cNvPr id="51" name="Shape 49"/>
          <p:cNvSpPr/>
          <p:nvPr/>
        </p:nvSpPr>
        <p:spPr>
          <a:xfrm>
            <a:off x="6995160" y="4553712"/>
            <a:ext cx="1645920" cy="201168"/>
          </a:xfrm>
          <a:prstGeom prst="rect">
            <a:avLst/>
          </a:prstGeom>
          <a:solidFill>
            <a:srgbClr val="E8EFF8"/>
          </a:solidFill>
          <a:ln w="12700">
            <a:solidFill>
              <a:srgbClr val="E8EFF8"/>
            </a:solidFill>
            <a:prstDash val="solid"/>
          </a:ln>
        </p:spPr>
      </p:sp>
      <p:sp>
        <p:nvSpPr>
          <p:cNvPr id="52" name="Shape 50"/>
          <p:cNvSpPr/>
          <p:nvPr/>
        </p:nvSpPr>
        <p:spPr>
          <a:xfrm>
            <a:off x="6995160" y="4553712"/>
            <a:ext cx="658368" cy="201168"/>
          </a:xfrm>
          <a:prstGeom prst="rect">
            <a:avLst/>
          </a:prstGeom>
          <a:solidFill>
            <a:srgbClr val="1A7A4A"/>
          </a:solidFill>
          <a:ln w="12700">
            <a:solidFill>
              <a:srgbClr val="1A7A4A"/>
            </a:solidFill>
            <a:prstDash val="solid"/>
          </a:ln>
        </p:spPr>
      </p:sp>
      <p:sp>
        <p:nvSpPr>
          <p:cNvPr id="53" name="Text 51"/>
          <p:cNvSpPr/>
          <p:nvPr/>
        </p:nvSpPr>
        <p:spPr>
          <a:xfrm>
            <a:off x="8668512" y="4462272"/>
            <a:ext cx="457200" cy="347472"/>
          </a:xfrm>
          <a:prstGeom prst="rect">
            <a:avLst/>
          </a:prstGeom>
          <a:noFill/>
          <a:ln/>
        </p:spPr>
        <p:txBody>
          <a:bodyPr wrap="square" rtlCol="0" anchor="ctr"/>
          <a:lstStyle/>
          <a:p>
            <a:pPr marL="0" indent="0">
              <a:buNone/>
            </a:pPr>
            <a:r>
              <a:rPr lang="en-US" sz="900" b="1" dirty="0">
                <a:solidFill>
                  <a:srgbClr val="1A7A4A"/>
                </a:solidFill>
              </a:rPr>
              <a:t>40%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w="12700">
            <a:solidFill>
              <a:srgbClr val="1B3A6B"/>
            </a:solidFill>
            <a:prstDash val="solid"/>
          </a:ln>
        </p:spPr>
      </p:sp>
      <p:sp>
        <p:nvSpPr>
          <p:cNvPr id="3" name="Shape 1"/>
          <p:cNvSpPr/>
          <p:nvPr/>
        </p:nvSpPr>
        <p:spPr>
          <a:xfrm>
            <a:off x="0" y="640080"/>
            <a:ext cx="9144000" cy="54864"/>
          </a:xfrm>
          <a:prstGeom prst="rect">
            <a:avLst/>
          </a:prstGeom>
          <a:solidFill>
            <a:srgbClr val="E07B39"/>
          </a:solidFill>
          <a:ln w="12700">
            <a:solidFill>
              <a:srgbClr val="E07B39"/>
            </a:solidFill>
            <a:prstDash val="solid"/>
          </a:ln>
        </p:spPr>
      </p:sp>
      <p:sp>
        <p:nvSpPr>
          <p:cNvPr id="4" name="Text 2"/>
          <p:cNvSpPr/>
          <p:nvPr/>
        </p:nvSpPr>
        <p:spPr>
          <a:xfrm>
            <a:off x="365760" y="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Task 7: Association Modeling — Apriori</a:t>
            </a:r>
            <a:endParaRPr lang="en-US" sz="2200" dirty="0"/>
          </a:p>
        </p:txBody>
      </p:sp>
      <p:sp>
        <p:nvSpPr>
          <p:cNvPr id="5" name="Text 3"/>
          <p:cNvSpPr/>
          <p:nvPr/>
        </p:nvSpPr>
        <p:spPr>
          <a:xfrm>
            <a:off x="8046720" y="0"/>
            <a:ext cx="914400" cy="640080"/>
          </a:xfrm>
          <a:prstGeom prst="rect">
            <a:avLst/>
          </a:prstGeom>
          <a:noFill/>
          <a:ln/>
        </p:spPr>
        <p:txBody>
          <a:bodyPr wrap="square" rtlCol="0" anchor="ctr"/>
          <a:lstStyle/>
          <a:p>
            <a:pPr marL="0" indent="0" algn="r">
              <a:buNone/>
            </a:pPr>
            <a:r>
              <a:rPr lang="en-US" sz="2800" b="1" dirty="0">
                <a:solidFill>
                  <a:srgbClr val="FFFFFF"/>
                </a:solidFill>
              </a:rPr>
              <a:t>08</a:t>
            </a:r>
            <a:endParaRPr lang="en-US" sz="2800" dirty="0"/>
          </a:p>
        </p:txBody>
      </p:sp>
      <p:sp>
        <p:nvSpPr>
          <p:cNvPr id="6" name="Shape 4"/>
          <p:cNvSpPr/>
          <p:nvPr/>
        </p:nvSpPr>
        <p:spPr>
          <a:xfrm>
            <a:off x="274320" y="804672"/>
            <a:ext cx="4114800" cy="214884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7" name="Shape 5"/>
          <p:cNvSpPr/>
          <p:nvPr/>
        </p:nvSpPr>
        <p:spPr>
          <a:xfrm>
            <a:off x="274320" y="804672"/>
            <a:ext cx="4114800" cy="347472"/>
          </a:xfrm>
          <a:prstGeom prst="rect">
            <a:avLst/>
          </a:prstGeom>
          <a:solidFill>
            <a:srgbClr val="1B3A6B"/>
          </a:solidFill>
          <a:ln w="12700">
            <a:solidFill>
              <a:srgbClr val="1B3A6B"/>
            </a:solidFill>
            <a:prstDash val="solid"/>
          </a:ln>
        </p:spPr>
      </p:sp>
      <p:sp>
        <p:nvSpPr>
          <p:cNvPr id="8" name="Text 6"/>
          <p:cNvSpPr/>
          <p:nvPr/>
        </p:nvSpPr>
        <p:spPr>
          <a:xfrm>
            <a:off x="365760" y="804672"/>
            <a:ext cx="3931920" cy="347472"/>
          </a:xfrm>
          <a:prstGeom prst="rect">
            <a:avLst/>
          </a:prstGeom>
          <a:noFill/>
          <a:ln/>
        </p:spPr>
        <p:txBody>
          <a:bodyPr wrap="square" rtlCol="0" anchor="ctr"/>
          <a:lstStyle/>
          <a:p>
            <a:pPr marL="0" indent="0">
              <a:buNone/>
            </a:pPr>
            <a:r>
              <a:rPr lang="en-US" sz="1100" b="1" dirty="0">
                <a:solidFill>
                  <a:srgbClr val="FFFFFF"/>
                </a:solidFill>
              </a:rPr>
              <a:t>Binary Flag Fields Created</a:t>
            </a:r>
            <a:endParaRPr lang="en-US" sz="1100" dirty="0"/>
          </a:p>
        </p:txBody>
      </p:sp>
      <p:sp>
        <p:nvSpPr>
          <p:cNvPr id="9" name="Shape 7"/>
          <p:cNvSpPr/>
          <p:nvPr/>
        </p:nvSpPr>
        <p:spPr>
          <a:xfrm>
            <a:off x="274320" y="1188720"/>
            <a:ext cx="4114800" cy="292608"/>
          </a:xfrm>
          <a:prstGeom prst="rect">
            <a:avLst/>
          </a:prstGeom>
          <a:solidFill>
            <a:srgbClr val="F4F8FD"/>
          </a:solidFill>
          <a:ln w="6350">
            <a:solidFill>
              <a:srgbClr val="D6E8FA"/>
            </a:solidFill>
            <a:prstDash val="solid"/>
          </a:ln>
        </p:spPr>
      </p:sp>
      <p:sp>
        <p:nvSpPr>
          <p:cNvPr id="10" name="Text 8"/>
          <p:cNvSpPr/>
          <p:nvPr/>
        </p:nvSpPr>
        <p:spPr>
          <a:xfrm>
            <a:off x="365760" y="1207008"/>
            <a:ext cx="1554480" cy="256032"/>
          </a:xfrm>
          <a:prstGeom prst="rect">
            <a:avLst/>
          </a:prstGeom>
          <a:noFill/>
          <a:ln/>
        </p:spPr>
        <p:txBody>
          <a:bodyPr wrap="square" rtlCol="0" anchor="ctr"/>
          <a:lstStyle/>
          <a:p>
            <a:pPr marL="0" indent="0">
              <a:buNone/>
            </a:pPr>
            <a:r>
              <a:rPr lang="en-US" sz="950" b="1" dirty="0">
                <a:solidFill>
                  <a:srgbClr val="E07B39"/>
                </a:solidFill>
              </a:rPr>
              <a:t>HighAbsence</a:t>
            </a:r>
            <a:endParaRPr lang="en-US" sz="950" dirty="0"/>
          </a:p>
        </p:txBody>
      </p:sp>
      <p:sp>
        <p:nvSpPr>
          <p:cNvPr id="11" name="Text 9"/>
          <p:cNvSpPr/>
          <p:nvPr/>
        </p:nvSpPr>
        <p:spPr>
          <a:xfrm>
            <a:off x="1965960" y="1207008"/>
            <a:ext cx="2286000" cy="256032"/>
          </a:xfrm>
          <a:prstGeom prst="rect">
            <a:avLst/>
          </a:prstGeom>
          <a:noFill/>
          <a:ln/>
        </p:spPr>
        <p:txBody>
          <a:bodyPr wrap="square" rtlCol="0" anchor="ctr"/>
          <a:lstStyle/>
          <a:p>
            <a:pPr marL="0" indent="0">
              <a:buNone/>
            </a:pPr>
            <a:r>
              <a:rPr lang="en-US" sz="950" i="1" dirty="0">
                <a:solidFill>
                  <a:srgbClr val="1B2838"/>
                </a:solidFill>
              </a:rPr>
              <a:t>absences &gt; 15</a:t>
            </a:r>
            <a:endParaRPr lang="en-US" sz="950" dirty="0"/>
          </a:p>
        </p:txBody>
      </p:sp>
      <p:sp>
        <p:nvSpPr>
          <p:cNvPr id="12" name="Shape 10"/>
          <p:cNvSpPr/>
          <p:nvPr/>
        </p:nvSpPr>
        <p:spPr>
          <a:xfrm>
            <a:off x="274320" y="1481328"/>
            <a:ext cx="4114800" cy="292608"/>
          </a:xfrm>
          <a:prstGeom prst="rect">
            <a:avLst/>
          </a:prstGeom>
          <a:solidFill>
            <a:srgbClr val="FFFFFF"/>
          </a:solidFill>
          <a:ln w="6350">
            <a:solidFill>
              <a:srgbClr val="D6E8FA"/>
            </a:solidFill>
            <a:prstDash val="solid"/>
          </a:ln>
        </p:spPr>
      </p:sp>
      <p:sp>
        <p:nvSpPr>
          <p:cNvPr id="13" name="Text 11"/>
          <p:cNvSpPr/>
          <p:nvPr/>
        </p:nvSpPr>
        <p:spPr>
          <a:xfrm>
            <a:off x="365760" y="1499616"/>
            <a:ext cx="1554480" cy="256032"/>
          </a:xfrm>
          <a:prstGeom prst="rect">
            <a:avLst/>
          </a:prstGeom>
          <a:noFill/>
          <a:ln/>
        </p:spPr>
        <p:txBody>
          <a:bodyPr wrap="square" rtlCol="0" anchor="ctr"/>
          <a:lstStyle/>
          <a:p>
            <a:pPr marL="0" indent="0">
              <a:buNone/>
            </a:pPr>
            <a:r>
              <a:rPr lang="en-US" sz="950" b="1" dirty="0">
                <a:solidFill>
                  <a:srgbClr val="E07B39"/>
                </a:solidFill>
              </a:rPr>
              <a:t>HasFailures</a:t>
            </a:r>
            <a:endParaRPr lang="en-US" sz="950" dirty="0"/>
          </a:p>
        </p:txBody>
      </p:sp>
      <p:sp>
        <p:nvSpPr>
          <p:cNvPr id="14" name="Text 12"/>
          <p:cNvSpPr/>
          <p:nvPr/>
        </p:nvSpPr>
        <p:spPr>
          <a:xfrm>
            <a:off x="1965960" y="1499616"/>
            <a:ext cx="2286000" cy="256032"/>
          </a:xfrm>
          <a:prstGeom prst="rect">
            <a:avLst/>
          </a:prstGeom>
          <a:noFill/>
          <a:ln/>
        </p:spPr>
        <p:txBody>
          <a:bodyPr wrap="square" rtlCol="0" anchor="ctr"/>
          <a:lstStyle/>
          <a:p>
            <a:pPr marL="0" indent="0">
              <a:buNone/>
            </a:pPr>
            <a:r>
              <a:rPr lang="en-US" sz="950" i="1" dirty="0">
                <a:solidFill>
                  <a:srgbClr val="1B2838"/>
                </a:solidFill>
              </a:rPr>
              <a:t>failures &gt; 0</a:t>
            </a:r>
            <a:endParaRPr lang="en-US" sz="950" dirty="0"/>
          </a:p>
        </p:txBody>
      </p:sp>
      <p:sp>
        <p:nvSpPr>
          <p:cNvPr id="15" name="Shape 13"/>
          <p:cNvSpPr/>
          <p:nvPr/>
        </p:nvSpPr>
        <p:spPr>
          <a:xfrm>
            <a:off x="274320" y="1773936"/>
            <a:ext cx="4114800" cy="292608"/>
          </a:xfrm>
          <a:prstGeom prst="rect">
            <a:avLst/>
          </a:prstGeom>
          <a:solidFill>
            <a:srgbClr val="F4F8FD"/>
          </a:solidFill>
          <a:ln w="6350">
            <a:solidFill>
              <a:srgbClr val="D6E8FA"/>
            </a:solidFill>
            <a:prstDash val="solid"/>
          </a:ln>
        </p:spPr>
      </p:sp>
      <p:sp>
        <p:nvSpPr>
          <p:cNvPr id="16" name="Text 14"/>
          <p:cNvSpPr/>
          <p:nvPr/>
        </p:nvSpPr>
        <p:spPr>
          <a:xfrm>
            <a:off x="365760" y="1792224"/>
            <a:ext cx="1554480" cy="256032"/>
          </a:xfrm>
          <a:prstGeom prst="rect">
            <a:avLst/>
          </a:prstGeom>
          <a:noFill/>
          <a:ln/>
        </p:spPr>
        <p:txBody>
          <a:bodyPr wrap="square" rtlCol="0" anchor="ctr"/>
          <a:lstStyle/>
          <a:p>
            <a:pPr marL="0" indent="0">
              <a:buNone/>
            </a:pPr>
            <a:r>
              <a:rPr lang="en-US" sz="950" b="1" dirty="0">
                <a:solidFill>
                  <a:srgbClr val="E07B39"/>
                </a:solidFill>
              </a:rPr>
              <a:t>LowGrade</a:t>
            </a:r>
            <a:endParaRPr lang="en-US" sz="950" dirty="0"/>
          </a:p>
        </p:txBody>
      </p:sp>
      <p:sp>
        <p:nvSpPr>
          <p:cNvPr id="17" name="Text 15"/>
          <p:cNvSpPr/>
          <p:nvPr/>
        </p:nvSpPr>
        <p:spPr>
          <a:xfrm>
            <a:off x="1965960" y="1792224"/>
            <a:ext cx="2286000" cy="256032"/>
          </a:xfrm>
          <a:prstGeom prst="rect">
            <a:avLst/>
          </a:prstGeom>
          <a:noFill/>
          <a:ln/>
        </p:spPr>
        <p:txBody>
          <a:bodyPr wrap="square" rtlCol="0" anchor="ctr"/>
          <a:lstStyle/>
          <a:p>
            <a:pPr marL="0" indent="0">
              <a:buNone/>
            </a:pPr>
            <a:r>
              <a:rPr lang="en-US" sz="950" i="1" dirty="0">
                <a:solidFill>
                  <a:srgbClr val="1B2838"/>
                </a:solidFill>
              </a:rPr>
              <a:t>G3 &lt; 10</a:t>
            </a:r>
            <a:endParaRPr lang="en-US" sz="950" dirty="0"/>
          </a:p>
        </p:txBody>
      </p:sp>
      <p:sp>
        <p:nvSpPr>
          <p:cNvPr id="18" name="Shape 16"/>
          <p:cNvSpPr/>
          <p:nvPr/>
        </p:nvSpPr>
        <p:spPr>
          <a:xfrm>
            <a:off x="274320" y="2066544"/>
            <a:ext cx="4114800" cy="292608"/>
          </a:xfrm>
          <a:prstGeom prst="rect">
            <a:avLst/>
          </a:prstGeom>
          <a:solidFill>
            <a:srgbClr val="FFFFFF"/>
          </a:solidFill>
          <a:ln w="6350">
            <a:solidFill>
              <a:srgbClr val="D6E8FA"/>
            </a:solidFill>
            <a:prstDash val="solid"/>
          </a:ln>
        </p:spPr>
      </p:sp>
      <p:sp>
        <p:nvSpPr>
          <p:cNvPr id="19" name="Text 17"/>
          <p:cNvSpPr/>
          <p:nvPr/>
        </p:nvSpPr>
        <p:spPr>
          <a:xfrm>
            <a:off x="365760" y="2084832"/>
            <a:ext cx="1554480" cy="256032"/>
          </a:xfrm>
          <a:prstGeom prst="rect">
            <a:avLst/>
          </a:prstGeom>
          <a:noFill/>
          <a:ln/>
        </p:spPr>
        <p:txBody>
          <a:bodyPr wrap="square" rtlCol="0" anchor="ctr"/>
          <a:lstStyle/>
          <a:p>
            <a:pPr marL="0" indent="0">
              <a:buNone/>
            </a:pPr>
            <a:r>
              <a:rPr lang="en-US" sz="950" b="1" dirty="0">
                <a:solidFill>
                  <a:srgbClr val="E07B39"/>
                </a:solidFill>
              </a:rPr>
              <a:t>NoInternet</a:t>
            </a:r>
            <a:endParaRPr lang="en-US" sz="950" dirty="0"/>
          </a:p>
        </p:txBody>
      </p:sp>
      <p:sp>
        <p:nvSpPr>
          <p:cNvPr id="20" name="Text 18"/>
          <p:cNvSpPr/>
          <p:nvPr/>
        </p:nvSpPr>
        <p:spPr>
          <a:xfrm>
            <a:off x="1965960" y="2084832"/>
            <a:ext cx="2286000" cy="256032"/>
          </a:xfrm>
          <a:prstGeom prst="rect">
            <a:avLst/>
          </a:prstGeom>
          <a:noFill/>
          <a:ln/>
        </p:spPr>
        <p:txBody>
          <a:bodyPr wrap="square" rtlCol="0" anchor="ctr"/>
          <a:lstStyle/>
          <a:p>
            <a:pPr marL="0" indent="0">
              <a:buNone/>
            </a:pPr>
            <a:r>
              <a:rPr lang="en-US" sz="950" i="1" dirty="0">
                <a:solidFill>
                  <a:srgbClr val="1B2838"/>
                </a:solidFill>
              </a:rPr>
              <a:t>internet = 'no'</a:t>
            </a:r>
            <a:endParaRPr lang="en-US" sz="950" dirty="0"/>
          </a:p>
        </p:txBody>
      </p:sp>
      <p:sp>
        <p:nvSpPr>
          <p:cNvPr id="21" name="Shape 19"/>
          <p:cNvSpPr/>
          <p:nvPr/>
        </p:nvSpPr>
        <p:spPr>
          <a:xfrm>
            <a:off x="274320" y="2359152"/>
            <a:ext cx="4114800" cy="292608"/>
          </a:xfrm>
          <a:prstGeom prst="rect">
            <a:avLst/>
          </a:prstGeom>
          <a:solidFill>
            <a:srgbClr val="F4F8FD"/>
          </a:solidFill>
          <a:ln w="6350">
            <a:solidFill>
              <a:srgbClr val="D6E8FA"/>
            </a:solidFill>
            <a:prstDash val="solid"/>
          </a:ln>
        </p:spPr>
      </p:sp>
      <p:sp>
        <p:nvSpPr>
          <p:cNvPr id="22" name="Text 20"/>
          <p:cNvSpPr/>
          <p:nvPr/>
        </p:nvSpPr>
        <p:spPr>
          <a:xfrm>
            <a:off x="365760" y="2377440"/>
            <a:ext cx="1554480" cy="256032"/>
          </a:xfrm>
          <a:prstGeom prst="rect">
            <a:avLst/>
          </a:prstGeom>
          <a:noFill/>
          <a:ln/>
        </p:spPr>
        <p:txBody>
          <a:bodyPr wrap="square" rtlCol="0" anchor="ctr"/>
          <a:lstStyle/>
          <a:p>
            <a:pPr marL="0" indent="0">
              <a:buNone/>
            </a:pPr>
            <a:r>
              <a:rPr lang="en-US" sz="950" b="1" dirty="0">
                <a:solidFill>
                  <a:srgbClr val="E07B39"/>
                </a:solidFill>
              </a:rPr>
              <a:t>IsDropoutRisk</a:t>
            </a:r>
            <a:endParaRPr lang="en-US" sz="950" dirty="0"/>
          </a:p>
        </p:txBody>
      </p:sp>
      <p:sp>
        <p:nvSpPr>
          <p:cNvPr id="23" name="Text 21"/>
          <p:cNvSpPr/>
          <p:nvPr/>
        </p:nvSpPr>
        <p:spPr>
          <a:xfrm>
            <a:off x="1965960" y="2377440"/>
            <a:ext cx="2286000" cy="256032"/>
          </a:xfrm>
          <a:prstGeom prst="rect">
            <a:avLst/>
          </a:prstGeom>
          <a:noFill/>
          <a:ln/>
        </p:spPr>
        <p:txBody>
          <a:bodyPr wrap="square" rtlCol="0" anchor="ctr"/>
          <a:lstStyle/>
          <a:p>
            <a:pPr marL="0" indent="0">
              <a:buNone/>
            </a:pPr>
            <a:r>
              <a:rPr lang="en-US" sz="950" i="1" dirty="0">
                <a:solidFill>
                  <a:srgbClr val="1B2838"/>
                </a:solidFill>
              </a:rPr>
              <a:t>DropoutRisk = 'High'</a:t>
            </a:r>
            <a:endParaRPr lang="en-US" sz="950" dirty="0"/>
          </a:p>
        </p:txBody>
      </p:sp>
      <p:sp>
        <p:nvSpPr>
          <p:cNvPr id="24" name="Shape 22"/>
          <p:cNvSpPr/>
          <p:nvPr/>
        </p:nvSpPr>
        <p:spPr>
          <a:xfrm>
            <a:off x="274320" y="2651760"/>
            <a:ext cx="4114800" cy="292608"/>
          </a:xfrm>
          <a:prstGeom prst="rect">
            <a:avLst/>
          </a:prstGeom>
          <a:solidFill>
            <a:srgbClr val="FFFFFF"/>
          </a:solidFill>
          <a:ln w="6350">
            <a:solidFill>
              <a:srgbClr val="D6E8FA"/>
            </a:solidFill>
            <a:prstDash val="solid"/>
          </a:ln>
        </p:spPr>
      </p:sp>
      <p:sp>
        <p:nvSpPr>
          <p:cNvPr id="25" name="Text 23"/>
          <p:cNvSpPr/>
          <p:nvPr/>
        </p:nvSpPr>
        <p:spPr>
          <a:xfrm>
            <a:off x="365760" y="2670048"/>
            <a:ext cx="1554480" cy="256032"/>
          </a:xfrm>
          <a:prstGeom prst="rect">
            <a:avLst/>
          </a:prstGeom>
          <a:noFill/>
          <a:ln/>
        </p:spPr>
        <p:txBody>
          <a:bodyPr wrap="square" rtlCol="0" anchor="ctr"/>
          <a:lstStyle/>
          <a:p>
            <a:pPr marL="0" indent="0">
              <a:buNone/>
            </a:pPr>
            <a:r>
              <a:rPr lang="en-US" sz="950" b="1" dirty="0">
                <a:solidFill>
                  <a:srgbClr val="E07B39"/>
                </a:solidFill>
              </a:rPr>
              <a:t>LowStudyTime</a:t>
            </a:r>
            <a:endParaRPr lang="en-US" sz="950" dirty="0"/>
          </a:p>
        </p:txBody>
      </p:sp>
      <p:sp>
        <p:nvSpPr>
          <p:cNvPr id="26" name="Text 24"/>
          <p:cNvSpPr/>
          <p:nvPr/>
        </p:nvSpPr>
        <p:spPr>
          <a:xfrm>
            <a:off x="1965960" y="2670048"/>
            <a:ext cx="2286000" cy="256032"/>
          </a:xfrm>
          <a:prstGeom prst="rect">
            <a:avLst/>
          </a:prstGeom>
          <a:noFill/>
          <a:ln/>
        </p:spPr>
        <p:txBody>
          <a:bodyPr wrap="square" rtlCol="0" anchor="ctr"/>
          <a:lstStyle/>
          <a:p>
            <a:pPr marL="0" indent="0">
              <a:buNone/>
            </a:pPr>
            <a:r>
              <a:rPr lang="en-US" sz="950" i="1" dirty="0">
                <a:solidFill>
                  <a:srgbClr val="1B2838"/>
                </a:solidFill>
              </a:rPr>
              <a:t>studytime &lt;= 1</a:t>
            </a:r>
            <a:endParaRPr lang="en-US" sz="950" dirty="0"/>
          </a:p>
        </p:txBody>
      </p:sp>
      <p:sp>
        <p:nvSpPr>
          <p:cNvPr id="27" name="Shape 25"/>
          <p:cNvSpPr/>
          <p:nvPr/>
        </p:nvSpPr>
        <p:spPr>
          <a:xfrm>
            <a:off x="4663440" y="804672"/>
            <a:ext cx="4206240" cy="2148840"/>
          </a:xfrm>
          <a:prstGeom prst="rect">
            <a:avLst/>
          </a:prstGeom>
          <a:solidFill>
            <a:srgbClr val="FFFFFF"/>
          </a:solidFill>
          <a:ln w="12700">
            <a:solidFill>
              <a:srgbClr val="D6E8FA"/>
            </a:solidFill>
            <a:prstDash val="solid"/>
          </a:ln>
          <a:effectLst>
            <a:outerShdw blurRad="76200" dist="25400" dir="8100000" algn="bl" rotWithShape="0">
              <a:srgbClr val="000000">
                <a:alpha val="12000"/>
              </a:srgbClr>
            </a:outerShdw>
          </a:effectLst>
        </p:spPr>
      </p:sp>
      <p:sp>
        <p:nvSpPr>
          <p:cNvPr id="28" name="Shape 26"/>
          <p:cNvSpPr/>
          <p:nvPr/>
        </p:nvSpPr>
        <p:spPr>
          <a:xfrm>
            <a:off x="4663440" y="804672"/>
            <a:ext cx="4206240" cy="347472"/>
          </a:xfrm>
          <a:prstGeom prst="rect">
            <a:avLst/>
          </a:prstGeom>
          <a:solidFill>
            <a:srgbClr val="2E75B6"/>
          </a:solidFill>
          <a:ln w="12700">
            <a:solidFill>
              <a:srgbClr val="2E75B6"/>
            </a:solidFill>
            <a:prstDash val="solid"/>
          </a:ln>
        </p:spPr>
      </p:sp>
      <p:sp>
        <p:nvSpPr>
          <p:cNvPr id="29" name="Text 27"/>
          <p:cNvSpPr/>
          <p:nvPr/>
        </p:nvSpPr>
        <p:spPr>
          <a:xfrm>
            <a:off x="4754880" y="804672"/>
            <a:ext cx="4023360" cy="347472"/>
          </a:xfrm>
          <a:prstGeom prst="rect">
            <a:avLst/>
          </a:prstGeom>
          <a:noFill/>
          <a:ln/>
        </p:spPr>
        <p:txBody>
          <a:bodyPr wrap="square" rtlCol="0" anchor="ctr"/>
          <a:lstStyle/>
          <a:p>
            <a:pPr marL="0" indent="0">
              <a:buNone/>
            </a:pPr>
            <a:r>
              <a:rPr lang="en-US" sz="1100" b="1" dirty="0">
                <a:solidFill>
                  <a:srgbClr val="FFFFFF"/>
                </a:solidFill>
              </a:rPr>
              <a:t>Model Settings</a:t>
            </a:r>
            <a:endParaRPr lang="en-US" sz="1100" dirty="0"/>
          </a:p>
        </p:txBody>
      </p:sp>
      <p:sp>
        <p:nvSpPr>
          <p:cNvPr id="30" name="Shape 28"/>
          <p:cNvSpPr/>
          <p:nvPr/>
        </p:nvSpPr>
        <p:spPr>
          <a:xfrm>
            <a:off x="4663440" y="1188720"/>
            <a:ext cx="4206240" cy="429768"/>
          </a:xfrm>
          <a:prstGeom prst="rect">
            <a:avLst/>
          </a:prstGeom>
          <a:solidFill>
            <a:srgbClr val="F4F8FD"/>
          </a:solidFill>
          <a:ln w="6350">
            <a:solidFill>
              <a:srgbClr val="D6E8FA"/>
            </a:solidFill>
            <a:prstDash val="solid"/>
          </a:ln>
        </p:spPr>
      </p:sp>
      <p:sp>
        <p:nvSpPr>
          <p:cNvPr id="31" name="Text 29"/>
          <p:cNvSpPr/>
          <p:nvPr/>
        </p:nvSpPr>
        <p:spPr>
          <a:xfrm>
            <a:off x="4736592" y="1216152"/>
            <a:ext cx="1188720" cy="365760"/>
          </a:xfrm>
          <a:prstGeom prst="rect">
            <a:avLst/>
          </a:prstGeom>
          <a:noFill/>
          <a:ln/>
        </p:spPr>
        <p:txBody>
          <a:bodyPr wrap="square" rtlCol="0" anchor="ctr"/>
          <a:lstStyle/>
          <a:p>
            <a:pPr marL="0" indent="0">
              <a:buNone/>
            </a:pPr>
            <a:r>
              <a:rPr lang="en-US" sz="950" b="1" dirty="0">
                <a:solidFill>
                  <a:srgbClr val="1B3A6B"/>
                </a:solidFill>
              </a:rPr>
              <a:t>Min Support</a:t>
            </a:r>
            <a:endParaRPr lang="en-US" sz="950" dirty="0"/>
          </a:p>
        </p:txBody>
      </p:sp>
      <p:sp>
        <p:nvSpPr>
          <p:cNvPr id="32" name="Text 30"/>
          <p:cNvSpPr/>
          <p:nvPr/>
        </p:nvSpPr>
        <p:spPr>
          <a:xfrm>
            <a:off x="5961888" y="1216152"/>
            <a:ext cx="640080" cy="365760"/>
          </a:xfrm>
          <a:prstGeom prst="rect">
            <a:avLst/>
          </a:prstGeom>
          <a:noFill/>
          <a:ln/>
        </p:spPr>
        <p:txBody>
          <a:bodyPr wrap="square" rtlCol="0" anchor="ctr"/>
          <a:lstStyle/>
          <a:p>
            <a:pPr marL="0" indent="0" algn="ctr">
              <a:buNone/>
            </a:pPr>
            <a:r>
              <a:rPr lang="en-US" sz="1100" b="1" dirty="0">
                <a:solidFill>
                  <a:srgbClr val="E07B39"/>
                </a:solidFill>
              </a:rPr>
              <a:t>10%</a:t>
            </a:r>
            <a:endParaRPr lang="en-US" sz="1100" dirty="0"/>
          </a:p>
        </p:txBody>
      </p:sp>
      <p:sp>
        <p:nvSpPr>
          <p:cNvPr id="33" name="Text 31"/>
          <p:cNvSpPr/>
          <p:nvPr/>
        </p:nvSpPr>
        <p:spPr>
          <a:xfrm>
            <a:off x="6656832" y="1216152"/>
            <a:ext cx="2103120" cy="365760"/>
          </a:xfrm>
          <a:prstGeom prst="rect">
            <a:avLst/>
          </a:prstGeom>
          <a:noFill/>
          <a:ln/>
        </p:spPr>
        <p:txBody>
          <a:bodyPr wrap="square" rtlCol="0" anchor="ctr"/>
          <a:lstStyle/>
          <a:p>
            <a:pPr marL="0" indent="0">
              <a:buNone/>
            </a:pPr>
            <a:r>
              <a:rPr lang="en-US" sz="900" dirty="0">
                <a:solidFill>
                  <a:srgbClr val="5A6A7E"/>
                </a:solidFill>
              </a:rPr>
              <a:t>Rule must apply to 10%+ of students</a:t>
            </a:r>
            <a:endParaRPr lang="en-US" sz="900" dirty="0"/>
          </a:p>
        </p:txBody>
      </p:sp>
      <p:sp>
        <p:nvSpPr>
          <p:cNvPr id="34" name="Shape 32"/>
          <p:cNvSpPr/>
          <p:nvPr/>
        </p:nvSpPr>
        <p:spPr>
          <a:xfrm>
            <a:off x="4663440" y="1618488"/>
            <a:ext cx="4206240" cy="429768"/>
          </a:xfrm>
          <a:prstGeom prst="rect">
            <a:avLst/>
          </a:prstGeom>
          <a:solidFill>
            <a:srgbClr val="FFFFFF"/>
          </a:solidFill>
          <a:ln w="6350">
            <a:solidFill>
              <a:srgbClr val="D6E8FA"/>
            </a:solidFill>
            <a:prstDash val="solid"/>
          </a:ln>
        </p:spPr>
      </p:sp>
      <p:sp>
        <p:nvSpPr>
          <p:cNvPr id="35" name="Text 33"/>
          <p:cNvSpPr/>
          <p:nvPr/>
        </p:nvSpPr>
        <p:spPr>
          <a:xfrm>
            <a:off x="4736592" y="1645920"/>
            <a:ext cx="1188720" cy="365760"/>
          </a:xfrm>
          <a:prstGeom prst="rect">
            <a:avLst/>
          </a:prstGeom>
          <a:noFill/>
          <a:ln/>
        </p:spPr>
        <p:txBody>
          <a:bodyPr wrap="square" rtlCol="0" anchor="ctr"/>
          <a:lstStyle/>
          <a:p>
            <a:pPr marL="0" indent="0">
              <a:buNone/>
            </a:pPr>
            <a:r>
              <a:rPr lang="en-US" sz="950" b="1" dirty="0">
                <a:solidFill>
                  <a:srgbClr val="1B3A6B"/>
                </a:solidFill>
              </a:rPr>
              <a:t>Min Confidence</a:t>
            </a:r>
            <a:endParaRPr lang="en-US" sz="950" dirty="0"/>
          </a:p>
        </p:txBody>
      </p:sp>
      <p:sp>
        <p:nvSpPr>
          <p:cNvPr id="36" name="Text 34"/>
          <p:cNvSpPr/>
          <p:nvPr/>
        </p:nvSpPr>
        <p:spPr>
          <a:xfrm>
            <a:off x="5961888" y="1645920"/>
            <a:ext cx="640080" cy="365760"/>
          </a:xfrm>
          <a:prstGeom prst="rect">
            <a:avLst/>
          </a:prstGeom>
          <a:noFill/>
          <a:ln/>
        </p:spPr>
        <p:txBody>
          <a:bodyPr wrap="square" rtlCol="0" anchor="ctr"/>
          <a:lstStyle/>
          <a:p>
            <a:pPr marL="0" indent="0" algn="ctr">
              <a:buNone/>
            </a:pPr>
            <a:r>
              <a:rPr lang="en-US" sz="1100" b="1" dirty="0">
                <a:solidFill>
                  <a:srgbClr val="E07B39"/>
                </a:solidFill>
              </a:rPr>
              <a:t>50%</a:t>
            </a:r>
            <a:endParaRPr lang="en-US" sz="1100" dirty="0"/>
          </a:p>
        </p:txBody>
      </p:sp>
      <p:sp>
        <p:nvSpPr>
          <p:cNvPr id="37" name="Text 35"/>
          <p:cNvSpPr/>
          <p:nvPr/>
        </p:nvSpPr>
        <p:spPr>
          <a:xfrm>
            <a:off x="6656832" y="1645920"/>
            <a:ext cx="2103120" cy="365760"/>
          </a:xfrm>
          <a:prstGeom prst="rect">
            <a:avLst/>
          </a:prstGeom>
          <a:noFill/>
          <a:ln/>
        </p:spPr>
        <p:txBody>
          <a:bodyPr wrap="square" rtlCol="0" anchor="ctr"/>
          <a:lstStyle/>
          <a:p>
            <a:pPr marL="0" indent="0">
              <a:buNone/>
            </a:pPr>
            <a:r>
              <a:rPr lang="en-US" sz="900" dirty="0">
                <a:solidFill>
                  <a:srgbClr val="5A6A7E"/>
                </a:solidFill>
              </a:rPr>
              <a:t>Rule must be 50%+ accurate</a:t>
            </a:r>
            <a:endParaRPr lang="en-US" sz="900" dirty="0"/>
          </a:p>
        </p:txBody>
      </p:sp>
      <p:sp>
        <p:nvSpPr>
          <p:cNvPr id="38" name="Shape 36"/>
          <p:cNvSpPr/>
          <p:nvPr/>
        </p:nvSpPr>
        <p:spPr>
          <a:xfrm>
            <a:off x="4663440" y="2048256"/>
            <a:ext cx="4206240" cy="429768"/>
          </a:xfrm>
          <a:prstGeom prst="rect">
            <a:avLst/>
          </a:prstGeom>
          <a:solidFill>
            <a:srgbClr val="F4F8FD"/>
          </a:solidFill>
          <a:ln w="6350">
            <a:solidFill>
              <a:srgbClr val="D6E8FA"/>
            </a:solidFill>
            <a:prstDash val="solid"/>
          </a:ln>
        </p:spPr>
      </p:sp>
      <p:sp>
        <p:nvSpPr>
          <p:cNvPr id="39" name="Text 37"/>
          <p:cNvSpPr/>
          <p:nvPr/>
        </p:nvSpPr>
        <p:spPr>
          <a:xfrm>
            <a:off x="4736592" y="2075688"/>
            <a:ext cx="1188720" cy="365760"/>
          </a:xfrm>
          <a:prstGeom prst="rect">
            <a:avLst/>
          </a:prstGeom>
          <a:noFill/>
          <a:ln/>
        </p:spPr>
        <p:txBody>
          <a:bodyPr wrap="square" rtlCol="0" anchor="ctr"/>
          <a:lstStyle/>
          <a:p>
            <a:pPr marL="0" indent="0">
              <a:buNone/>
            </a:pPr>
            <a:r>
              <a:rPr lang="en-US" sz="950" b="1" dirty="0">
                <a:solidFill>
                  <a:srgbClr val="1B3A6B"/>
                </a:solidFill>
              </a:rPr>
              <a:t>Max Antecedents</a:t>
            </a:r>
            <a:endParaRPr lang="en-US" sz="950" dirty="0"/>
          </a:p>
        </p:txBody>
      </p:sp>
      <p:sp>
        <p:nvSpPr>
          <p:cNvPr id="40" name="Text 38"/>
          <p:cNvSpPr/>
          <p:nvPr/>
        </p:nvSpPr>
        <p:spPr>
          <a:xfrm>
            <a:off x="5961888" y="2075688"/>
            <a:ext cx="640080" cy="365760"/>
          </a:xfrm>
          <a:prstGeom prst="rect">
            <a:avLst/>
          </a:prstGeom>
          <a:noFill/>
          <a:ln/>
        </p:spPr>
        <p:txBody>
          <a:bodyPr wrap="square" rtlCol="0" anchor="ctr"/>
          <a:lstStyle/>
          <a:p>
            <a:pPr marL="0" indent="0" algn="ctr">
              <a:buNone/>
            </a:pPr>
            <a:r>
              <a:rPr lang="en-US" sz="1100" b="1" dirty="0">
                <a:solidFill>
                  <a:srgbClr val="E07B39"/>
                </a:solidFill>
              </a:rPr>
              <a:t>3</a:t>
            </a:r>
            <a:endParaRPr lang="en-US" sz="1100" dirty="0"/>
          </a:p>
        </p:txBody>
      </p:sp>
      <p:sp>
        <p:nvSpPr>
          <p:cNvPr id="41" name="Text 39"/>
          <p:cNvSpPr/>
          <p:nvPr/>
        </p:nvSpPr>
        <p:spPr>
          <a:xfrm>
            <a:off x="6656832" y="2075688"/>
            <a:ext cx="2103120" cy="365760"/>
          </a:xfrm>
          <a:prstGeom prst="rect">
            <a:avLst/>
          </a:prstGeom>
          <a:noFill/>
          <a:ln/>
        </p:spPr>
        <p:txBody>
          <a:bodyPr wrap="square" rtlCol="0" anchor="ctr"/>
          <a:lstStyle/>
          <a:p>
            <a:pPr marL="0" indent="0">
              <a:buNone/>
            </a:pPr>
            <a:r>
              <a:rPr lang="en-US" sz="900" dirty="0">
                <a:solidFill>
                  <a:srgbClr val="5A6A7E"/>
                </a:solidFill>
              </a:rPr>
              <a:t>Up to 3 conditions per rule</a:t>
            </a:r>
            <a:endParaRPr lang="en-US" sz="900" dirty="0"/>
          </a:p>
        </p:txBody>
      </p:sp>
      <p:sp>
        <p:nvSpPr>
          <p:cNvPr id="42" name="Shape 40"/>
          <p:cNvSpPr/>
          <p:nvPr/>
        </p:nvSpPr>
        <p:spPr>
          <a:xfrm>
            <a:off x="4663440" y="2478024"/>
            <a:ext cx="4206240" cy="429768"/>
          </a:xfrm>
          <a:prstGeom prst="rect">
            <a:avLst/>
          </a:prstGeom>
          <a:solidFill>
            <a:srgbClr val="FFFFFF"/>
          </a:solidFill>
          <a:ln w="6350">
            <a:solidFill>
              <a:srgbClr val="D6E8FA"/>
            </a:solidFill>
            <a:prstDash val="solid"/>
          </a:ln>
        </p:spPr>
      </p:sp>
      <p:sp>
        <p:nvSpPr>
          <p:cNvPr id="43" name="Text 41"/>
          <p:cNvSpPr/>
          <p:nvPr/>
        </p:nvSpPr>
        <p:spPr>
          <a:xfrm>
            <a:off x="4736592" y="2505456"/>
            <a:ext cx="1188720" cy="365760"/>
          </a:xfrm>
          <a:prstGeom prst="rect">
            <a:avLst/>
          </a:prstGeom>
          <a:noFill/>
          <a:ln/>
        </p:spPr>
        <p:txBody>
          <a:bodyPr wrap="square" rtlCol="0" anchor="ctr"/>
          <a:lstStyle/>
          <a:p>
            <a:pPr marL="0" indent="0">
              <a:buNone/>
            </a:pPr>
            <a:r>
              <a:rPr lang="en-US" sz="950" b="1" dirty="0">
                <a:solidFill>
                  <a:srgbClr val="1B3A6B"/>
                </a:solidFill>
              </a:rPr>
              <a:t>Role</a:t>
            </a:r>
            <a:endParaRPr lang="en-US" sz="950" dirty="0"/>
          </a:p>
        </p:txBody>
      </p:sp>
      <p:sp>
        <p:nvSpPr>
          <p:cNvPr id="44" name="Text 42"/>
          <p:cNvSpPr/>
          <p:nvPr/>
        </p:nvSpPr>
        <p:spPr>
          <a:xfrm>
            <a:off x="5961888" y="2505456"/>
            <a:ext cx="640080" cy="365760"/>
          </a:xfrm>
          <a:prstGeom prst="rect">
            <a:avLst/>
          </a:prstGeom>
          <a:noFill/>
          <a:ln/>
        </p:spPr>
        <p:txBody>
          <a:bodyPr wrap="square" rtlCol="0" anchor="ctr"/>
          <a:lstStyle/>
          <a:p>
            <a:pPr marL="0" indent="0" algn="ctr">
              <a:buNone/>
            </a:pPr>
            <a:r>
              <a:rPr lang="en-US" sz="1100" b="1" dirty="0">
                <a:solidFill>
                  <a:srgbClr val="E07B39"/>
                </a:solidFill>
              </a:rPr>
              <a:t>Both</a:t>
            </a:r>
            <a:endParaRPr lang="en-US" sz="1100" dirty="0"/>
          </a:p>
        </p:txBody>
      </p:sp>
      <p:sp>
        <p:nvSpPr>
          <p:cNvPr id="45" name="Text 43"/>
          <p:cNvSpPr/>
          <p:nvPr/>
        </p:nvSpPr>
        <p:spPr>
          <a:xfrm>
            <a:off x="6656832" y="2505456"/>
            <a:ext cx="2103120" cy="365760"/>
          </a:xfrm>
          <a:prstGeom prst="rect">
            <a:avLst/>
          </a:prstGeom>
          <a:noFill/>
          <a:ln/>
        </p:spPr>
        <p:txBody>
          <a:bodyPr wrap="square" rtlCol="0" anchor="ctr"/>
          <a:lstStyle/>
          <a:p>
            <a:pPr marL="0" indent="0">
              <a:buNone/>
            </a:pPr>
            <a:r>
              <a:rPr lang="en-US" sz="900" dirty="0">
                <a:solidFill>
                  <a:srgbClr val="5A6A7E"/>
                </a:solidFill>
              </a:rPr>
              <a:t>Fields can be antecedent OR consequent</a:t>
            </a:r>
            <a:endParaRPr lang="en-US" sz="900" dirty="0"/>
          </a:p>
        </p:txBody>
      </p:sp>
      <p:sp>
        <p:nvSpPr>
          <p:cNvPr id="46" name="Shape 44"/>
          <p:cNvSpPr/>
          <p:nvPr/>
        </p:nvSpPr>
        <p:spPr>
          <a:xfrm>
            <a:off x="274320" y="3063240"/>
            <a:ext cx="8595360" cy="347472"/>
          </a:xfrm>
          <a:prstGeom prst="rect">
            <a:avLst/>
          </a:prstGeom>
          <a:solidFill>
            <a:srgbClr val="1B3A6B"/>
          </a:solidFill>
          <a:ln w="12700">
            <a:solidFill>
              <a:srgbClr val="1B3A6B"/>
            </a:solidFill>
            <a:prstDash val="solid"/>
          </a:ln>
        </p:spPr>
      </p:sp>
      <p:sp>
        <p:nvSpPr>
          <p:cNvPr id="47" name="Text 45"/>
          <p:cNvSpPr/>
          <p:nvPr/>
        </p:nvSpPr>
        <p:spPr>
          <a:xfrm>
            <a:off x="365760" y="3063240"/>
            <a:ext cx="8412480" cy="347472"/>
          </a:xfrm>
          <a:prstGeom prst="rect">
            <a:avLst/>
          </a:prstGeom>
          <a:noFill/>
          <a:ln/>
        </p:spPr>
        <p:txBody>
          <a:bodyPr wrap="square" rtlCol="0" anchor="ctr"/>
          <a:lstStyle/>
          <a:p>
            <a:pPr marL="0" indent="0">
              <a:buNone/>
            </a:pPr>
            <a:r>
              <a:rPr lang="en-US" sz="950" b="1" kern="0" spc="200" dirty="0">
                <a:solidFill>
                  <a:srgbClr val="FFFFFF"/>
                </a:solidFill>
              </a:rPr>
              <a:t>KEY ASSOCIATION RULES DISCOVERED</a:t>
            </a:r>
            <a:endParaRPr lang="en-US" sz="950" dirty="0"/>
          </a:p>
        </p:txBody>
      </p:sp>
      <p:sp>
        <p:nvSpPr>
          <p:cNvPr id="48" name="Shape 46"/>
          <p:cNvSpPr/>
          <p:nvPr/>
        </p:nvSpPr>
        <p:spPr>
          <a:xfrm>
            <a:off x="274320" y="3410712"/>
            <a:ext cx="6217920" cy="274320"/>
          </a:xfrm>
          <a:prstGeom prst="rect">
            <a:avLst/>
          </a:prstGeom>
          <a:solidFill>
            <a:srgbClr val="2E75B6"/>
          </a:solidFill>
          <a:ln w="12700">
            <a:solidFill>
              <a:srgbClr val="2E75B6"/>
            </a:solidFill>
            <a:prstDash val="solid"/>
          </a:ln>
        </p:spPr>
      </p:sp>
      <p:sp>
        <p:nvSpPr>
          <p:cNvPr id="49" name="Shape 47"/>
          <p:cNvSpPr/>
          <p:nvPr/>
        </p:nvSpPr>
        <p:spPr>
          <a:xfrm>
            <a:off x="6492240" y="3410712"/>
            <a:ext cx="777240" cy="274320"/>
          </a:xfrm>
          <a:prstGeom prst="rect">
            <a:avLst/>
          </a:prstGeom>
          <a:solidFill>
            <a:srgbClr val="2E75B6"/>
          </a:solidFill>
          <a:ln w="12700">
            <a:solidFill>
              <a:srgbClr val="2E75B6"/>
            </a:solidFill>
            <a:prstDash val="solid"/>
          </a:ln>
        </p:spPr>
      </p:sp>
      <p:sp>
        <p:nvSpPr>
          <p:cNvPr id="50" name="Shape 48"/>
          <p:cNvSpPr/>
          <p:nvPr/>
        </p:nvSpPr>
        <p:spPr>
          <a:xfrm>
            <a:off x="7269480" y="3410712"/>
            <a:ext cx="868680" cy="274320"/>
          </a:xfrm>
          <a:prstGeom prst="rect">
            <a:avLst/>
          </a:prstGeom>
          <a:solidFill>
            <a:srgbClr val="2E75B6"/>
          </a:solidFill>
          <a:ln w="12700">
            <a:solidFill>
              <a:srgbClr val="2E75B6"/>
            </a:solidFill>
            <a:prstDash val="solid"/>
          </a:ln>
        </p:spPr>
      </p:sp>
      <p:sp>
        <p:nvSpPr>
          <p:cNvPr id="51" name="Shape 49"/>
          <p:cNvSpPr/>
          <p:nvPr/>
        </p:nvSpPr>
        <p:spPr>
          <a:xfrm>
            <a:off x="8138160" y="3410712"/>
            <a:ext cx="731520" cy="274320"/>
          </a:xfrm>
          <a:prstGeom prst="rect">
            <a:avLst/>
          </a:prstGeom>
          <a:solidFill>
            <a:srgbClr val="2E75B6"/>
          </a:solidFill>
          <a:ln w="12700">
            <a:solidFill>
              <a:srgbClr val="2E75B6"/>
            </a:solidFill>
            <a:prstDash val="solid"/>
          </a:ln>
        </p:spPr>
      </p:sp>
      <p:sp>
        <p:nvSpPr>
          <p:cNvPr id="52" name="Text 50"/>
          <p:cNvSpPr/>
          <p:nvPr/>
        </p:nvSpPr>
        <p:spPr>
          <a:xfrm>
            <a:off x="320040" y="3410712"/>
            <a:ext cx="6172200" cy="274320"/>
          </a:xfrm>
          <a:prstGeom prst="rect">
            <a:avLst/>
          </a:prstGeom>
          <a:noFill/>
          <a:ln/>
        </p:spPr>
        <p:txBody>
          <a:bodyPr wrap="square" rtlCol="0" anchor="ctr"/>
          <a:lstStyle/>
          <a:p>
            <a:pPr marL="0" indent="0">
              <a:buNone/>
            </a:pPr>
            <a:r>
              <a:rPr lang="en-US" sz="900" b="1" dirty="0">
                <a:solidFill>
                  <a:srgbClr val="FFFFFF"/>
                </a:solidFill>
              </a:rPr>
              <a:t>Rule</a:t>
            </a:r>
            <a:endParaRPr lang="en-US" sz="900" dirty="0"/>
          </a:p>
        </p:txBody>
      </p:sp>
      <p:sp>
        <p:nvSpPr>
          <p:cNvPr id="53" name="Text 51"/>
          <p:cNvSpPr/>
          <p:nvPr/>
        </p:nvSpPr>
        <p:spPr>
          <a:xfrm>
            <a:off x="6492240" y="3410712"/>
            <a:ext cx="777240" cy="274320"/>
          </a:xfrm>
          <a:prstGeom prst="rect">
            <a:avLst/>
          </a:prstGeom>
          <a:noFill/>
          <a:ln/>
        </p:spPr>
        <p:txBody>
          <a:bodyPr wrap="square" rtlCol="0" anchor="ctr"/>
          <a:lstStyle/>
          <a:p>
            <a:pPr marL="0" indent="0" algn="ctr">
              <a:buNone/>
            </a:pPr>
            <a:r>
              <a:rPr lang="en-US" sz="900" b="1" dirty="0">
                <a:solidFill>
                  <a:srgbClr val="FFFFFF"/>
                </a:solidFill>
              </a:rPr>
              <a:t>Supp.</a:t>
            </a:r>
            <a:endParaRPr lang="en-US" sz="900" dirty="0"/>
          </a:p>
        </p:txBody>
      </p:sp>
      <p:sp>
        <p:nvSpPr>
          <p:cNvPr id="54" name="Text 52"/>
          <p:cNvSpPr/>
          <p:nvPr/>
        </p:nvSpPr>
        <p:spPr>
          <a:xfrm>
            <a:off x="7269480" y="3410712"/>
            <a:ext cx="868680" cy="274320"/>
          </a:xfrm>
          <a:prstGeom prst="rect">
            <a:avLst/>
          </a:prstGeom>
          <a:noFill/>
          <a:ln/>
        </p:spPr>
        <p:txBody>
          <a:bodyPr wrap="square" rtlCol="0" anchor="ctr"/>
          <a:lstStyle/>
          <a:p>
            <a:pPr marL="0" indent="0" algn="ctr">
              <a:buNone/>
            </a:pPr>
            <a:r>
              <a:rPr lang="en-US" sz="900" b="1" dirty="0">
                <a:solidFill>
                  <a:srgbClr val="FFFFFF"/>
                </a:solidFill>
              </a:rPr>
              <a:t>Conf.</a:t>
            </a:r>
            <a:endParaRPr lang="en-US" sz="900" dirty="0"/>
          </a:p>
        </p:txBody>
      </p:sp>
      <p:sp>
        <p:nvSpPr>
          <p:cNvPr id="55" name="Text 53"/>
          <p:cNvSpPr/>
          <p:nvPr/>
        </p:nvSpPr>
        <p:spPr>
          <a:xfrm>
            <a:off x="8138160" y="3410712"/>
            <a:ext cx="731520" cy="274320"/>
          </a:xfrm>
          <a:prstGeom prst="rect">
            <a:avLst/>
          </a:prstGeom>
          <a:noFill/>
          <a:ln/>
        </p:spPr>
        <p:txBody>
          <a:bodyPr wrap="square" rtlCol="0" anchor="ctr"/>
          <a:lstStyle/>
          <a:p>
            <a:pPr marL="0" indent="0" algn="ctr">
              <a:buNone/>
            </a:pPr>
            <a:r>
              <a:rPr lang="en-US" sz="900" b="1" dirty="0">
                <a:solidFill>
                  <a:srgbClr val="FFFFFF"/>
                </a:solidFill>
              </a:rPr>
              <a:t>Lift</a:t>
            </a:r>
            <a:endParaRPr lang="en-US" sz="900" dirty="0"/>
          </a:p>
        </p:txBody>
      </p:sp>
      <p:sp>
        <p:nvSpPr>
          <p:cNvPr id="56" name="Shape 54"/>
          <p:cNvSpPr/>
          <p:nvPr/>
        </p:nvSpPr>
        <p:spPr>
          <a:xfrm>
            <a:off x="274320" y="3685032"/>
            <a:ext cx="6217920" cy="347472"/>
          </a:xfrm>
          <a:prstGeom prst="rect">
            <a:avLst/>
          </a:prstGeom>
          <a:solidFill>
            <a:srgbClr val="FEF3C7"/>
          </a:solidFill>
          <a:ln w="6350">
            <a:solidFill>
              <a:srgbClr val="D6E8FA"/>
            </a:solidFill>
            <a:prstDash val="solid"/>
          </a:ln>
        </p:spPr>
      </p:sp>
      <p:sp>
        <p:nvSpPr>
          <p:cNvPr id="57" name="Shape 55"/>
          <p:cNvSpPr/>
          <p:nvPr/>
        </p:nvSpPr>
        <p:spPr>
          <a:xfrm>
            <a:off x="6492240" y="3685032"/>
            <a:ext cx="777240" cy="347472"/>
          </a:xfrm>
          <a:prstGeom prst="rect">
            <a:avLst/>
          </a:prstGeom>
          <a:solidFill>
            <a:srgbClr val="FEF3C7"/>
          </a:solidFill>
          <a:ln w="6350">
            <a:solidFill>
              <a:srgbClr val="D6E8FA"/>
            </a:solidFill>
            <a:prstDash val="solid"/>
          </a:ln>
        </p:spPr>
      </p:sp>
      <p:sp>
        <p:nvSpPr>
          <p:cNvPr id="58" name="Shape 56"/>
          <p:cNvSpPr/>
          <p:nvPr/>
        </p:nvSpPr>
        <p:spPr>
          <a:xfrm>
            <a:off x="7269480" y="3685032"/>
            <a:ext cx="868680" cy="347472"/>
          </a:xfrm>
          <a:prstGeom prst="rect">
            <a:avLst/>
          </a:prstGeom>
          <a:solidFill>
            <a:srgbClr val="FEF3C7"/>
          </a:solidFill>
          <a:ln w="6350">
            <a:solidFill>
              <a:srgbClr val="D6E8FA"/>
            </a:solidFill>
            <a:prstDash val="solid"/>
          </a:ln>
        </p:spPr>
      </p:sp>
      <p:sp>
        <p:nvSpPr>
          <p:cNvPr id="59" name="Shape 57"/>
          <p:cNvSpPr/>
          <p:nvPr/>
        </p:nvSpPr>
        <p:spPr>
          <a:xfrm>
            <a:off x="8138160" y="3685032"/>
            <a:ext cx="731520" cy="347472"/>
          </a:xfrm>
          <a:prstGeom prst="rect">
            <a:avLst/>
          </a:prstGeom>
          <a:solidFill>
            <a:srgbClr val="FEF3C7"/>
          </a:solidFill>
          <a:ln w="6350">
            <a:solidFill>
              <a:srgbClr val="D6E8FA"/>
            </a:solidFill>
            <a:prstDash val="solid"/>
          </a:ln>
        </p:spPr>
      </p:sp>
      <p:sp>
        <p:nvSpPr>
          <p:cNvPr id="60" name="Text 58"/>
          <p:cNvSpPr/>
          <p:nvPr/>
        </p:nvSpPr>
        <p:spPr>
          <a:xfrm>
            <a:off x="347472" y="3685032"/>
            <a:ext cx="6080760" cy="347472"/>
          </a:xfrm>
          <a:prstGeom prst="rect">
            <a:avLst/>
          </a:prstGeom>
          <a:noFill/>
          <a:ln/>
        </p:spPr>
        <p:txBody>
          <a:bodyPr wrap="square" rtlCol="0" anchor="ctr"/>
          <a:lstStyle/>
          <a:p>
            <a:pPr marL="0" indent="0">
              <a:buNone/>
            </a:pPr>
            <a:r>
              <a:rPr lang="en-US" sz="900" b="1" dirty="0">
                <a:solidFill>
                  <a:srgbClr val="1B2838"/>
                </a:solidFill>
              </a:rPr>
              <a:t>HasFailures=T  AND  HighAbsence=T  →  IsDropoutRisk=T</a:t>
            </a:r>
            <a:endParaRPr lang="en-US" sz="900" dirty="0"/>
          </a:p>
        </p:txBody>
      </p:sp>
      <p:sp>
        <p:nvSpPr>
          <p:cNvPr id="61" name="Text 59"/>
          <p:cNvSpPr/>
          <p:nvPr/>
        </p:nvSpPr>
        <p:spPr>
          <a:xfrm>
            <a:off x="6492240" y="3685032"/>
            <a:ext cx="777240" cy="347472"/>
          </a:xfrm>
          <a:prstGeom prst="rect">
            <a:avLst/>
          </a:prstGeom>
          <a:noFill/>
          <a:ln/>
        </p:spPr>
        <p:txBody>
          <a:bodyPr wrap="square" rtlCol="0" anchor="ctr"/>
          <a:lstStyle/>
          <a:p>
            <a:pPr marL="0" indent="0" algn="ctr">
              <a:buNone/>
            </a:pPr>
            <a:r>
              <a:rPr lang="en-US" sz="900" b="1" dirty="0">
                <a:solidFill>
                  <a:srgbClr val="1B3A6B"/>
                </a:solidFill>
              </a:rPr>
              <a:t>15%</a:t>
            </a:r>
            <a:endParaRPr lang="en-US" sz="900" dirty="0"/>
          </a:p>
        </p:txBody>
      </p:sp>
      <p:sp>
        <p:nvSpPr>
          <p:cNvPr id="62" name="Text 60"/>
          <p:cNvSpPr/>
          <p:nvPr/>
        </p:nvSpPr>
        <p:spPr>
          <a:xfrm>
            <a:off x="7269480" y="3685032"/>
            <a:ext cx="868680" cy="347472"/>
          </a:xfrm>
          <a:prstGeom prst="rect">
            <a:avLst/>
          </a:prstGeom>
          <a:noFill/>
          <a:ln/>
        </p:spPr>
        <p:txBody>
          <a:bodyPr wrap="square" rtlCol="0" anchor="ctr"/>
          <a:lstStyle/>
          <a:p>
            <a:pPr marL="0" indent="0" algn="ctr">
              <a:buNone/>
            </a:pPr>
            <a:r>
              <a:rPr lang="en-US" sz="900" b="1" dirty="0">
                <a:solidFill>
                  <a:srgbClr val="1A7A4A"/>
                </a:solidFill>
              </a:rPr>
              <a:t>85%</a:t>
            </a:r>
            <a:endParaRPr lang="en-US" sz="900" dirty="0"/>
          </a:p>
        </p:txBody>
      </p:sp>
      <p:sp>
        <p:nvSpPr>
          <p:cNvPr id="63" name="Text 61"/>
          <p:cNvSpPr/>
          <p:nvPr/>
        </p:nvSpPr>
        <p:spPr>
          <a:xfrm>
            <a:off x="8138160" y="3685032"/>
            <a:ext cx="731520" cy="347472"/>
          </a:xfrm>
          <a:prstGeom prst="rect">
            <a:avLst/>
          </a:prstGeom>
          <a:noFill/>
          <a:ln/>
        </p:spPr>
        <p:txBody>
          <a:bodyPr wrap="square" rtlCol="0" anchor="ctr"/>
          <a:lstStyle/>
          <a:p>
            <a:pPr marL="0" indent="0" algn="ctr">
              <a:buNone/>
            </a:pPr>
            <a:r>
              <a:rPr lang="en-US" sz="900" b="1" dirty="0">
                <a:solidFill>
                  <a:srgbClr val="E07B39"/>
                </a:solidFill>
              </a:rPr>
              <a:t>2.1</a:t>
            </a:r>
            <a:endParaRPr lang="en-US" sz="900" dirty="0"/>
          </a:p>
        </p:txBody>
      </p:sp>
      <p:sp>
        <p:nvSpPr>
          <p:cNvPr id="64" name="Shape 62"/>
          <p:cNvSpPr/>
          <p:nvPr/>
        </p:nvSpPr>
        <p:spPr>
          <a:xfrm>
            <a:off x="274320" y="4032504"/>
            <a:ext cx="6217920" cy="347472"/>
          </a:xfrm>
          <a:prstGeom prst="rect">
            <a:avLst/>
          </a:prstGeom>
          <a:solidFill>
            <a:srgbClr val="FFFFFF"/>
          </a:solidFill>
          <a:ln w="6350">
            <a:solidFill>
              <a:srgbClr val="D6E8FA"/>
            </a:solidFill>
            <a:prstDash val="solid"/>
          </a:ln>
        </p:spPr>
      </p:sp>
      <p:sp>
        <p:nvSpPr>
          <p:cNvPr id="65" name="Shape 63"/>
          <p:cNvSpPr/>
          <p:nvPr/>
        </p:nvSpPr>
        <p:spPr>
          <a:xfrm>
            <a:off x="6492240" y="4032504"/>
            <a:ext cx="777240" cy="347472"/>
          </a:xfrm>
          <a:prstGeom prst="rect">
            <a:avLst/>
          </a:prstGeom>
          <a:solidFill>
            <a:srgbClr val="FFFFFF"/>
          </a:solidFill>
          <a:ln w="6350">
            <a:solidFill>
              <a:srgbClr val="D6E8FA"/>
            </a:solidFill>
            <a:prstDash val="solid"/>
          </a:ln>
        </p:spPr>
      </p:sp>
      <p:sp>
        <p:nvSpPr>
          <p:cNvPr id="66" name="Shape 64"/>
          <p:cNvSpPr/>
          <p:nvPr/>
        </p:nvSpPr>
        <p:spPr>
          <a:xfrm>
            <a:off x="7269480" y="4032504"/>
            <a:ext cx="868680" cy="347472"/>
          </a:xfrm>
          <a:prstGeom prst="rect">
            <a:avLst/>
          </a:prstGeom>
          <a:solidFill>
            <a:srgbClr val="FFFFFF"/>
          </a:solidFill>
          <a:ln w="6350">
            <a:solidFill>
              <a:srgbClr val="D6E8FA"/>
            </a:solidFill>
            <a:prstDash val="solid"/>
          </a:ln>
        </p:spPr>
      </p:sp>
      <p:sp>
        <p:nvSpPr>
          <p:cNvPr id="67" name="Shape 65"/>
          <p:cNvSpPr/>
          <p:nvPr/>
        </p:nvSpPr>
        <p:spPr>
          <a:xfrm>
            <a:off x="8138160" y="4032504"/>
            <a:ext cx="731520" cy="347472"/>
          </a:xfrm>
          <a:prstGeom prst="rect">
            <a:avLst/>
          </a:prstGeom>
          <a:solidFill>
            <a:srgbClr val="FFFFFF"/>
          </a:solidFill>
          <a:ln w="6350">
            <a:solidFill>
              <a:srgbClr val="D6E8FA"/>
            </a:solidFill>
            <a:prstDash val="solid"/>
          </a:ln>
        </p:spPr>
      </p:sp>
      <p:sp>
        <p:nvSpPr>
          <p:cNvPr id="68" name="Text 66"/>
          <p:cNvSpPr/>
          <p:nvPr/>
        </p:nvSpPr>
        <p:spPr>
          <a:xfrm>
            <a:off x="347472" y="4032504"/>
            <a:ext cx="6080760" cy="347472"/>
          </a:xfrm>
          <a:prstGeom prst="rect">
            <a:avLst/>
          </a:prstGeom>
          <a:noFill/>
          <a:ln/>
        </p:spPr>
        <p:txBody>
          <a:bodyPr wrap="square" rtlCol="0" anchor="ctr"/>
          <a:lstStyle/>
          <a:p>
            <a:pPr marL="0" indent="0">
              <a:buNone/>
            </a:pPr>
            <a:r>
              <a:rPr lang="en-US" sz="900" dirty="0">
                <a:solidFill>
                  <a:srgbClr val="1B2838"/>
                </a:solidFill>
              </a:rPr>
              <a:t>LowGrade=T  AND  NoInternet=T  →  IsDropoutRisk=T</a:t>
            </a:r>
            <a:endParaRPr lang="en-US" sz="900" dirty="0"/>
          </a:p>
        </p:txBody>
      </p:sp>
      <p:sp>
        <p:nvSpPr>
          <p:cNvPr id="69" name="Text 67"/>
          <p:cNvSpPr/>
          <p:nvPr/>
        </p:nvSpPr>
        <p:spPr>
          <a:xfrm>
            <a:off x="6492240" y="4032504"/>
            <a:ext cx="777240" cy="347472"/>
          </a:xfrm>
          <a:prstGeom prst="rect">
            <a:avLst/>
          </a:prstGeom>
          <a:noFill/>
          <a:ln/>
        </p:spPr>
        <p:txBody>
          <a:bodyPr wrap="square" rtlCol="0" anchor="ctr"/>
          <a:lstStyle/>
          <a:p>
            <a:pPr marL="0" indent="0" algn="ctr">
              <a:buNone/>
            </a:pPr>
            <a:r>
              <a:rPr lang="en-US" sz="900" b="1" dirty="0">
                <a:solidFill>
                  <a:srgbClr val="1B3A6B"/>
                </a:solidFill>
              </a:rPr>
              <a:t>12%</a:t>
            </a:r>
            <a:endParaRPr lang="en-US" sz="900" dirty="0"/>
          </a:p>
        </p:txBody>
      </p:sp>
      <p:sp>
        <p:nvSpPr>
          <p:cNvPr id="70" name="Text 68"/>
          <p:cNvSpPr/>
          <p:nvPr/>
        </p:nvSpPr>
        <p:spPr>
          <a:xfrm>
            <a:off x="7269480" y="4032504"/>
            <a:ext cx="868680" cy="347472"/>
          </a:xfrm>
          <a:prstGeom prst="rect">
            <a:avLst/>
          </a:prstGeom>
          <a:noFill/>
          <a:ln/>
        </p:spPr>
        <p:txBody>
          <a:bodyPr wrap="square" rtlCol="0" anchor="ctr"/>
          <a:lstStyle/>
          <a:p>
            <a:pPr marL="0" indent="0" algn="ctr">
              <a:buNone/>
            </a:pPr>
            <a:r>
              <a:rPr lang="en-US" sz="900" b="1" dirty="0">
                <a:solidFill>
                  <a:srgbClr val="1B2838"/>
                </a:solidFill>
              </a:rPr>
              <a:t>78%</a:t>
            </a:r>
            <a:endParaRPr lang="en-US" sz="900" dirty="0"/>
          </a:p>
        </p:txBody>
      </p:sp>
      <p:sp>
        <p:nvSpPr>
          <p:cNvPr id="71" name="Text 69"/>
          <p:cNvSpPr/>
          <p:nvPr/>
        </p:nvSpPr>
        <p:spPr>
          <a:xfrm>
            <a:off x="8138160" y="4032504"/>
            <a:ext cx="731520" cy="347472"/>
          </a:xfrm>
          <a:prstGeom prst="rect">
            <a:avLst/>
          </a:prstGeom>
          <a:noFill/>
          <a:ln/>
        </p:spPr>
        <p:txBody>
          <a:bodyPr wrap="square" rtlCol="0" anchor="ctr"/>
          <a:lstStyle/>
          <a:p>
            <a:pPr marL="0" indent="0" algn="ctr">
              <a:buNone/>
            </a:pPr>
            <a:r>
              <a:rPr lang="en-US" sz="900" b="1" dirty="0">
                <a:solidFill>
                  <a:srgbClr val="E07B39"/>
                </a:solidFill>
              </a:rPr>
              <a:t>1.9</a:t>
            </a:r>
            <a:endParaRPr lang="en-US" sz="900" dirty="0"/>
          </a:p>
        </p:txBody>
      </p:sp>
      <p:sp>
        <p:nvSpPr>
          <p:cNvPr id="72" name="Shape 70"/>
          <p:cNvSpPr/>
          <p:nvPr/>
        </p:nvSpPr>
        <p:spPr>
          <a:xfrm>
            <a:off x="274320" y="4379976"/>
            <a:ext cx="6217920" cy="347472"/>
          </a:xfrm>
          <a:prstGeom prst="rect">
            <a:avLst/>
          </a:prstGeom>
          <a:solidFill>
            <a:srgbClr val="F4F8FD"/>
          </a:solidFill>
          <a:ln w="6350">
            <a:solidFill>
              <a:srgbClr val="D6E8FA"/>
            </a:solidFill>
            <a:prstDash val="solid"/>
          </a:ln>
        </p:spPr>
      </p:sp>
      <p:sp>
        <p:nvSpPr>
          <p:cNvPr id="73" name="Shape 71"/>
          <p:cNvSpPr/>
          <p:nvPr/>
        </p:nvSpPr>
        <p:spPr>
          <a:xfrm>
            <a:off x="6492240" y="4379976"/>
            <a:ext cx="777240" cy="347472"/>
          </a:xfrm>
          <a:prstGeom prst="rect">
            <a:avLst/>
          </a:prstGeom>
          <a:solidFill>
            <a:srgbClr val="F4F8FD"/>
          </a:solidFill>
          <a:ln w="6350">
            <a:solidFill>
              <a:srgbClr val="D6E8FA"/>
            </a:solidFill>
            <a:prstDash val="solid"/>
          </a:ln>
        </p:spPr>
      </p:sp>
      <p:sp>
        <p:nvSpPr>
          <p:cNvPr id="74" name="Shape 72"/>
          <p:cNvSpPr/>
          <p:nvPr/>
        </p:nvSpPr>
        <p:spPr>
          <a:xfrm>
            <a:off x="7269480" y="4379976"/>
            <a:ext cx="868680" cy="347472"/>
          </a:xfrm>
          <a:prstGeom prst="rect">
            <a:avLst/>
          </a:prstGeom>
          <a:solidFill>
            <a:srgbClr val="F4F8FD"/>
          </a:solidFill>
          <a:ln w="6350">
            <a:solidFill>
              <a:srgbClr val="D6E8FA"/>
            </a:solidFill>
            <a:prstDash val="solid"/>
          </a:ln>
        </p:spPr>
      </p:sp>
      <p:sp>
        <p:nvSpPr>
          <p:cNvPr id="75" name="Shape 73"/>
          <p:cNvSpPr/>
          <p:nvPr/>
        </p:nvSpPr>
        <p:spPr>
          <a:xfrm>
            <a:off x="8138160" y="4379976"/>
            <a:ext cx="731520" cy="347472"/>
          </a:xfrm>
          <a:prstGeom prst="rect">
            <a:avLst/>
          </a:prstGeom>
          <a:solidFill>
            <a:srgbClr val="F4F8FD"/>
          </a:solidFill>
          <a:ln w="6350">
            <a:solidFill>
              <a:srgbClr val="D6E8FA"/>
            </a:solidFill>
            <a:prstDash val="solid"/>
          </a:ln>
        </p:spPr>
      </p:sp>
      <p:sp>
        <p:nvSpPr>
          <p:cNvPr id="76" name="Text 74"/>
          <p:cNvSpPr/>
          <p:nvPr/>
        </p:nvSpPr>
        <p:spPr>
          <a:xfrm>
            <a:off x="347472" y="4379976"/>
            <a:ext cx="6080760" cy="347472"/>
          </a:xfrm>
          <a:prstGeom prst="rect">
            <a:avLst/>
          </a:prstGeom>
          <a:noFill/>
          <a:ln/>
        </p:spPr>
        <p:txBody>
          <a:bodyPr wrap="square" rtlCol="0" anchor="ctr"/>
          <a:lstStyle/>
          <a:p>
            <a:pPr marL="0" indent="0">
              <a:buNone/>
            </a:pPr>
            <a:r>
              <a:rPr lang="en-US" sz="900" dirty="0">
                <a:solidFill>
                  <a:srgbClr val="1B2838"/>
                </a:solidFill>
              </a:rPr>
              <a:t>LowStudyTime=T  AND  HasFailures=T  →  LowGrade=T</a:t>
            </a:r>
            <a:endParaRPr lang="en-US" sz="900" dirty="0"/>
          </a:p>
        </p:txBody>
      </p:sp>
      <p:sp>
        <p:nvSpPr>
          <p:cNvPr id="77" name="Text 75"/>
          <p:cNvSpPr/>
          <p:nvPr/>
        </p:nvSpPr>
        <p:spPr>
          <a:xfrm>
            <a:off x="6492240" y="4379976"/>
            <a:ext cx="777240" cy="347472"/>
          </a:xfrm>
          <a:prstGeom prst="rect">
            <a:avLst/>
          </a:prstGeom>
          <a:noFill/>
          <a:ln/>
        </p:spPr>
        <p:txBody>
          <a:bodyPr wrap="square" rtlCol="0" anchor="ctr"/>
          <a:lstStyle/>
          <a:p>
            <a:pPr marL="0" indent="0" algn="ctr">
              <a:buNone/>
            </a:pPr>
            <a:r>
              <a:rPr lang="en-US" sz="900" b="1" dirty="0">
                <a:solidFill>
                  <a:srgbClr val="1B3A6B"/>
                </a:solidFill>
              </a:rPr>
              <a:t>18%</a:t>
            </a:r>
            <a:endParaRPr lang="en-US" sz="900" dirty="0"/>
          </a:p>
        </p:txBody>
      </p:sp>
      <p:sp>
        <p:nvSpPr>
          <p:cNvPr id="78" name="Text 76"/>
          <p:cNvSpPr/>
          <p:nvPr/>
        </p:nvSpPr>
        <p:spPr>
          <a:xfrm>
            <a:off x="7269480" y="4379976"/>
            <a:ext cx="868680" cy="347472"/>
          </a:xfrm>
          <a:prstGeom prst="rect">
            <a:avLst/>
          </a:prstGeom>
          <a:noFill/>
          <a:ln/>
        </p:spPr>
        <p:txBody>
          <a:bodyPr wrap="square" rtlCol="0" anchor="ctr"/>
          <a:lstStyle/>
          <a:p>
            <a:pPr marL="0" indent="0" algn="ctr">
              <a:buNone/>
            </a:pPr>
            <a:r>
              <a:rPr lang="en-US" sz="900" b="1" dirty="0">
                <a:solidFill>
                  <a:srgbClr val="1B2838"/>
                </a:solidFill>
              </a:rPr>
              <a:t>72%</a:t>
            </a:r>
            <a:endParaRPr lang="en-US" sz="900" dirty="0"/>
          </a:p>
        </p:txBody>
      </p:sp>
      <p:sp>
        <p:nvSpPr>
          <p:cNvPr id="79" name="Text 77"/>
          <p:cNvSpPr/>
          <p:nvPr/>
        </p:nvSpPr>
        <p:spPr>
          <a:xfrm>
            <a:off x="8138160" y="4379976"/>
            <a:ext cx="731520" cy="347472"/>
          </a:xfrm>
          <a:prstGeom prst="rect">
            <a:avLst/>
          </a:prstGeom>
          <a:noFill/>
          <a:ln/>
        </p:spPr>
        <p:txBody>
          <a:bodyPr wrap="square" rtlCol="0" anchor="ctr"/>
          <a:lstStyle/>
          <a:p>
            <a:pPr marL="0" indent="0" algn="ctr">
              <a:buNone/>
            </a:pPr>
            <a:r>
              <a:rPr lang="en-US" sz="900" b="1" dirty="0">
                <a:solidFill>
                  <a:srgbClr val="E07B39"/>
                </a:solidFill>
              </a:rPr>
              <a:t>1.7</a:t>
            </a:r>
            <a:endParaRPr lang="en-US" sz="900" dirty="0"/>
          </a:p>
        </p:txBody>
      </p:sp>
      <p:sp>
        <p:nvSpPr>
          <p:cNvPr id="80" name="Shape 78"/>
          <p:cNvSpPr/>
          <p:nvPr/>
        </p:nvSpPr>
        <p:spPr>
          <a:xfrm>
            <a:off x="274320" y="4727448"/>
            <a:ext cx="6217920" cy="347472"/>
          </a:xfrm>
          <a:prstGeom prst="rect">
            <a:avLst/>
          </a:prstGeom>
          <a:solidFill>
            <a:srgbClr val="FFFFFF"/>
          </a:solidFill>
          <a:ln w="6350">
            <a:solidFill>
              <a:srgbClr val="D6E8FA"/>
            </a:solidFill>
            <a:prstDash val="solid"/>
          </a:ln>
        </p:spPr>
      </p:sp>
      <p:sp>
        <p:nvSpPr>
          <p:cNvPr id="81" name="Shape 79"/>
          <p:cNvSpPr/>
          <p:nvPr/>
        </p:nvSpPr>
        <p:spPr>
          <a:xfrm>
            <a:off x="6492240" y="4727448"/>
            <a:ext cx="777240" cy="347472"/>
          </a:xfrm>
          <a:prstGeom prst="rect">
            <a:avLst/>
          </a:prstGeom>
          <a:solidFill>
            <a:srgbClr val="FFFFFF"/>
          </a:solidFill>
          <a:ln w="6350">
            <a:solidFill>
              <a:srgbClr val="D6E8FA"/>
            </a:solidFill>
            <a:prstDash val="solid"/>
          </a:ln>
        </p:spPr>
      </p:sp>
      <p:sp>
        <p:nvSpPr>
          <p:cNvPr id="82" name="Shape 80"/>
          <p:cNvSpPr/>
          <p:nvPr/>
        </p:nvSpPr>
        <p:spPr>
          <a:xfrm>
            <a:off x="7269480" y="4727448"/>
            <a:ext cx="868680" cy="347472"/>
          </a:xfrm>
          <a:prstGeom prst="rect">
            <a:avLst/>
          </a:prstGeom>
          <a:solidFill>
            <a:srgbClr val="FFFFFF"/>
          </a:solidFill>
          <a:ln w="6350">
            <a:solidFill>
              <a:srgbClr val="D6E8FA"/>
            </a:solidFill>
            <a:prstDash val="solid"/>
          </a:ln>
        </p:spPr>
      </p:sp>
      <p:sp>
        <p:nvSpPr>
          <p:cNvPr id="83" name="Shape 81"/>
          <p:cNvSpPr/>
          <p:nvPr/>
        </p:nvSpPr>
        <p:spPr>
          <a:xfrm>
            <a:off x="8138160" y="4727448"/>
            <a:ext cx="731520" cy="347472"/>
          </a:xfrm>
          <a:prstGeom prst="rect">
            <a:avLst/>
          </a:prstGeom>
          <a:solidFill>
            <a:srgbClr val="FFFFFF"/>
          </a:solidFill>
          <a:ln w="6350">
            <a:solidFill>
              <a:srgbClr val="D6E8FA"/>
            </a:solidFill>
            <a:prstDash val="solid"/>
          </a:ln>
        </p:spPr>
      </p:sp>
      <p:sp>
        <p:nvSpPr>
          <p:cNvPr id="84" name="Text 82"/>
          <p:cNvSpPr/>
          <p:nvPr/>
        </p:nvSpPr>
        <p:spPr>
          <a:xfrm>
            <a:off x="347472" y="4727448"/>
            <a:ext cx="6080760" cy="347472"/>
          </a:xfrm>
          <a:prstGeom prst="rect">
            <a:avLst/>
          </a:prstGeom>
          <a:noFill/>
          <a:ln/>
        </p:spPr>
        <p:txBody>
          <a:bodyPr wrap="square" rtlCol="0" anchor="ctr"/>
          <a:lstStyle/>
          <a:p>
            <a:pPr marL="0" indent="0">
              <a:buNone/>
            </a:pPr>
            <a:r>
              <a:rPr lang="en-US" sz="900" dirty="0">
                <a:solidFill>
                  <a:srgbClr val="1B2838"/>
                </a:solidFill>
              </a:rPr>
              <a:t>HighAbsence=T  →  LowGrade=T</a:t>
            </a:r>
            <a:endParaRPr lang="en-US" sz="900" dirty="0"/>
          </a:p>
        </p:txBody>
      </p:sp>
      <p:sp>
        <p:nvSpPr>
          <p:cNvPr id="85" name="Text 83"/>
          <p:cNvSpPr/>
          <p:nvPr/>
        </p:nvSpPr>
        <p:spPr>
          <a:xfrm>
            <a:off x="6492240" y="4727448"/>
            <a:ext cx="777240" cy="347472"/>
          </a:xfrm>
          <a:prstGeom prst="rect">
            <a:avLst/>
          </a:prstGeom>
          <a:noFill/>
          <a:ln/>
        </p:spPr>
        <p:txBody>
          <a:bodyPr wrap="square" rtlCol="0" anchor="ctr"/>
          <a:lstStyle/>
          <a:p>
            <a:pPr marL="0" indent="0" algn="ctr">
              <a:buNone/>
            </a:pPr>
            <a:r>
              <a:rPr lang="en-US" sz="900" b="1" dirty="0">
                <a:solidFill>
                  <a:srgbClr val="1B3A6B"/>
                </a:solidFill>
              </a:rPr>
              <a:t>22%</a:t>
            </a:r>
            <a:endParaRPr lang="en-US" sz="900" dirty="0"/>
          </a:p>
        </p:txBody>
      </p:sp>
      <p:sp>
        <p:nvSpPr>
          <p:cNvPr id="86" name="Text 84"/>
          <p:cNvSpPr/>
          <p:nvPr/>
        </p:nvSpPr>
        <p:spPr>
          <a:xfrm>
            <a:off x="7269480" y="4727448"/>
            <a:ext cx="868680" cy="347472"/>
          </a:xfrm>
          <a:prstGeom prst="rect">
            <a:avLst/>
          </a:prstGeom>
          <a:noFill/>
          <a:ln/>
        </p:spPr>
        <p:txBody>
          <a:bodyPr wrap="square" rtlCol="0" anchor="ctr"/>
          <a:lstStyle/>
          <a:p>
            <a:pPr marL="0" indent="0" algn="ctr">
              <a:buNone/>
            </a:pPr>
            <a:r>
              <a:rPr lang="en-US" sz="900" b="1" dirty="0">
                <a:solidFill>
                  <a:srgbClr val="1B2838"/>
                </a:solidFill>
              </a:rPr>
              <a:t>68%</a:t>
            </a:r>
            <a:endParaRPr lang="en-US" sz="900" dirty="0"/>
          </a:p>
        </p:txBody>
      </p:sp>
      <p:sp>
        <p:nvSpPr>
          <p:cNvPr id="87" name="Text 85"/>
          <p:cNvSpPr/>
          <p:nvPr/>
        </p:nvSpPr>
        <p:spPr>
          <a:xfrm>
            <a:off x="8138160" y="4727448"/>
            <a:ext cx="731520" cy="347472"/>
          </a:xfrm>
          <a:prstGeom prst="rect">
            <a:avLst/>
          </a:prstGeom>
          <a:noFill/>
          <a:ln/>
        </p:spPr>
        <p:txBody>
          <a:bodyPr wrap="square" rtlCol="0" anchor="ctr"/>
          <a:lstStyle/>
          <a:p>
            <a:pPr marL="0" indent="0" algn="ctr">
              <a:buNone/>
            </a:pPr>
            <a:r>
              <a:rPr lang="en-US" sz="900" b="1" dirty="0">
                <a:solidFill>
                  <a:srgbClr val="E07B39"/>
                </a:solidFill>
              </a:rPr>
              <a:t>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w="12700">
            <a:solidFill>
              <a:srgbClr val="1B3A6B"/>
            </a:solidFill>
            <a:prstDash val="solid"/>
          </a:ln>
        </p:spPr>
      </p:sp>
      <p:sp>
        <p:nvSpPr>
          <p:cNvPr id="3" name="Shape 1"/>
          <p:cNvSpPr/>
          <p:nvPr/>
        </p:nvSpPr>
        <p:spPr>
          <a:xfrm>
            <a:off x="0" y="640080"/>
            <a:ext cx="9144000" cy="54864"/>
          </a:xfrm>
          <a:prstGeom prst="rect">
            <a:avLst/>
          </a:prstGeom>
          <a:solidFill>
            <a:srgbClr val="E07B39"/>
          </a:solidFill>
          <a:ln w="12700">
            <a:solidFill>
              <a:srgbClr val="E07B39"/>
            </a:solidFill>
            <a:prstDash val="solid"/>
          </a:ln>
        </p:spPr>
      </p:sp>
      <p:sp>
        <p:nvSpPr>
          <p:cNvPr id="4" name="Text 2"/>
          <p:cNvSpPr/>
          <p:nvPr/>
        </p:nvSpPr>
        <p:spPr>
          <a:xfrm>
            <a:off x="365760" y="0"/>
            <a:ext cx="8229600" cy="6400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Task 8: Segmentation Modeling — K-Means</a:t>
            </a:r>
            <a:endParaRPr lang="en-US" sz="2000" dirty="0"/>
          </a:p>
        </p:txBody>
      </p:sp>
      <p:sp>
        <p:nvSpPr>
          <p:cNvPr id="5" name="Text 3"/>
          <p:cNvSpPr/>
          <p:nvPr/>
        </p:nvSpPr>
        <p:spPr>
          <a:xfrm>
            <a:off x="8046720" y="0"/>
            <a:ext cx="914400" cy="640080"/>
          </a:xfrm>
          <a:prstGeom prst="rect">
            <a:avLst/>
          </a:prstGeom>
          <a:noFill/>
          <a:ln/>
        </p:spPr>
        <p:txBody>
          <a:bodyPr wrap="square" rtlCol="0" anchor="ctr"/>
          <a:lstStyle/>
          <a:p>
            <a:pPr marL="0" indent="0" algn="r">
              <a:buNone/>
            </a:pPr>
            <a:r>
              <a:rPr lang="en-US" sz="2800" b="1" dirty="0">
                <a:solidFill>
                  <a:srgbClr val="FFFFFF"/>
                </a:solidFill>
              </a:rPr>
              <a:t>09</a:t>
            </a:r>
            <a:endParaRPr lang="en-US" sz="2800" dirty="0"/>
          </a:p>
        </p:txBody>
      </p:sp>
      <p:sp>
        <p:nvSpPr>
          <p:cNvPr id="6" name="Shape 4"/>
          <p:cNvSpPr/>
          <p:nvPr/>
        </p:nvSpPr>
        <p:spPr>
          <a:xfrm>
            <a:off x="274320" y="804672"/>
            <a:ext cx="8595360" cy="457200"/>
          </a:xfrm>
          <a:prstGeom prst="rect">
            <a:avLst/>
          </a:prstGeom>
          <a:solidFill>
            <a:srgbClr val="D6E8FA"/>
          </a:solidFill>
          <a:ln w="12700">
            <a:solidFill>
              <a:srgbClr val="2E75B6"/>
            </a:solidFill>
            <a:prstDash val="solid"/>
          </a:ln>
        </p:spPr>
      </p:sp>
      <p:sp>
        <p:nvSpPr>
          <p:cNvPr id="7" name="Text 5"/>
          <p:cNvSpPr/>
          <p:nvPr/>
        </p:nvSpPr>
        <p:spPr>
          <a:xfrm>
            <a:off x="457200" y="804672"/>
            <a:ext cx="8229600" cy="457200"/>
          </a:xfrm>
          <a:prstGeom prst="rect">
            <a:avLst/>
          </a:prstGeom>
          <a:noFill/>
          <a:ln/>
        </p:spPr>
        <p:txBody>
          <a:bodyPr wrap="square" rtlCol="0" anchor="ctr"/>
          <a:lstStyle/>
          <a:p>
            <a:pPr marL="0" indent="0" algn="ctr">
              <a:buNone/>
            </a:pPr>
            <a:r>
              <a:rPr lang="en-US" sz="1050" b="1" dirty="0">
                <a:solidFill>
                  <a:srgbClr val="1B3A6B"/>
                </a:solidFill>
              </a:rPr>
              <a:t>Fields Normalized using Min-Max Scaling  |  K = 4 Clusters  |  Euclidean Distance  |  100 Max Iterations</a:t>
            </a:r>
            <a:endParaRPr lang="en-US" sz="1050" dirty="0"/>
          </a:p>
        </p:txBody>
      </p:sp>
      <p:sp>
        <p:nvSpPr>
          <p:cNvPr id="8" name="Shape 6"/>
          <p:cNvSpPr/>
          <p:nvPr/>
        </p:nvSpPr>
        <p:spPr>
          <a:xfrm>
            <a:off x="274320" y="1371600"/>
            <a:ext cx="1965960" cy="3429000"/>
          </a:xfrm>
          <a:prstGeom prst="rect">
            <a:avLst/>
          </a:prstGeom>
          <a:solidFill>
            <a:srgbClr val="D4EDDA"/>
          </a:solidFill>
          <a:ln w="12700">
            <a:solidFill>
              <a:srgbClr val="1A7A4A"/>
            </a:solidFill>
            <a:prstDash val="solid"/>
          </a:ln>
          <a:effectLst>
            <a:outerShdw blurRad="76200" dist="25400" dir="8100000" algn="bl" rotWithShape="0">
              <a:srgbClr val="000000">
                <a:alpha val="12000"/>
              </a:srgbClr>
            </a:outerShdw>
          </a:effectLst>
        </p:spPr>
      </p:sp>
      <p:sp>
        <p:nvSpPr>
          <p:cNvPr id="9" name="Shape 7"/>
          <p:cNvSpPr/>
          <p:nvPr/>
        </p:nvSpPr>
        <p:spPr>
          <a:xfrm>
            <a:off x="274320" y="1371600"/>
            <a:ext cx="1965960" cy="502920"/>
          </a:xfrm>
          <a:prstGeom prst="rect">
            <a:avLst/>
          </a:prstGeom>
          <a:solidFill>
            <a:srgbClr val="1A7A4A"/>
          </a:solidFill>
          <a:ln w="12700">
            <a:solidFill>
              <a:srgbClr val="1A7A4A"/>
            </a:solidFill>
            <a:prstDash val="solid"/>
          </a:ln>
        </p:spPr>
      </p:sp>
      <p:sp>
        <p:nvSpPr>
          <p:cNvPr id="10" name="Text 8"/>
          <p:cNvSpPr/>
          <p:nvPr/>
        </p:nvSpPr>
        <p:spPr>
          <a:xfrm>
            <a:off x="274320" y="1371600"/>
            <a:ext cx="1965960" cy="256032"/>
          </a:xfrm>
          <a:prstGeom prst="rect">
            <a:avLst/>
          </a:prstGeom>
          <a:noFill/>
          <a:ln/>
        </p:spPr>
        <p:txBody>
          <a:bodyPr wrap="square" lIns="0" tIns="0" rIns="0" bIns="0" rtlCol="0" anchor="ctr"/>
          <a:lstStyle/>
          <a:p>
            <a:pPr marL="0" indent="0" algn="ctr">
              <a:buNone/>
            </a:pPr>
            <a:r>
              <a:rPr lang="en-US" sz="950" b="1" dirty="0">
                <a:solidFill>
                  <a:srgbClr val="FFFFFF"/>
                </a:solidFill>
              </a:rPr>
              <a:t>Cluster 1</a:t>
            </a:r>
            <a:endParaRPr lang="en-US" sz="950" dirty="0"/>
          </a:p>
        </p:txBody>
      </p:sp>
      <p:sp>
        <p:nvSpPr>
          <p:cNvPr id="11" name="Text 9"/>
          <p:cNvSpPr/>
          <p:nvPr/>
        </p:nvSpPr>
        <p:spPr>
          <a:xfrm>
            <a:off x="274320" y="1627632"/>
            <a:ext cx="1965960" cy="246888"/>
          </a:xfrm>
          <a:prstGeom prst="rect">
            <a:avLst/>
          </a:prstGeom>
          <a:noFill/>
          <a:ln/>
        </p:spPr>
        <p:txBody>
          <a:bodyPr wrap="square" lIns="0" tIns="0" rIns="0" bIns="0" rtlCol="0" anchor="ctr"/>
          <a:lstStyle/>
          <a:p>
            <a:pPr marL="0" indent="0" algn="ctr">
              <a:buNone/>
            </a:pPr>
            <a:r>
              <a:rPr lang="en-US" sz="900" dirty="0">
                <a:solidFill>
                  <a:srgbClr val="FFFFFF"/>
                </a:solidFill>
              </a:rPr>
              <a:t>High Achiever</a:t>
            </a:r>
            <a:endParaRPr lang="en-US" sz="900" dirty="0"/>
          </a:p>
        </p:txBody>
      </p:sp>
      <p:sp>
        <p:nvSpPr>
          <p:cNvPr id="12" name="Shape 10"/>
          <p:cNvSpPr/>
          <p:nvPr/>
        </p:nvSpPr>
        <p:spPr>
          <a:xfrm>
            <a:off x="347472" y="1965960"/>
            <a:ext cx="1819656" cy="594360"/>
          </a:xfrm>
          <a:prstGeom prst="rect">
            <a:avLst/>
          </a:prstGeom>
          <a:solidFill>
            <a:srgbClr val="FFFFFF"/>
          </a:solidFill>
          <a:ln w="6350">
            <a:solidFill>
              <a:srgbClr val="1A7A4A"/>
            </a:solidFill>
            <a:prstDash val="solid"/>
          </a:ln>
        </p:spPr>
      </p:sp>
      <p:sp>
        <p:nvSpPr>
          <p:cNvPr id="13" name="Text 11"/>
          <p:cNvSpPr/>
          <p:nvPr/>
        </p:nvSpPr>
        <p:spPr>
          <a:xfrm>
            <a:off x="384048" y="1993392"/>
            <a:ext cx="1746504" cy="256032"/>
          </a:xfrm>
          <a:prstGeom prst="rect">
            <a:avLst/>
          </a:prstGeom>
          <a:noFill/>
          <a:ln/>
        </p:spPr>
        <p:txBody>
          <a:bodyPr wrap="square" rtlCol="0" anchor="ctr"/>
          <a:lstStyle/>
          <a:p>
            <a:pPr marL="0" indent="0">
              <a:buNone/>
            </a:pPr>
            <a:r>
              <a:rPr lang="en-US" sz="850" dirty="0">
                <a:solidFill>
                  <a:srgbClr val="5A6A7E"/>
                </a:solidFill>
              </a:rPr>
              <a:t>Avg Grade</a:t>
            </a:r>
            <a:endParaRPr lang="en-US" sz="850" dirty="0"/>
          </a:p>
        </p:txBody>
      </p:sp>
      <p:sp>
        <p:nvSpPr>
          <p:cNvPr id="14" name="Text 12"/>
          <p:cNvSpPr/>
          <p:nvPr/>
        </p:nvSpPr>
        <p:spPr>
          <a:xfrm>
            <a:off x="384048" y="2231136"/>
            <a:ext cx="1746504" cy="274320"/>
          </a:xfrm>
          <a:prstGeom prst="rect">
            <a:avLst/>
          </a:prstGeom>
          <a:noFill/>
          <a:ln/>
        </p:spPr>
        <p:txBody>
          <a:bodyPr wrap="square" rtlCol="0" anchor="ctr"/>
          <a:lstStyle/>
          <a:p>
            <a:pPr marL="0" indent="0">
              <a:buNone/>
            </a:pPr>
            <a:r>
              <a:rPr lang="en-US" sz="1100" b="1" dirty="0">
                <a:solidFill>
                  <a:srgbClr val="1A7A4A"/>
                </a:solidFill>
              </a:rPr>
              <a:t>15–18</a:t>
            </a:r>
            <a:endParaRPr lang="en-US" sz="1100" dirty="0"/>
          </a:p>
        </p:txBody>
      </p:sp>
      <p:sp>
        <p:nvSpPr>
          <p:cNvPr id="15" name="Shape 13"/>
          <p:cNvSpPr/>
          <p:nvPr/>
        </p:nvSpPr>
        <p:spPr>
          <a:xfrm>
            <a:off x="347472" y="2624328"/>
            <a:ext cx="1819656" cy="594360"/>
          </a:xfrm>
          <a:prstGeom prst="rect">
            <a:avLst/>
          </a:prstGeom>
          <a:solidFill>
            <a:srgbClr val="FFFFFF"/>
          </a:solidFill>
          <a:ln w="6350">
            <a:solidFill>
              <a:srgbClr val="1A7A4A"/>
            </a:solidFill>
            <a:prstDash val="solid"/>
          </a:ln>
        </p:spPr>
      </p:sp>
      <p:sp>
        <p:nvSpPr>
          <p:cNvPr id="16" name="Text 14"/>
          <p:cNvSpPr/>
          <p:nvPr/>
        </p:nvSpPr>
        <p:spPr>
          <a:xfrm>
            <a:off x="384048" y="2651760"/>
            <a:ext cx="1746504" cy="256032"/>
          </a:xfrm>
          <a:prstGeom prst="rect">
            <a:avLst/>
          </a:prstGeom>
          <a:noFill/>
          <a:ln/>
        </p:spPr>
        <p:txBody>
          <a:bodyPr wrap="square" rtlCol="0" anchor="ctr"/>
          <a:lstStyle/>
          <a:p>
            <a:pPr marL="0" indent="0">
              <a:buNone/>
            </a:pPr>
            <a:r>
              <a:rPr lang="en-US" sz="850" dirty="0">
                <a:solidFill>
                  <a:srgbClr val="5A6A7E"/>
                </a:solidFill>
              </a:rPr>
              <a:t>Absences</a:t>
            </a:r>
            <a:endParaRPr lang="en-US" sz="850" dirty="0"/>
          </a:p>
        </p:txBody>
      </p:sp>
      <p:sp>
        <p:nvSpPr>
          <p:cNvPr id="17" name="Text 15"/>
          <p:cNvSpPr/>
          <p:nvPr/>
        </p:nvSpPr>
        <p:spPr>
          <a:xfrm>
            <a:off x="384048" y="2889504"/>
            <a:ext cx="1746504" cy="274320"/>
          </a:xfrm>
          <a:prstGeom prst="rect">
            <a:avLst/>
          </a:prstGeom>
          <a:noFill/>
          <a:ln/>
        </p:spPr>
        <p:txBody>
          <a:bodyPr wrap="square" rtlCol="0" anchor="ctr"/>
          <a:lstStyle/>
          <a:p>
            <a:pPr marL="0" indent="0">
              <a:buNone/>
            </a:pPr>
            <a:r>
              <a:rPr lang="en-US" sz="1100" b="1" dirty="0">
                <a:solidFill>
                  <a:srgbClr val="1A7A4A"/>
                </a:solidFill>
              </a:rPr>
              <a:t>1–3</a:t>
            </a:r>
            <a:endParaRPr lang="en-US" sz="1100" dirty="0"/>
          </a:p>
        </p:txBody>
      </p:sp>
      <p:sp>
        <p:nvSpPr>
          <p:cNvPr id="18" name="Shape 16"/>
          <p:cNvSpPr/>
          <p:nvPr/>
        </p:nvSpPr>
        <p:spPr>
          <a:xfrm>
            <a:off x="347472" y="3282696"/>
            <a:ext cx="1819656" cy="594360"/>
          </a:xfrm>
          <a:prstGeom prst="rect">
            <a:avLst/>
          </a:prstGeom>
          <a:solidFill>
            <a:srgbClr val="FFFFFF"/>
          </a:solidFill>
          <a:ln w="6350">
            <a:solidFill>
              <a:srgbClr val="1A7A4A"/>
            </a:solidFill>
            <a:prstDash val="solid"/>
          </a:ln>
        </p:spPr>
      </p:sp>
      <p:sp>
        <p:nvSpPr>
          <p:cNvPr id="19" name="Text 17"/>
          <p:cNvSpPr/>
          <p:nvPr/>
        </p:nvSpPr>
        <p:spPr>
          <a:xfrm>
            <a:off x="384048" y="3310128"/>
            <a:ext cx="1746504" cy="256032"/>
          </a:xfrm>
          <a:prstGeom prst="rect">
            <a:avLst/>
          </a:prstGeom>
          <a:noFill/>
          <a:ln/>
        </p:spPr>
        <p:txBody>
          <a:bodyPr wrap="square" rtlCol="0" anchor="ctr"/>
          <a:lstStyle/>
          <a:p>
            <a:pPr marL="0" indent="0">
              <a:buNone/>
            </a:pPr>
            <a:r>
              <a:rPr lang="en-US" sz="850" dirty="0">
                <a:solidFill>
                  <a:srgbClr val="5A6A7E"/>
                </a:solidFill>
              </a:rPr>
              <a:t>Failures</a:t>
            </a:r>
            <a:endParaRPr lang="en-US" sz="850" dirty="0"/>
          </a:p>
        </p:txBody>
      </p:sp>
      <p:sp>
        <p:nvSpPr>
          <p:cNvPr id="20" name="Text 18"/>
          <p:cNvSpPr/>
          <p:nvPr/>
        </p:nvSpPr>
        <p:spPr>
          <a:xfrm>
            <a:off x="384048" y="3547872"/>
            <a:ext cx="1746504" cy="274320"/>
          </a:xfrm>
          <a:prstGeom prst="rect">
            <a:avLst/>
          </a:prstGeom>
          <a:noFill/>
          <a:ln/>
        </p:spPr>
        <p:txBody>
          <a:bodyPr wrap="square" rtlCol="0" anchor="ctr"/>
          <a:lstStyle/>
          <a:p>
            <a:pPr marL="0" indent="0">
              <a:buNone/>
            </a:pPr>
            <a:r>
              <a:rPr lang="en-US" sz="1100" b="1" dirty="0">
                <a:solidFill>
                  <a:srgbClr val="1A7A4A"/>
                </a:solidFill>
              </a:rPr>
              <a:t>0</a:t>
            </a:r>
            <a:endParaRPr lang="en-US" sz="1100" dirty="0"/>
          </a:p>
        </p:txBody>
      </p:sp>
      <p:sp>
        <p:nvSpPr>
          <p:cNvPr id="21" name="Shape 19"/>
          <p:cNvSpPr/>
          <p:nvPr/>
        </p:nvSpPr>
        <p:spPr>
          <a:xfrm>
            <a:off x="347472" y="3941064"/>
            <a:ext cx="1819656" cy="594360"/>
          </a:xfrm>
          <a:prstGeom prst="rect">
            <a:avLst/>
          </a:prstGeom>
          <a:solidFill>
            <a:srgbClr val="FFFFFF"/>
          </a:solidFill>
          <a:ln w="6350">
            <a:solidFill>
              <a:srgbClr val="1A7A4A"/>
            </a:solidFill>
            <a:prstDash val="solid"/>
          </a:ln>
        </p:spPr>
      </p:sp>
      <p:sp>
        <p:nvSpPr>
          <p:cNvPr id="22" name="Text 20"/>
          <p:cNvSpPr/>
          <p:nvPr/>
        </p:nvSpPr>
        <p:spPr>
          <a:xfrm>
            <a:off x="384048" y="3968496"/>
            <a:ext cx="1746504" cy="256032"/>
          </a:xfrm>
          <a:prstGeom prst="rect">
            <a:avLst/>
          </a:prstGeom>
          <a:noFill/>
          <a:ln/>
        </p:spPr>
        <p:txBody>
          <a:bodyPr wrap="square" rtlCol="0" anchor="ctr"/>
          <a:lstStyle/>
          <a:p>
            <a:pPr marL="0" indent="0">
              <a:buNone/>
            </a:pPr>
            <a:r>
              <a:rPr lang="en-US" sz="850" dirty="0">
                <a:solidFill>
                  <a:srgbClr val="5A6A7E"/>
                </a:solidFill>
              </a:rPr>
              <a:t>Study Time</a:t>
            </a:r>
            <a:endParaRPr lang="en-US" sz="850" dirty="0"/>
          </a:p>
        </p:txBody>
      </p:sp>
      <p:sp>
        <p:nvSpPr>
          <p:cNvPr id="23" name="Text 21"/>
          <p:cNvSpPr/>
          <p:nvPr/>
        </p:nvSpPr>
        <p:spPr>
          <a:xfrm>
            <a:off x="384048" y="4206240"/>
            <a:ext cx="1746504" cy="274320"/>
          </a:xfrm>
          <a:prstGeom prst="rect">
            <a:avLst/>
          </a:prstGeom>
          <a:noFill/>
          <a:ln/>
        </p:spPr>
        <p:txBody>
          <a:bodyPr wrap="square" rtlCol="0" anchor="ctr"/>
          <a:lstStyle/>
          <a:p>
            <a:pPr marL="0" indent="0">
              <a:buNone/>
            </a:pPr>
            <a:r>
              <a:rPr lang="en-US" sz="1100" b="1" dirty="0">
                <a:solidFill>
                  <a:srgbClr val="1A7A4A"/>
                </a:solidFill>
              </a:rPr>
              <a:t>3–4</a:t>
            </a:r>
            <a:endParaRPr lang="en-US" sz="1100" dirty="0"/>
          </a:p>
        </p:txBody>
      </p:sp>
      <p:sp>
        <p:nvSpPr>
          <p:cNvPr id="24" name="Shape 22"/>
          <p:cNvSpPr/>
          <p:nvPr/>
        </p:nvSpPr>
        <p:spPr>
          <a:xfrm>
            <a:off x="2450592" y="1371600"/>
            <a:ext cx="1965960" cy="3429000"/>
          </a:xfrm>
          <a:prstGeom prst="rect">
            <a:avLst/>
          </a:prstGeom>
          <a:solidFill>
            <a:srgbClr val="D6E8FA"/>
          </a:solidFill>
          <a:ln w="12700">
            <a:solidFill>
              <a:srgbClr val="2E75B6"/>
            </a:solidFill>
            <a:prstDash val="solid"/>
          </a:ln>
          <a:effectLst>
            <a:outerShdw blurRad="76200" dist="25400" dir="8100000" algn="bl" rotWithShape="0">
              <a:srgbClr val="000000">
                <a:alpha val="12000"/>
              </a:srgbClr>
            </a:outerShdw>
          </a:effectLst>
        </p:spPr>
      </p:sp>
      <p:sp>
        <p:nvSpPr>
          <p:cNvPr id="25" name="Shape 23"/>
          <p:cNvSpPr/>
          <p:nvPr/>
        </p:nvSpPr>
        <p:spPr>
          <a:xfrm>
            <a:off x="2450592" y="1371600"/>
            <a:ext cx="1965960" cy="502920"/>
          </a:xfrm>
          <a:prstGeom prst="rect">
            <a:avLst/>
          </a:prstGeom>
          <a:solidFill>
            <a:srgbClr val="2E75B6"/>
          </a:solidFill>
          <a:ln w="12700">
            <a:solidFill>
              <a:srgbClr val="2E75B6"/>
            </a:solidFill>
            <a:prstDash val="solid"/>
          </a:ln>
        </p:spPr>
      </p:sp>
      <p:sp>
        <p:nvSpPr>
          <p:cNvPr id="26" name="Text 24"/>
          <p:cNvSpPr/>
          <p:nvPr/>
        </p:nvSpPr>
        <p:spPr>
          <a:xfrm>
            <a:off x="2450592" y="1371600"/>
            <a:ext cx="1965960" cy="256032"/>
          </a:xfrm>
          <a:prstGeom prst="rect">
            <a:avLst/>
          </a:prstGeom>
          <a:noFill/>
          <a:ln/>
        </p:spPr>
        <p:txBody>
          <a:bodyPr wrap="square" lIns="0" tIns="0" rIns="0" bIns="0" rtlCol="0" anchor="ctr"/>
          <a:lstStyle/>
          <a:p>
            <a:pPr marL="0" indent="0" algn="ctr">
              <a:buNone/>
            </a:pPr>
            <a:r>
              <a:rPr lang="en-US" sz="950" b="1" dirty="0">
                <a:solidFill>
                  <a:srgbClr val="FFFFFF"/>
                </a:solidFill>
              </a:rPr>
              <a:t>Cluster 2</a:t>
            </a:r>
            <a:endParaRPr lang="en-US" sz="950" dirty="0"/>
          </a:p>
        </p:txBody>
      </p:sp>
      <p:sp>
        <p:nvSpPr>
          <p:cNvPr id="27" name="Text 25"/>
          <p:cNvSpPr/>
          <p:nvPr/>
        </p:nvSpPr>
        <p:spPr>
          <a:xfrm>
            <a:off x="2450592" y="1627632"/>
            <a:ext cx="1965960" cy="246888"/>
          </a:xfrm>
          <a:prstGeom prst="rect">
            <a:avLst/>
          </a:prstGeom>
          <a:noFill/>
          <a:ln/>
        </p:spPr>
        <p:txBody>
          <a:bodyPr wrap="square" lIns="0" tIns="0" rIns="0" bIns="0" rtlCol="0" anchor="ctr"/>
          <a:lstStyle/>
          <a:p>
            <a:pPr marL="0" indent="0" algn="ctr">
              <a:buNone/>
            </a:pPr>
            <a:r>
              <a:rPr lang="en-US" sz="900" dirty="0">
                <a:solidFill>
                  <a:srgbClr val="FFFFFF"/>
                </a:solidFill>
              </a:rPr>
              <a:t>Average Student</a:t>
            </a:r>
            <a:endParaRPr lang="en-US" sz="900" dirty="0"/>
          </a:p>
        </p:txBody>
      </p:sp>
      <p:sp>
        <p:nvSpPr>
          <p:cNvPr id="28" name="Shape 26"/>
          <p:cNvSpPr/>
          <p:nvPr/>
        </p:nvSpPr>
        <p:spPr>
          <a:xfrm>
            <a:off x="2523744" y="1965960"/>
            <a:ext cx="1819656" cy="594360"/>
          </a:xfrm>
          <a:prstGeom prst="rect">
            <a:avLst/>
          </a:prstGeom>
          <a:solidFill>
            <a:srgbClr val="FFFFFF"/>
          </a:solidFill>
          <a:ln w="6350">
            <a:solidFill>
              <a:srgbClr val="2E75B6"/>
            </a:solidFill>
            <a:prstDash val="solid"/>
          </a:ln>
        </p:spPr>
      </p:sp>
      <p:sp>
        <p:nvSpPr>
          <p:cNvPr id="29" name="Text 27"/>
          <p:cNvSpPr/>
          <p:nvPr/>
        </p:nvSpPr>
        <p:spPr>
          <a:xfrm>
            <a:off x="2560320" y="1993392"/>
            <a:ext cx="1746504" cy="256032"/>
          </a:xfrm>
          <a:prstGeom prst="rect">
            <a:avLst/>
          </a:prstGeom>
          <a:noFill/>
          <a:ln/>
        </p:spPr>
        <p:txBody>
          <a:bodyPr wrap="square" rtlCol="0" anchor="ctr"/>
          <a:lstStyle/>
          <a:p>
            <a:pPr marL="0" indent="0">
              <a:buNone/>
            </a:pPr>
            <a:r>
              <a:rPr lang="en-US" sz="850" dirty="0">
                <a:solidFill>
                  <a:srgbClr val="5A6A7E"/>
                </a:solidFill>
              </a:rPr>
              <a:t>Avg Grade</a:t>
            </a:r>
            <a:endParaRPr lang="en-US" sz="850" dirty="0"/>
          </a:p>
        </p:txBody>
      </p:sp>
      <p:sp>
        <p:nvSpPr>
          <p:cNvPr id="30" name="Text 28"/>
          <p:cNvSpPr/>
          <p:nvPr/>
        </p:nvSpPr>
        <p:spPr>
          <a:xfrm>
            <a:off x="2560320" y="2231136"/>
            <a:ext cx="1746504" cy="274320"/>
          </a:xfrm>
          <a:prstGeom prst="rect">
            <a:avLst/>
          </a:prstGeom>
          <a:noFill/>
          <a:ln/>
        </p:spPr>
        <p:txBody>
          <a:bodyPr wrap="square" rtlCol="0" anchor="ctr"/>
          <a:lstStyle/>
          <a:p>
            <a:pPr marL="0" indent="0">
              <a:buNone/>
            </a:pPr>
            <a:r>
              <a:rPr lang="en-US" sz="1100" b="1" dirty="0">
                <a:solidFill>
                  <a:srgbClr val="2E75B6"/>
                </a:solidFill>
              </a:rPr>
              <a:t>10–14</a:t>
            </a:r>
            <a:endParaRPr lang="en-US" sz="1100" dirty="0"/>
          </a:p>
        </p:txBody>
      </p:sp>
      <p:sp>
        <p:nvSpPr>
          <p:cNvPr id="31" name="Shape 29"/>
          <p:cNvSpPr/>
          <p:nvPr/>
        </p:nvSpPr>
        <p:spPr>
          <a:xfrm>
            <a:off x="2523744" y="2624328"/>
            <a:ext cx="1819656" cy="594360"/>
          </a:xfrm>
          <a:prstGeom prst="rect">
            <a:avLst/>
          </a:prstGeom>
          <a:solidFill>
            <a:srgbClr val="FFFFFF"/>
          </a:solidFill>
          <a:ln w="6350">
            <a:solidFill>
              <a:srgbClr val="2E75B6"/>
            </a:solidFill>
            <a:prstDash val="solid"/>
          </a:ln>
        </p:spPr>
      </p:sp>
      <p:sp>
        <p:nvSpPr>
          <p:cNvPr id="32" name="Text 30"/>
          <p:cNvSpPr/>
          <p:nvPr/>
        </p:nvSpPr>
        <p:spPr>
          <a:xfrm>
            <a:off x="2560320" y="2651760"/>
            <a:ext cx="1746504" cy="256032"/>
          </a:xfrm>
          <a:prstGeom prst="rect">
            <a:avLst/>
          </a:prstGeom>
          <a:noFill/>
          <a:ln/>
        </p:spPr>
        <p:txBody>
          <a:bodyPr wrap="square" rtlCol="0" anchor="ctr"/>
          <a:lstStyle/>
          <a:p>
            <a:pPr marL="0" indent="0">
              <a:buNone/>
            </a:pPr>
            <a:r>
              <a:rPr lang="en-US" sz="850" dirty="0">
                <a:solidFill>
                  <a:srgbClr val="5A6A7E"/>
                </a:solidFill>
              </a:rPr>
              <a:t>Absences</a:t>
            </a:r>
            <a:endParaRPr lang="en-US" sz="850" dirty="0"/>
          </a:p>
        </p:txBody>
      </p:sp>
      <p:sp>
        <p:nvSpPr>
          <p:cNvPr id="33" name="Text 31"/>
          <p:cNvSpPr/>
          <p:nvPr/>
        </p:nvSpPr>
        <p:spPr>
          <a:xfrm>
            <a:off x="2560320" y="2889504"/>
            <a:ext cx="1746504" cy="274320"/>
          </a:xfrm>
          <a:prstGeom prst="rect">
            <a:avLst/>
          </a:prstGeom>
          <a:noFill/>
          <a:ln/>
        </p:spPr>
        <p:txBody>
          <a:bodyPr wrap="square" rtlCol="0" anchor="ctr"/>
          <a:lstStyle/>
          <a:p>
            <a:pPr marL="0" indent="0">
              <a:buNone/>
            </a:pPr>
            <a:r>
              <a:rPr lang="en-US" sz="1100" b="1" dirty="0">
                <a:solidFill>
                  <a:srgbClr val="2E75B6"/>
                </a:solidFill>
              </a:rPr>
              <a:t>4–8</a:t>
            </a:r>
            <a:endParaRPr lang="en-US" sz="1100" dirty="0"/>
          </a:p>
        </p:txBody>
      </p:sp>
      <p:sp>
        <p:nvSpPr>
          <p:cNvPr id="34" name="Shape 32"/>
          <p:cNvSpPr/>
          <p:nvPr/>
        </p:nvSpPr>
        <p:spPr>
          <a:xfrm>
            <a:off x="2523744" y="3282696"/>
            <a:ext cx="1819656" cy="594360"/>
          </a:xfrm>
          <a:prstGeom prst="rect">
            <a:avLst/>
          </a:prstGeom>
          <a:solidFill>
            <a:srgbClr val="FFFFFF"/>
          </a:solidFill>
          <a:ln w="6350">
            <a:solidFill>
              <a:srgbClr val="2E75B6"/>
            </a:solidFill>
            <a:prstDash val="solid"/>
          </a:ln>
        </p:spPr>
      </p:sp>
      <p:sp>
        <p:nvSpPr>
          <p:cNvPr id="35" name="Text 33"/>
          <p:cNvSpPr/>
          <p:nvPr/>
        </p:nvSpPr>
        <p:spPr>
          <a:xfrm>
            <a:off x="2560320" y="3310128"/>
            <a:ext cx="1746504" cy="256032"/>
          </a:xfrm>
          <a:prstGeom prst="rect">
            <a:avLst/>
          </a:prstGeom>
          <a:noFill/>
          <a:ln/>
        </p:spPr>
        <p:txBody>
          <a:bodyPr wrap="square" rtlCol="0" anchor="ctr"/>
          <a:lstStyle/>
          <a:p>
            <a:pPr marL="0" indent="0">
              <a:buNone/>
            </a:pPr>
            <a:r>
              <a:rPr lang="en-US" sz="850" dirty="0">
                <a:solidFill>
                  <a:srgbClr val="5A6A7E"/>
                </a:solidFill>
              </a:rPr>
              <a:t>Failures</a:t>
            </a:r>
            <a:endParaRPr lang="en-US" sz="850" dirty="0"/>
          </a:p>
        </p:txBody>
      </p:sp>
      <p:sp>
        <p:nvSpPr>
          <p:cNvPr id="36" name="Text 34"/>
          <p:cNvSpPr/>
          <p:nvPr/>
        </p:nvSpPr>
        <p:spPr>
          <a:xfrm>
            <a:off x="2560320" y="3547872"/>
            <a:ext cx="1746504" cy="274320"/>
          </a:xfrm>
          <a:prstGeom prst="rect">
            <a:avLst/>
          </a:prstGeom>
          <a:noFill/>
          <a:ln/>
        </p:spPr>
        <p:txBody>
          <a:bodyPr wrap="square" rtlCol="0" anchor="ctr"/>
          <a:lstStyle/>
          <a:p>
            <a:pPr marL="0" indent="0">
              <a:buNone/>
            </a:pPr>
            <a:r>
              <a:rPr lang="en-US" sz="1100" b="1" dirty="0">
                <a:solidFill>
                  <a:srgbClr val="2E75B6"/>
                </a:solidFill>
              </a:rPr>
              <a:t>0-1</a:t>
            </a:r>
            <a:endParaRPr lang="en-US" sz="1100" dirty="0"/>
          </a:p>
        </p:txBody>
      </p:sp>
      <p:sp>
        <p:nvSpPr>
          <p:cNvPr id="37" name="Shape 35"/>
          <p:cNvSpPr/>
          <p:nvPr/>
        </p:nvSpPr>
        <p:spPr>
          <a:xfrm>
            <a:off x="2523744" y="3941064"/>
            <a:ext cx="1819656" cy="594360"/>
          </a:xfrm>
          <a:prstGeom prst="rect">
            <a:avLst/>
          </a:prstGeom>
          <a:solidFill>
            <a:srgbClr val="FFFFFF"/>
          </a:solidFill>
          <a:ln w="6350">
            <a:solidFill>
              <a:srgbClr val="2E75B6"/>
            </a:solidFill>
            <a:prstDash val="solid"/>
          </a:ln>
        </p:spPr>
      </p:sp>
      <p:sp>
        <p:nvSpPr>
          <p:cNvPr id="38" name="Text 36"/>
          <p:cNvSpPr/>
          <p:nvPr/>
        </p:nvSpPr>
        <p:spPr>
          <a:xfrm>
            <a:off x="2560320" y="3968496"/>
            <a:ext cx="1746504" cy="256032"/>
          </a:xfrm>
          <a:prstGeom prst="rect">
            <a:avLst/>
          </a:prstGeom>
          <a:noFill/>
          <a:ln/>
        </p:spPr>
        <p:txBody>
          <a:bodyPr wrap="square" rtlCol="0" anchor="ctr"/>
          <a:lstStyle/>
          <a:p>
            <a:pPr marL="0" indent="0">
              <a:buNone/>
            </a:pPr>
            <a:r>
              <a:rPr lang="en-US" sz="850" dirty="0">
                <a:solidFill>
                  <a:srgbClr val="5A6A7E"/>
                </a:solidFill>
              </a:rPr>
              <a:t>Study Time</a:t>
            </a:r>
            <a:endParaRPr lang="en-US" sz="850" dirty="0"/>
          </a:p>
        </p:txBody>
      </p:sp>
      <p:sp>
        <p:nvSpPr>
          <p:cNvPr id="39" name="Text 37"/>
          <p:cNvSpPr/>
          <p:nvPr/>
        </p:nvSpPr>
        <p:spPr>
          <a:xfrm>
            <a:off x="2560320" y="4206240"/>
            <a:ext cx="1746504" cy="274320"/>
          </a:xfrm>
          <a:prstGeom prst="rect">
            <a:avLst/>
          </a:prstGeom>
          <a:noFill/>
          <a:ln/>
        </p:spPr>
        <p:txBody>
          <a:bodyPr wrap="square" rtlCol="0" anchor="ctr"/>
          <a:lstStyle/>
          <a:p>
            <a:pPr marL="0" indent="0">
              <a:buNone/>
            </a:pPr>
            <a:r>
              <a:rPr lang="en-US" sz="1100" b="1" dirty="0">
                <a:solidFill>
                  <a:srgbClr val="2E75B6"/>
                </a:solidFill>
              </a:rPr>
              <a:t>2–3</a:t>
            </a:r>
            <a:endParaRPr lang="en-US" sz="1100" dirty="0"/>
          </a:p>
        </p:txBody>
      </p:sp>
      <p:sp>
        <p:nvSpPr>
          <p:cNvPr id="40" name="Shape 38"/>
          <p:cNvSpPr/>
          <p:nvPr/>
        </p:nvSpPr>
        <p:spPr>
          <a:xfrm>
            <a:off x="4626864" y="1371600"/>
            <a:ext cx="1965960" cy="3429000"/>
          </a:xfrm>
          <a:prstGeom prst="rect">
            <a:avLst/>
          </a:prstGeom>
          <a:solidFill>
            <a:srgbClr val="FCE8E8"/>
          </a:solidFill>
          <a:ln w="12700">
            <a:solidFill>
              <a:srgbClr val="B91C1C"/>
            </a:solidFill>
            <a:prstDash val="solid"/>
          </a:ln>
          <a:effectLst>
            <a:outerShdw blurRad="76200" dist="25400" dir="8100000" algn="bl" rotWithShape="0">
              <a:srgbClr val="000000">
                <a:alpha val="12000"/>
              </a:srgbClr>
            </a:outerShdw>
          </a:effectLst>
        </p:spPr>
      </p:sp>
      <p:sp>
        <p:nvSpPr>
          <p:cNvPr id="41" name="Shape 39"/>
          <p:cNvSpPr/>
          <p:nvPr/>
        </p:nvSpPr>
        <p:spPr>
          <a:xfrm>
            <a:off x="4626864" y="1371600"/>
            <a:ext cx="1965960" cy="502920"/>
          </a:xfrm>
          <a:prstGeom prst="rect">
            <a:avLst/>
          </a:prstGeom>
          <a:solidFill>
            <a:srgbClr val="B91C1C"/>
          </a:solidFill>
          <a:ln w="12700">
            <a:solidFill>
              <a:srgbClr val="B91C1C"/>
            </a:solidFill>
            <a:prstDash val="solid"/>
          </a:ln>
        </p:spPr>
      </p:sp>
      <p:sp>
        <p:nvSpPr>
          <p:cNvPr id="42" name="Text 40"/>
          <p:cNvSpPr/>
          <p:nvPr/>
        </p:nvSpPr>
        <p:spPr>
          <a:xfrm>
            <a:off x="4626864" y="1371600"/>
            <a:ext cx="1965960" cy="256032"/>
          </a:xfrm>
          <a:prstGeom prst="rect">
            <a:avLst/>
          </a:prstGeom>
          <a:noFill/>
          <a:ln/>
        </p:spPr>
        <p:txBody>
          <a:bodyPr wrap="square" lIns="0" tIns="0" rIns="0" bIns="0" rtlCol="0" anchor="ctr"/>
          <a:lstStyle/>
          <a:p>
            <a:pPr marL="0" indent="0" algn="ctr">
              <a:buNone/>
            </a:pPr>
            <a:r>
              <a:rPr lang="en-US" sz="950" b="1" dirty="0">
                <a:solidFill>
                  <a:srgbClr val="FFFFFF"/>
                </a:solidFill>
              </a:rPr>
              <a:t>Cluster 3</a:t>
            </a:r>
            <a:endParaRPr lang="en-US" sz="950" dirty="0"/>
          </a:p>
        </p:txBody>
      </p:sp>
      <p:sp>
        <p:nvSpPr>
          <p:cNvPr id="43" name="Text 41"/>
          <p:cNvSpPr/>
          <p:nvPr/>
        </p:nvSpPr>
        <p:spPr>
          <a:xfrm>
            <a:off x="4626864" y="1627632"/>
            <a:ext cx="1965960" cy="246888"/>
          </a:xfrm>
          <a:prstGeom prst="rect">
            <a:avLst/>
          </a:prstGeom>
          <a:noFill/>
          <a:ln/>
        </p:spPr>
        <p:txBody>
          <a:bodyPr wrap="square" lIns="0" tIns="0" rIns="0" bIns="0" rtlCol="0" anchor="ctr"/>
          <a:lstStyle/>
          <a:p>
            <a:pPr marL="0" indent="0" algn="ctr">
              <a:buNone/>
            </a:pPr>
            <a:r>
              <a:rPr lang="en-US" sz="900" dirty="0">
                <a:solidFill>
                  <a:srgbClr val="FFFFFF"/>
                </a:solidFill>
              </a:rPr>
              <a:t>At-Risk Student</a:t>
            </a:r>
            <a:endParaRPr lang="en-US" sz="900" dirty="0"/>
          </a:p>
        </p:txBody>
      </p:sp>
      <p:sp>
        <p:nvSpPr>
          <p:cNvPr id="44" name="Shape 42"/>
          <p:cNvSpPr/>
          <p:nvPr/>
        </p:nvSpPr>
        <p:spPr>
          <a:xfrm>
            <a:off x="4700016" y="1965960"/>
            <a:ext cx="1819656" cy="594360"/>
          </a:xfrm>
          <a:prstGeom prst="rect">
            <a:avLst/>
          </a:prstGeom>
          <a:solidFill>
            <a:srgbClr val="FFFFFF"/>
          </a:solidFill>
          <a:ln w="6350">
            <a:solidFill>
              <a:srgbClr val="B91C1C"/>
            </a:solidFill>
            <a:prstDash val="solid"/>
          </a:ln>
        </p:spPr>
      </p:sp>
      <p:sp>
        <p:nvSpPr>
          <p:cNvPr id="45" name="Text 43"/>
          <p:cNvSpPr/>
          <p:nvPr/>
        </p:nvSpPr>
        <p:spPr>
          <a:xfrm>
            <a:off x="4736592" y="1993392"/>
            <a:ext cx="1746504" cy="256032"/>
          </a:xfrm>
          <a:prstGeom prst="rect">
            <a:avLst/>
          </a:prstGeom>
          <a:noFill/>
          <a:ln/>
        </p:spPr>
        <p:txBody>
          <a:bodyPr wrap="square" rtlCol="0" anchor="ctr"/>
          <a:lstStyle/>
          <a:p>
            <a:pPr marL="0" indent="0">
              <a:buNone/>
            </a:pPr>
            <a:r>
              <a:rPr lang="en-US" sz="850" dirty="0">
                <a:solidFill>
                  <a:srgbClr val="5A6A7E"/>
                </a:solidFill>
              </a:rPr>
              <a:t>Avg Grade</a:t>
            </a:r>
            <a:endParaRPr lang="en-US" sz="850" dirty="0"/>
          </a:p>
        </p:txBody>
      </p:sp>
      <p:sp>
        <p:nvSpPr>
          <p:cNvPr id="46" name="Text 44"/>
          <p:cNvSpPr/>
          <p:nvPr/>
        </p:nvSpPr>
        <p:spPr>
          <a:xfrm>
            <a:off x="4736592" y="2231136"/>
            <a:ext cx="1746504" cy="274320"/>
          </a:xfrm>
          <a:prstGeom prst="rect">
            <a:avLst/>
          </a:prstGeom>
          <a:noFill/>
          <a:ln/>
        </p:spPr>
        <p:txBody>
          <a:bodyPr wrap="square" rtlCol="0" anchor="ctr"/>
          <a:lstStyle/>
          <a:p>
            <a:pPr marL="0" indent="0">
              <a:buNone/>
            </a:pPr>
            <a:r>
              <a:rPr lang="en-US" sz="1100" b="1" dirty="0">
                <a:solidFill>
                  <a:srgbClr val="B91C1C"/>
                </a:solidFill>
              </a:rPr>
              <a:t>4–8</a:t>
            </a:r>
            <a:endParaRPr lang="en-US" sz="1100" dirty="0"/>
          </a:p>
        </p:txBody>
      </p:sp>
      <p:sp>
        <p:nvSpPr>
          <p:cNvPr id="47" name="Shape 45"/>
          <p:cNvSpPr/>
          <p:nvPr/>
        </p:nvSpPr>
        <p:spPr>
          <a:xfrm>
            <a:off x="4700016" y="2624328"/>
            <a:ext cx="1819656" cy="594360"/>
          </a:xfrm>
          <a:prstGeom prst="rect">
            <a:avLst/>
          </a:prstGeom>
          <a:solidFill>
            <a:srgbClr val="FFFFFF"/>
          </a:solidFill>
          <a:ln w="6350">
            <a:solidFill>
              <a:srgbClr val="B91C1C"/>
            </a:solidFill>
            <a:prstDash val="solid"/>
          </a:ln>
        </p:spPr>
      </p:sp>
      <p:sp>
        <p:nvSpPr>
          <p:cNvPr id="48" name="Text 46"/>
          <p:cNvSpPr/>
          <p:nvPr/>
        </p:nvSpPr>
        <p:spPr>
          <a:xfrm>
            <a:off x="4736592" y="2651760"/>
            <a:ext cx="1746504" cy="256032"/>
          </a:xfrm>
          <a:prstGeom prst="rect">
            <a:avLst/>
          </a:prstGeom>
          <a:noFill/>
          <a:ln/>
        </p:spPr>
        <p:txBody>
          <a:bodyPr wrap="square" rtlCol="0" anchor="ctr"/>
          <a:lstStyle/>
          <a:p>
            <a:pPr marL="0" indent="0">
              <a:buNone/>
            </a:pPr>
            <a:r>
              <a:rPr lang="en-US" sz="850" dirty="0">
                <a:solidFill>
                  <a:srgbClr val="5A6A7E"/>
                </a:solidFill>
              </a:rPr>
              <a:t>Absences</a:t>
            </a:r>
            <a:endParaRPr lang="en-US" sz="850" dirty="0"/>
          </a:p>
        </p:txBody>
      </p:sp>
      <p:sp>
        <p:nvSpPr>
          <p:cNvPr id="49" name="Text 47"/>
          <p:cNvSpPr/>
          <p:nvPr/>
        </p:nvSpPr>
        <p:spPr>
          <a:xfrm>
            <a:off x="4736592" y="2889504"/>
            <a:ext cx="1746504" cy="274320"/>
          </a:xfrm>
          <a:prstGeom prst="rect">
            <a:avLst/>
          </a:prstGeom>
          <a:noFill/>
          <a:ln/>
        </p:spPr>
        <p:txBody>
          <a:bodyPr wrap="square" rtlCol="0" anchor="ctr"/>
          <a:lstStyle/>
          <a:p>
            <a:pPr marL="0" indent="0">
              <a:buNone/>
            </a:pPr>
            <a:r>
              <a:rPr lang="en-US" sz="1100" b="1" dirty="0">
                <a:solidFill>
                  <a:srgbClr val="B91C1C"/>
                </a:solidFill>
              </a:rPr>
              <a:t>15+</a:t>
            </a:r>
            <a:endParaRPr lang="en-US" sz="1100" dirty="0"/>
          </a:p>
        </p:txBody>
      </p:sp>
      <p:sp>
        <p:nvSpPr>
          <p:cNvPr id="50" name="Shape 48"/>
          <p:cNvSpPr/>
          <p:nvPr/>
        </p:nvSpPr>
        <p:spPr>
          <a:xfrm>
            <a:off x="4700016" y="3282696"/>
            <a:ext cx="1819656" cy="594360"/>
          </a:xfrm>
          <a:prstGeom prst="rect">
            <a:avLst/>
          </a:prstGeom>
          <a:solidFill>
            <a:srgbClr val="FFFFFF"/>
          </a:solidFill>
          <a:ln w="6350">
            <a:solidFill>
              <a:srgbClr val="B91C1C"/>
            </a:solidFill>
            <a:prstDash val="solid"/>
          </a:ln>
        </p:spPr>
      </p:sp>
      <p:sp>
        <p:nvSpPr>
          <p:cNvPr id="51" name="Text 49"/>
          <p:cNvSpPr/>
          <p:nvPr/>
        </p:nvSpPr>
        <p:spPr>
          <a:xfrm>
            <a:off x="4736592" y="3310128"/>
            <a:ext cx="1746504" cy="256032"/>
          </a:xfrm>
          <a:prstGeom prst="rect">
            <a:avLst/>
          </a:prstGeom>
          <a:noFill/>
          <a:ln/>
        </p:spPr>
        <p:txBody>
          <a:bodyPr wrap="square" rtlCol="0" anchor="ctr"/>
          <a:lstStyle/>
          <a:p>
            <a:pPr marL="0" indent="0">
              <a:buNone/>
            </a:pPr>
            <a:r>
              <a:rPr lang="en-US" sz="850" dirty="0">
                <a:solidFill>
                  <a:srgbClr val="5A6A7E"/>
                </a:solidFill>
              </a:rPr>
              <a:t>Failures</a:t>
            </a:r>
            <a:endParaRPr lang="en-US" sz="850" dirty="0"/>
          </a:p>
        </p:txBody>
      </p:sp>
      <p:sp>
        <p:nvSpPr>
          <p:cNvPr id="52" name="Text 50"/>
          <p:cNvSpPr/>
          <p:nvPr/>
        </p:nvSpPr>
        <p:spPr>
          <a:xfrm>
            <a:off x="4736592" y="3547872"/>
            <a:ext cx="1746504" cy="274320"/>
          </a:xfrm>
          <a:prstGeom prst="rect">
            <a:avLst/>
          </a:prstGeom>
          <a:noFill/>
          <a:ln/>
        </p:spPr>
        <p:txBody>
          <a:bodyPr wrap="square" rtlCol="0" anchor="ctr"/>
          <a:lstStyle/>
          <a:p>
            <a:pPr marL="0" indent="0">
              <a:buNone/>
            </a:pPr>
            <a:r>
              <a:rPr lang="en-US" sz="1100" b="1" dirty="0">
                <a:solidFill>
                  <a:srgbClr val="B91C1C"/>
                </a:solidFill>
              </a:rPr>
              <a:t>2–3</a:t>
            </a:r>
            <a:endParaRPr lang="en-US" sz="1100" dirty="0"/>
          </a:p>
        </p:txBody>
      </p:sp>
      <p:sp>
        <p:nvSpPr>
          <p:cNvPr id="53" name="Shape 51"/>
          <p:cNvSpPr/>
          <p:nvPr/>
        </p:nvSpPr>
        <p:spPr>
          <a:xfrm>
            <a:off x="4700016" y="3941064"/>
            <a:ext cx="1819656" cy="594360"/>
          </a:xfrm>
          <a:prstGeom prst="rect">
            <a:avLst/>
          </a:prstGeom>
          <a:solidFill>
            <a:srgbClr val="FFFFFF"/>
          </a:solidFill>
          <a:ln w="6350">
            <a:solidFill>
              <a:srgbClr val="B91C1C"/>
            </a:solidFill>
            <a:prstDash val="solid"/>
          </a:ln>
        </p:spPr>
      </p:sp>
      <p:sp>
        <p:nvSpPr>
          <p:cNvPr id="54" name="Text 52"/>
          <p:cNvSpPr/>
          <p:nvPr/>
        </p:nvSpPr>
        <p:spPr>
          <a:xfrm>
            <a:off x="4736592" y="3968496"/>
            <a:ext cx="1746504" cy="256032"/>
          </a:xfrm>
          <a:prstGeom prst="rect">
            <a:avLst/>
          </a:prstGeom>
          <a:noFill/>
          <a:ln/>
        </p:spPr>
        <p:txBody>
          <a:bodyPr wrap="square" rtlCol="0" anchor="ctr"/>
          <a:lstStyle/>
          <a:p>
            <a:pPr marL="0" indent="0">
              <a:buNone/>
            </a:pPr>
            <a:r>
              <a:rPr lang="en-US" sz="850" dirty="0">
                <a:solidFill>
                  <a:srgbClr val="5A6A7E"/>
                </a:solidFill>
              </a:rPr>
              <a:t>Study Time</a:t>
            </a:r>
            <a:endParaRPr lang="en-US" sz="850" dirty="0"/>
          </a:p>
        </p:txBody>
      </p:sp>
      <p:sp>
        <p:nvSpPr>
          <p:cNvPr id="55" name="Text 53"/>
          <p:cNvSpPr/>
          <p:nvPr/>
        </p:nvSpPr>
        <p:spPr>
          <a:xfrm>
            <a:off x="4736592" y="4206240"/>
            <a:ext cx="1746504" cy="274320"/>
          </a:xfrm>
          <a:prstGeom prst="rect">
            <a:avLst/>
          </a:prstGeom>
          <a:noFill/>
          <a:ln/>
        </p:spPr>
        <p:txBody>
          <a:bodyPr wrap="square" rtlCol="0" anchor="ctr"/>
          <a:lstStyle/>
          <a:p>
            <a:pPr marL="0" indent="0">
              <a:buNone/>
            </a:pPr>
            <a:r>
              <a:rPr lang="en-US" sz="1100" b="1" dirty="0">
                <a:solidFill>
                  <a:srgbClr val="B91C1C"/>
                </a:solidFill>
              </a:rPr>
              <a:t>1</a:t>
            </a:r>
            <a:endParaRPr lang="en-US" sz="1100" dirty="0"/>
          </a:p>
        </p:txBody>
      </p:sp>
      <p:sp>
        <p:nvSpPr>
          <p:cNvPr id="56" name="Shape 54"/>
          <p:cNvSpPr/>
          <p:nvPr/>
        </p:nvSpPr>
        <p:spPr>
          <a:xfrm>
            <a:off x="6803136" y="1371600"/>
            <a:ext cx="1965960" cy="3429000"/>
          </a:xfrm>
          <a:prstGeom prst="rect">
            <a:avLst/>
          </a:prstGeom>
          <a:solidFill>
            <a:srgbClr val="FEF3C7"/>
          </a:solidFill>
          <a:ln w="12700">
            <a:solidFill>
              <a:srgbClr val="E07B39"/>
            </a:solidFill>
            <a:prstDash val="solid"/>
          </a:ln>
          <a:effectLst>
            <a:outerShdw blurRad="76200" dist="25400" dir="8100000" algn="bl" rotWithShape="0">
              <a:srgbClr val="000000">
                <a:alpha val="12000"/>
              </a:srgbClr>
            </a:outerShdw>
          </a:effectLst>
        </p:spPr>
      </p:sp>
      <p:sp>
        <p:nvSpPr>
          <p:cNvPr id="57" name="Shape 55"/>
          <p:cNvSpPr/>
          <p:nvPr/>
        </p:nvSpPr>
        <p:spPr>
          <a:xfrm>
            <a:off x="6803136" y="1371600"/>
            <a:ext cx="1965960" cy="502920"/>
          </a:xfrm>
          <a:prstGeom prst="rect">
            <a:avLst/>
          </a:prstGeom>
          <a:solidFill>
            <a:srgbClr val="E07B39"/>
          </a:solidFill>
          <a:ln w="12700">
            <a:solidFill>
              <a:srgbClr val="E07B39"/>
            </a:solidFill>
            <a:prstDash val="solid"/>
          </a:ln>
        </p:spPr>
      </p:sp>
      <p:sp>
        <p:nvSpPr>
          <p:cNvPr id="58" name="Text 56"/>
          <p:cNvSpPr/>
          <p:nvPr/>
        </p:nvSpPr>
        <p:spPr>
          <a:xfrm>
            <a:off x="6803136" y="1371600"/>
            <a:ext cx="1965960" cy="256032"/>
          </a:xfrm>
          <a:prstGeom prst="rect">
            <a:avLst/>
          </a:prstGeom>
          <a:noFill/>
          <a:ln/>
        </p:spPr>
        <p:txBody>
          <a:bodyPr wrap="square" lIns="0" tIns="0" rIns="0" bIns="0" rtlCol="0" anchor="ctr"/>
          <a:lstStyle/>
          <a:p>
            <a:pPr marL="0" indent="0" algn="ctr">
              <a:buNone/>
            </a:pPr>
            <a:r>
              <a:rPr lang="en-US" sz="950" b="1" dirty="0">
                <a:solidFill>
                  <a:srgbClr val="FFFFFF"/>
                </a:solidFill>
              </a:rPr>
              <a:t>Cluster 4</a:t>
            </a:r>
            <a:endParaRPr lang="en-US" sz="950" dirty="0"/>
          </a:p>
        </p:txBody>
      </p:sp>
      <p:sp>
        <p:nvSpPr>
          <p:cNvPr id="59" name="Text 57"/>
          <p:cNvSpPr/>
          <p:nvPr/>
        </p:nvSpPr>
        <p:spPr>
          <a:xfrm>
            <a:off x="6803136" y="1627632"/>
            <a:ext cx="1965960" cy="246888"/>
          </a:xfrm>
          <a:prstGeom prst="rect">
            <a:avLst/>
          </a:prstGeom>
          <a:noFill/>
          <a:ln/>
        </p:spPr>
        <p:txBody>
          <a:bodyPr wrap="square" lIns="0" tIns="0" rIns="0" bIns="0" rtlCol="0" anchor="ctr"/>
          <a:lstStyle/>
          <a:p>
            <a:pPr marL="0" indent="0" algn="ctr">
              <a:buNone/>
            </a:pPr>
            <a:r>
              <a:rPr lang="en-US" sz="900" dirty="0">
                <a:solidFill>
                  <a:srgbClr val="FFFFFF"/>
                </a:solidFill>
              </a:rPr>
              <a:t>Disengaged</a:t>
            </a:r>
            <a:endParaRPr lang="en-US" sz="900" dirty="0"/>
          </a:p>
        </p:txBody>
      </p:sp>
      <p:sp>
        <p:nvSpPr>
          <p:cNvPr id="60" name="Shape 58"/>
          <p:cNvSpPr/>
          <p:nvPr/>
        </p:nvSpPr>
        <p:spPr>
          <a:xfrm>
            <a:off x="6876288" y="1965960"/>
            <a:ext cx="1819656" cy="594360"/>
          </a:xfrm>
          <a:prstGeom prst="rect">
            <a:avLst/>
          </a:prstGeom>
          <a:solidFill>
            <a:srgbClr val="FFFFFF"/>
          </a:solidFill>
          <a:ln w="6350">
            <a:solidFill>
              <a:srgbClr val="E07B39"/>
            </a:solidFill>
            <a:prstDash val="solid"/>
          </a:ln>
        </p:spPr>
      </p:sp>
      <p:sp>
        <p:nvSpPr>
          <p:cNvPr id="61" name="Text 59"/>
          <p:cNvSpPr/>
          <p:nvPr/>
        </p:nvSpPr>
        <p:spPr>
          <a:xfrm>
            <a:off x="6912864" y="1993392"/>
            <a:ext cx="1746504" cy="256032"/>
          </a:xfrm>
          <a:prstGeom prst="rect">
            <a:avLst/>
          </a:prstGeom>
          <a:noFill/>
          <a:ln/>
        </p:spPr>
        <p:txBody>
          <a:bodyPr wrap="square" rtlCol="0" anchor="ctr"/>
          <a:lstStyle/>
          <a:p>
            <a:pPr marL="0" indent="0">
              <a:buNone/>
            </a:pPr>
            <a:r>
              <a:rPr lang="en-US" sz="850" dirty="0">
                <a:solidFill>
                  <a:srgbClr val="5A6A7E"/>
                </a:solidFill>
              </a:rPr>
              <a:t>Avg Grade</a:t>
            </a:r>
            <a:endParaRPr lang="en-US" sz="850" dirty="0"/>
          </a:p>
        </p:txBody>
      </p:sp>
      <p:sp>
        <p:nvSpPr>
          <p:cNvPr id="62" name="Text 60"/>
          <p:cNvSpPr/>
          <p:nvPr/>
        </p:nvSpPr>
        <p:spPr>
          <a:xfrm>
            <a:off x="6912864" y="2231136"/>
            <a:ext cx="1746504" cy="274320"/>
          </a:xfrm>
          <a:prstGeom prst="rect">
            <a:avLst/>
          </a:prstGeom>
          <a:noFill/>
          <a:ln/>
        </p:spPr>
        <p:txBody>
          <a:bodyPr wrap="square" rtlCol="0" anchor="ctr"/>
          <a:lstStyle/>
          <a:p>
            <a:pPr marL="0" indent="0">
              <a:buNone/>
            </a:pPr>
            <a:r>
              <a:rPr lang="en-US" sz="1100" b="1" dirty="0">
                <a:solidFill>
                  <a:srgbClr val="E07B39"/>
                </a:solidFill>
              </a:rPr>
              <a:t>8–11</a:t>
            </a:r>
            <a:endParaRPr lang="en-US" sz="1100" dirty="0"/>
          </a:p>
        </p:txBody>
      </p:sp>
      <p:sp>
        <p:nvSpPr>
          <p:cNvPr id="63" name="Shape 61"/>
          <p:cNvSpPr/>
          <p:nvPr/>
        </p:nvSpPr>
        <p:spPr>
          <a:xfrm>
            <a:off x="6876288" y="2624328"/>
            <a:ext cx="1819656" cy="594360"/>
          </a:xfrm>
          <a:prstGeom prst="rect">
            <a:avLst/>
          </a:prstGeom>
          <a:solidFill>
            <a:srgbClr val="FFFFFF"/>
          </a:solidFill>
          <a:ln w="6350">
            <a:solidFill>
              <a:srgbClr val="E07B39"/>
            </a:solidFill>
            <a:prstDash val="solid"/>
          </a:ln>
        </p:spPr>
      </p:sp>
      <p:sp>
        <p:nvSpPr>
          <p:cNvPr id="64" name="Text 62"/>
          <p:cNvSpPr/>
          <p:nvPr/>
        </p:nvSpPr>
        <p:spPr>
          <a:xfrm>
            <a:off x="6912864" y="2651760"/>
            <a:ext cx="1746504" cy="256032"/>
          </a:xfrm>
          <a:prstGeom prst="rect">
            <a:avLst/>
          </a:prstGeom>
          <a:noFill/>
          <a:ln/>
        </p:spPr>
        <p:txBody>
          <a:bodyPr wrap="square" rtlCol="0" anchor="ctr"/>
          <a:lstStyle/>
          <a:p>
            <a:pPr marL="0" indent="0">
              <a:buNone/>
            </a:pPr>
            <a:r>
              <a:rPr lang="en-US" sz="850" dirty="0">
                <a:solidFill>
                  <a:srgbClr val="5A6A7E"/>
                </a:solidFill>
              </a:rPr>
              <a:t>Absences</a:t>
            </a:r>
            <a:endParaRPr lang="en-US" sz="850" dirty="0"/>
          </a:p>
        </p:txBody>
      </p:sp>
      <p:sp>
        <p:nvSpPr>
          <p:cNvPr id="65" name="Text 63"/>
          <p:cNvSpPr/>
          <p:nvPr/>
        </p:nvSpPr>
        <p:spPr>
          <a:xfrm>
            <a:off x="6912864" y="2889504"/>
            <a:ext cx="1746504" cy="274320"/>
          </a:xfrm>
          <a:prstGeom prst="rect">
            <a:avLst/>
          </a:prstGeom>
          <a:noFill/>
          <a:ln/>
        </p:spPr>
        <p:txBody>
          <a:bodyPr wrap="square" rtlCol="0" anchor="ctr"/>
          <a:lstStyle/>
          <a:p>
            <a:pPr marL="0" indent="0">
              <a:buNone/>
            </a:pPr>
            <a:r>
              <a:rPr lang="en-US" sz="1100" b="1" dirty="0">
                <a:solidFill>
                  <a:srgbClr val="E07B39"/>
                </a:solidFill>
              </a:rPr>
              <a:t>5–10</a:t>
            </a:r>
            <a:endParaRPr lang="en-US" sz="1100" dirty="0"/>
          </a:p>
        </p:txBody>
      </p:sp>
      <p:sp>
        <p:nvSpPr>
          <p:cNvPr id="66" name="Shape 64"/>
          <p:cNvSpPr/>
          <p:nvPr/>
        </p:nvSpPr>
        <p:spPr>
          <a:xfrm>
            <a:off x="6876288" y="3282696"/>
            <a:ext cx="1819656" cy="594360"/>
          </a:xfrm>
          <a:prstGeom prst="rect">
            <a:avLst/>
          </a:prstGeom>
          <a:solidFill>
            <a:srgbClr val="FFFFFF"/>
          </a:solidFill>
          <a:ln w="6350">
            <a:solidFill>
              <a:srgbClr val="E07B39"/>
            </a:solidFill>
            <a:prstDash val="solid"/>
          </a:ln>
        </p:spPr>
      </p:sp>
      <p:sp>
        <p:nvSpPr>
          <p:cNvPr id="67" name="Text 65"/>
          <p:cNvSpPr/>
          <p:nvPr/>
        </p:nvSpPr>
        <p:spPr>
          <a:xfrm>
            <a:off x="6912864" y="3310128"/>
            <a:ext cx="1746504" cy="256032"/>
          </a:xfrm>
          <a:prstGeom prst="rect">
            <a:avLst/>
          </a:prstGeom>
          <a:noFill/>
          <a:ln/>
        </p:spPr>
        <p:txBody>
          <a:bodyPr wrap="square" rtlCol="0" anchor="ctr"/>
          <a:lstStyle/>
          <a:p>
            <a:pPr marL="0" indent="0">
              <a:buNone/>
            </a:pPr>
            <a:r>
              <a:rPr lang="en-US" sz="850" dirty="0">
                <a:solidFill>
                  <a:srgbClr val="5A6A7E"/>
                </a:solidFill>
              </a:rPr>
              <a:t>Failures</a:t>
            </a:r>
            <a:endParaRPr lang="en-US" sz="850" dirty="0"/>
          </a:p>
        </p:txBody>
      </p:sp>
      <p:sp>
        <p:nvSpPr>
          <p:cNvPr id="68" name="Text 66"/>
          <p:cNvSpPr/>
          <p:nvPr/>
        </p:nvSpPr>
        <p:spPr>
          <a:xfrm>
            <a:off x="6912864" y="3547872"/>
            <a:ext cx="1746504" cy="274320"/>
          </a:xfrm>
          <a:prstGeom prst="rect">
            <a:avLst/>
          </a:prstGeom>
          <a:noFill/>
          <a:ln/>
        </p:spPr>
        <p:txBody>
          <a:bodyPr wrap="square" rtlCol="0" anchor="ctr"/>
          <a:lstStyle/>
          <a:p>
            <a:pPr marL="0" indent="0">
              <a:buNone/>
            </a:pPr>
            <a:r>
              <a:rPr lang="en-US" sz="1100" b="1" dirty="0">
                <a:solidFill>
                  <a:srgbClr val="E07B39"/>
                </a:solidFill>
              </a:rPr>
              <a:t>1</a:t>
            </a:r>
            <a:endParaRPr lang="en-US" sz="1100" dirty="0"/>
          </a:p>
        </p:txBody>
      </p:sp>
      <p:sp>
        <p:nvSpPr>
          <p:cNvPr id="69" name="Shape 67"/>
          <p:cNvSpPr/>
          <p:nvPr/>
        </p:nvSpPr>
        <p:spPr>
          <a:xfrm>
            <a:off x="6876288" y="3941064"/>
            <a:ext cx="1819656" cy="594360"/>
          </a:xfrm>
          <a:prstGeom prst="rect">
            <a:avLst/>
          </a:prstGeom>
          <a:solidFill>
            <a:srgbClr val="FFFFFF"/>
          </a:solidFill>
          <a:ln w="6350">
            <a:solidFill>
              <a:srgbClr val="E07B39"/>
            </a:solidFill>
            <a:prstDash val="solid"/>
          </a:ln>
        </p:spPr>
      </p:sp>
      <p:sp>
        <p:nvSpPr>
          <p:cNvPr id="70" name="Text 68"/>
          <p:cNvSpPr/>
          <p:nvPr/>
        </p:nvSpPr>
        <p:spPr>
          <a:xfrm>
            <a:off x="6912864" y="3968496"/>
            <a:ext cx="1746504" cy="256032"/>
          </a:xfrm>
          <a:prstGeom prst="rect">
            <a:avLst/>
          </a:prstGeom>
          <a:noFill/>
          <a:ln/>
        </p:spPr>
        <p:txBody>
          <a:bodyPr wrap="square" rtlCol="0" anchor="ctr"/>
          <a:lstStyle/>
          <a:p>
            <a:pPr marL="0" indent="0">
              <a:buNone/>
            </a:pPr>
            <a:r>
              <a:rPr lang="en-US" sz="850" dirty="0">
                <a:solidFill>
                  <a:srgbClr val="5A6A7E"/>
                </a:solidFill>
              </a:rPr>
              <a:t>Study Time</a:t>
            </a:r>
            <a:endParaRPr lang="en-US" sz="850" dirty="0"/>
          </a:p>
        </p:txBody>
      </p:sp>
      <p:sp>
        <p:nvSpPr>
          <p:cNvPr id="71" name="Text 69"/>
          <p:cNvSpPr/>
          <p:nvPr/>
        </p:nvSpPr>
        <p:spPr>
          <a:xfrm>
            <a:off x="6912864" y="4206240"/>
            <a:ext cx="1746504" cy="274320"/>
          </a:xfrm>
          <a:prstGeom prst="rect">
            <a:avLst/>
          </a:prstGeom>
          <a:noFill/>
          <a:ln/>
        </p:spPr>
        <p:txBody>
          <a:bodyPr wrap="square" rtlCol="0" anchor="ctr"/>
          <a:lstStyle/>
          <a:p>
            <a:pPr marL="0" indent="0">
              <a:buNone/>
            </a:pPr>
            <a:r>
              <a:rPr lang="en-US" sz="1100" b="1" dirty="0">
                <a:solidFill>
                  <a:srgbClr val="E07B39"/>
                </a:solidFill>
              </a:rPr>
              <a:t>1–2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B39"/>
          </a:solidFill>
          <a:ln w="12700">
            <a:solidFill>
              <a:srgbClr val="E07B39"/>
            </a:solidFill>
            <a:prstDash val="solid"/>
          </a:ln>
        </p:spPr>
      </p:sp>
      <p:sp>
        <p:nvSpPr>
          <p:cNvPr id="3" name="Shape 1"/>
          <p:cNvSpPr/>
          <p:nvPr/>
        </p:nvSpPr>
        <p:spPr>
          <a:xfrm>
            <a:off x="0" y="73152"/>
            <a:ext cx="320040" cy="5070348"/>
          </a:xfrm>
          <a:prstGeom prst="rect">
            <a:avLst/>
          </a:prstGeom>
          <a:solidFill>
            <a:srgbClr val="E07B39"/>
          </a:solidFill>
          <a:ln w="12700">
            <a:solidFill>
              <a:srgbClr val="E07B39"/>
            </a:solidFill>
            <a:prstDash val="solid"/>
          </a:ln>
        </p:spPr>
      </p:sp>
      <p:sp>
        <p:nvSpPr>
          <p:cNvPr id="4" name="Text 2"/>
          <p:cNvSpPr/>
          <p:nvPr/>
        </p:nvSpPr>
        <p:spPr>
          <a:xfrm>
            <a:off x="502920" y="137160"/>
            <a:ext cx="822960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Key Insights &amp; Conclusion</a:t>
            </a:r>
            <a:endParaRPr lang="en-US" sz="2400" dirty="0"/>
          </a:p>
        </p:txBody>
      </p:sp>
      <p:sp>
        <p:nvSpPr>
          <p:cNvPr id="5" name="Text 3"/>
          <p:cNvSpPr/>
          <p:nvPr/>
        </p:nvSpPr>
        <p:spPr>
          <a:xfrm>
            <a:off x="8046720" y="137160"/>
            <a:ext cx="914400" cy="548640"/>
          </a:xfrm>
          <a:prstGeom prst="rect">
            <a:avLst/>
          </a:prstGeom>
          <a:noFill/>
          <a:ln/>
        </p:spPr>
        <p:txBody>
          <a:bodyPr wrap="square" rtlCol="0" anchor="ctr"/>
          <a:lstStyle/>
          <a:p>
            <a:pPr marL="0" indent="0" algn="r">
              <a:buNone/>
            </a:pPr>
            <a:r>
              <a:rPr lang="en-US" sz="2800" b="1" dirty="0">
                <a:solidFill>
                  <a:srgbClr val="FFFFFF"/>
                </a:solidFill>
              </a:rPr>
              <a:t>10</a:t>
            </a:r>
            <a:endParaRPr lang="en-US" sz="2800" dirty="0"/>
          </a:p>
        </p:txBody>
      </p:sp>
      <p:sp>
        <p:nvSpPr>
          <p:cNvPr id="6" name="Shape 4"/>
          <p:cNvSpPr/>
          <p:nvPr/>
        </p:nvSpPr>
        <p:spPr>
          <a:xfrm>
            <a:off x="502920" y="841248"/>
            <a:ext cx="3977640" cy="1170432"/>
          </a:xfrm>
          <a:prstGeom prst="rect">
            <a:avLst/>
          </a:prstGeom>
          <a:solidFill>
            <a:srgbClr val="FFFFFF">
              <a:alpha val="8000"/>
            </a:srgbClr>
          </a:solidFill>
          <a:ln w="6350">
            <a:solidFill>
              <a:srgbClr val="FFFFFF"/>
            </a:solidFill>
            <a:prstDash val="solid"/>
          </a:ln>
        </p:spPr>
      </p:sp>
      <p:sp>
        <p:nvSpPr>
          <p:cNvPr id="7" name="Shape 5"/>
          <p:cNvSpPr/>
          <p:nvPr/>
        </p:nvSpPr>
        <p:spPr>
          <a:xfrm>
            <a:off x="502920" y="841248"/>
            <a:ext cx="502920" cy="1170432"/>
          </a:xfrm>
          <a:prstGeom prst="rect">
            <a:avLst/>
          </a:prstGeom>
          <a:solidFill>
            <a:srgbClr val="FEF3C7"/>
          </a:solidFill>
          <a:ln w="12700">
            <a:solidFill>
              <a:srgbClr val="FEF3C7"/>
            </a:solidFill>
            <a:prstDash val="solid"/>
          </a:ln>
        </p:spPr>
      </p:sp>
      <p:sp>
        <p:nvSpPr>
          <p:cNvPr id="8" name="Text 6"/>
          <p:cNvSpPr/>
          <p:nvPr/>
        </p:nvSpPr>
        <p:spPr>
          <a:xfrm>
            <a:off x="502920" y="841248"/>
            <a:ext cx="502920" cy="1170432"/>
          </a:xfrm>
          <a:prstGeom prst="rect">
            <a:avLst/>
          </a:prstGeom>
          <a:noFill/>
          <a:ln/>
        </p:spPr>
        <p:txBody>
          <a:bodyPr wrap="square" lIns="0" tIns="0" rIns="0" bIns="0" rtlCol="0" anchor="ctr"/>
          <a:lstStyle/>
          <a:p>
            <a:pPr marL="0" indent="0" algn="ctr">
              <a:buNone/>
            </a:pPr>
            <a:r>
              <a:rPr lang="en-US" sz="1400" b="1" dirty="0">
                <a:solidFill>
                  <a:srgbClr val="1B2838"/>
                </a:solidFill>
              </a:rPr>
              <a:t>01</a:t>
            </a:r>
            <a:endParaRPr lang="en-US" sz="1400" dirty="0"/>
          </a:p>
        </p:txBody>
      </p:sp>
      <p:sp>
        <p:nvSpPr>
          <p:cNvPr id="9" name="Text 7"/>
          <p:cNvSpPr/>
          <p:nvPr/>
        </p:nvSpPr>
        <p:spPr>
          <a:xfrm>
            <a:off x="1097280" y="932688"/>
            <a:ext cx="3291840" cy="347472"/>
          </a:xfrm>
          <a:prstGeom prst="rect">
            <a:avLst/>
          </a:prstGeom>
          <a:noFill/>
          <a:ln/>
        </p:spPr>
        <p:txBody>
          <a:bodyPr wrap="square" rtlCol="0" anchor="ctr"/>
          <a:lstStyle/>
          <a:p>
            <a:pPr marL="0" indent="0">
              <a:buNone/>
            </a:pPr>
            <a:r>
              <a:rPr lang="en-US" sz="1050" b="1" dirty="0">
                <a:solidFill>
                  <a:srgbClr val="FFFFFF"/>
                </a:solidFill>
              </a:rPr>
              <a:t>G1 is the Strongest Predictor</a:t>
            </a:r>
            <a:endParaRPr lang="en-US" sz="1050" dirty="0"/>
          </a:p>
        </p:txBody>
      </p:sp>
      <p:sp>
        <p:nvSpPr>
          <p:cNvPr id="10" name="Text 8"/>
          <p:cNvSpPr/>
          <p:nvPr/>
        </p:nvSpPr>
        <p:spPr>
          <a:xfrm>
            <a:off x="1097280" y="1280160"/>
            <a:ext cx="3291840" cy="658368"/>
          </a:xfrm>
          <a:prstGeom prst="rect">
            <a:avLst/>
          </a:prstGeom>
          <a:noFill/>
          <a:ln/>
        </p:spPr>
        <p:txBody>
          <a:bodyPr wrap="square" rtlCol="0" anchor="ctr"/>
          <a:lstStyle/>
          <a:p>
            <a:pPr marL="0" indent="0">
              <a:buNone/>
            </a:pPr>
            <a:r>
              <a:rPr lang="en-US" sz="950" dirty="0">
                <a:solidFill>
                  <a:srgbClr val="CADCFC"/>
                </a:solidFill>
              </a:rPr>
              <a:t>First period grade (G1) alone predicts final outcome with ~80% correlation — monitor students early.</a:t>
            </a:r>
            <a:endParaRPr lang="en-US" sz="950" dirty="0"/>
          </a:p>
        </p:txBody>
      </p:sp>
      <p:sp>
        <p:nvSpPr>
          <p:cNvPr id="11" name="Shape 9"/>
          <p:cNvSpPr/>
          <p:nvPr/>
        </p:nvSpPr>
        <p:spPr>
          <a:xfrm>
            <a:off x="4754880" y="841248"/>
            <a:ext cx="3977640" cy="1170432"/>
          </a:xfrm>
          <a:prstGeom prst="rect">
            <a:avLst/>
          </a:prstGeom>
          <a:solidFill>
            <a:srgbClr val="FFFFFF">
              <a:alpha val="8000"/>
            </a:srgbClr>
          </a:solidFill>
          <a:ln w="6350">
            <a:solidFill>
              <a:srgbClr val="FFFFFF"/>
            </a:solidFill>
            <a:prstDash val="solid"/>
          </a:ln>
        </p:spPr>
      </p:sp>
      <p:sp>
        <p:nvSpPr>
          <p:cNvPr id="12" name="Shape 10"/>
          <p:cNvSpPr/>
          <p:nvPr/>
        </p:nvSpPr>
        <p:spPr>
          <a:xfrm>
            <a:off x="4754880" y="841248"/>
            <a:ext cx="502920" cy="1170432"/>
          </a:xfrm>
          <a:prstGeom prst="rect">
            <a:avLst/>
          </a:prstGeom>
          <a:solidFill>
            <a:srgbClr val="FCE8E8"/>
          </a:solidFill>
          <a:ln w="12700">
            <a:solidFill>
              <a:srgbClr val="FCE8E8"/>
            </a:solidFill>
            <a:prstDash val="solid"/>
          </a:ln>
        </p:spPr>
      </p:sp>
      <p:sp>
        <p:nvSpPr>
          <p:cNvPr id="13" name="Text 11"/>
          <p:cNvSpPr/>
          <p:nvPr/>
        </p:nvSpPr>
        <p:spPr>
          <a:xfrm>
            <a:off x="4754880" y="841248"/>
            <a:ext cx="502920" cy="1170432"/>
          </a:xfrm>
          <a:prstGeom prst="rect">
            <a:avLst/>
          </a:prstGeom>
          <a:noFill/>
          <a:ln/>
        </p:spPr>
        <p:txBody>
          <a:bodyPr wrap="square" lIns="0" tIns="0" rIns="0" bIns="0" rtlCol="0" anchor="ctr"/>
          <a:lstStyle/>
          <a:p>
            <a:pPr marL="0" indent="0" algn="ctr">
              <a:buNone/>
            </a:pPr>
            <a:r>
              <a:rPr lang="en-US" sz="1400" b="1" dirty="0">
                <a:solidFill>
                  <a:srgbClr val="1B2838"/>
                </a:solidFill>
              </a:rPr>
              <a:t>02</a:t>
            </a:r>
            <a:endParaRPr lang="en-US" sz="1400" dirty="0"/>
          </a:p>
        </p:txBody>
      </p:sp>
      <p:sp>
        <p:nvSpPr>
          <p:cNvPr id="14" name="Text 12"/>
          <p:cNvSpPr/>
          <p:nvPr/>
        </p:nvSpPr>
        <p:spPr>
          <a:xfrm>
            <a:off x="5349240" y="932688"/>
            <a:ext cx="3291840" cy="347472"/>
          </a:xfrm>
          <a:prstGeom prst="rect">
            <a:avLst/>
          </a:prstGeom>
          <a:noFill/>
          <a:ln/>
        </p:spPr>
        <p:txBody>
          <a:bodyPr wrap="square" rtlCol="0" anchor="ctr"/>
          <a:lstStyle/>
          <a:p>
            <a:pPr marL="0" indent="0">
              <a:buNone/>
            </a:pPr>
            <a:r>
              <a:rPr lang="en-US" sz="1050" b="1" dirty="0">
                <a:solidFill>
                  <a:srgbClr val="FFFFFF"/>
                </a:solidFill>
              </a:rPr>
              <a:t>2+ Failures = Very High Dropout Risk</a:t>
            </a:r>
            <a:endParaRPr lang="en-US" sz="1050" dirty="0"/>
          </a:p>
        </p:txBody>
      </p:sp>
      <p:sp>
        <p:nvSpPr>
          <p:cNvPr id="15" name="Text 13"/>
          <p:cNvSpPr/>
          <p:nvPr/>
        </p:nvSpPr>
        <p:spPr>
          <a:xfrm>
            <a:off x="5349240" y="1280160"/>
            <a:ext cx="3291840" cy="658368"/>
          </a:xfrm>
          <a:prstGeom prst="rect">
            <a:avLst/>
          </a:prstGeom>
          <a:noFill/>
          <a:ln/>
        </p:spPr>
        <p:txBody>
          <a:bodyPr wrap="square" rtlCol="0" anchor="ctr"/>
          <a:lstStyle/>
          <a:p>
            <a:pPr marL="0" indent="0">
              <a:buNone/>
            </a:pPr>
            <a:r>
              <a:rPr lang="en-US" sz="950" dirty="0">
                <a:solidFill>
                  <a:srgbClr val="CADCFC"/>
                </a:solidFill>
              </a:rPr>
              <a:t>Students with repeat failures must be flagged immediately for mandatory counseling and academic support.</a:t>
            </a:r>
            <a:endParaRPr lang="en-US" sz="950" dirty="0"/>
          </a:p>
        </p:txBody>
      </p:sp>
      <p:sp>
        <p:nvSpPr>
          <p:cNvPr id="16" name="Shape 14"/>
          <p:cNvSpPr/>
          <p:nvPr/>
        </p:nvSpPr>
        <p:spPr>
          <a:xfrm>
            <a:off x="502920" y="2139696"/>
            <a:ext cx="3977640" cy="1170432"/>
          </a:xfrm>
          <a:prstGeom prst="rect">
            <a:avLst/>
          </a:prstGeom>
          <a:solidFill>
            <a:srgbClr val="FFFFFF">
              <a:alpha val="8000"/>
            </a:srgbClr>
          </a:solidFill>
          <a:ln w="6350">
            <a:solidFill>
              <a:srgbClr val="FFFFFF"/>
            </a:solidFill>
            <a:prstDash val="solid"/>
          </a:ln>
        </p:spPr>
      </p:sp>
      <p:sp>
        <p:nvSpPr>
          <p:cNvPr id="17" name="Shape 15"/>
          <p:cNvSpPr/>
          <p:nvPr/>
        </p:nvSpPr>
        <p:spPr>
          <a:xfrm>
            <a:off x="502920" y="2139696"/>
            <a:ext cx="502920" cy="1170432"/>
          </a:xfrm>
          <a:prstGeom prst="rect">
            <a:avLst/>
          </a:prstGeom>
          <a:solidFill>
            <a:srgbClr val="D6E8FA"/>
          </a:solidFill>
          <a:ln w="12700">
            <a:solidFill>
              <a:srgbClr val="D6E8FA"/>
            </a:solidFill>
            <a:prstDash val="solid"/>
          </a:ln>
        </p:spPr>
      </p:sp>
      <p:sp>
        <p:nvSpPr>
          <p:cNvPr id="18" name="Text 16"/>
          <p:cNvSpPr/>
          <p:nvPr/>
        </p:nvSpPr>
        <p:spPr>
          <a:xfrm>
            <a:off x="502920" y="2139696"/>
            <a:ext cx="502920" cy="1170432"/>
          </a:xfrm>
          <a:prstGeom prst="rect">
            <a:avLst/>
          </a:prstGeom>
          <a:noFill/>
          <a:ln/>
        </p:spPr>
        <p:txBody>
          <a:bodyPr wrap="square" lIns="0" tIns="0" rIns="0" bIns="0" rtlCol="0" anchor="ctr"/>
          <a:lstStyle/>
          <a:p>
            <a:pPr marL="0" indent="0" algn="ctr">
              <a:buNone/>
            </a:pPr>
            <a:r>
              <a:rPr lang="en-US" sz="1400" b="1" dirty="0">
                <a:solidFill>
                  <a:srgbClr val="1B2838"/>
                </a:solidFill>
              </a:rPr>
              <a:t>03</a:t>
            </a:r>
            <a:endParaRPr lang="en-US" sz="1400" dirty="0"/>
          </a:p>
        </p:txBody>
      </p:sp>
      <p:sp>
        <p:nvSpPr>
          <p:cNvPr id="19" name="Text 17"/>
          <p:cNvSpPr/>
          <p:nvPr/>
        </p:nvSpPr>
        <p:spPr>
          <a:xfrm>
            <a:off x="1097280" y="2231136"/>
            <a:ext cx="3291840" cy="347472"/>
          </a:xfrm>
          <a:prstGeom prst="rect">
            <a:avLst/>
          </a:prstGeom>
          <a:noFill/>
          <a:ln/>
        </p:spPr>
        <p:txBody>
          <a:bodyPr wrap="square" rtlCol="0" anchor="ctr"/>
          <a:lstStyle/>
          <a:p>
            <a:pPr marL="0" indent="0">
              <a:buNone/>
            </a:pPr>
            <a:r>
              <a:rPr lang="en-US" sz="1050" b="1" dirty="0">
                <a:solidFill>
                  <a:srgbClr val="FFFFFF"/>
                </a:solidFill>
              </a:rPr>
              <a:t>High Absenteeism is a Major Warning Sign</a:t>
            </a:r>
            <a:endParaRPr lang="en-US" sz="1050" dirty="0"/>
          </a:p>
        </p:txBody>
      </p:sp>
      <p:sp>
        <p:nvSpPr>
          <p:cNvPr id="20" name="Text 18"/>
          <p:cNvSpPr/>
          <p:nvPr/>
        </p:nvSpPr>
        <p:spPr>
          <a:xfrm>
            <a:off x="1097280" y="2578608"/>
            <a:ext cx="3291840" cy="658368"/>
          </a:xfrm>
          <a:prstGeom prst="rect">
            <a:avLst/>
          </a:prstGeom>
          <a:noFill/>
          <a:ln/>
        </p:spPr>
        <p:txBody>
          <a:bodyPr wrap="square" rtlCol="0" anchor="ctr"/>
          <a:lstStyle/>
          <a:p>
            <a:pPr marL="0" indent="0">
              <a:buNone/>
            </a:pPr>
            <a:r>
              <a:rPr lang="en-US" sz="950" dirty="0">
                <a:solidFill>
                  <a:srgbClr val="CADCFC"/>
                </a:solidFill>
              </a:rPr>
              <a:t>More than 15 absences strongly predicts both low grades and dropout risk (68% confidence).</a:t>
            </a:r>
            <a:endParaRPr lang="en-US" sz="950" dirty="0"/>
          </a:p>
        </p:txBody>
      </p:sp>
      <p:sp>
        <p:nvSpPr>
          <p:cNvPr id="21" name="Shape 19"/>
          <p:cNvSpPr/>
          <p:nvPr/>
        </p:nvSpPr>
        <p:spPr>
          <a:xfrm>
            <a:off x="4754880" y="2139696"/>
            <a:ext cx="3977640" cy="1170432"/>
          </a:xfrm>
          <a:prstGeom prst="rect">
            <a:avLst/>
          </a:prstGeom>
          <a:solidFill>
            <a:srgbClr val="FFFFFF">
              <a:alpha val="8000"/>
            </a:srgbClr>
          </a:solidFill>
          <a:ln w="6350">
            <a:solidFill>
              <a:srgbClr val="FFFFFF"/>
            </a:solidFill>
            <a:prstDash val="solid"/>
          </a:ln>
        </p:spPr>
      </p:sp>
      <p:sp>
        <p:nvSpPr>
          <p:cNvPr id="22" name="Shape 20"/>
          <p:cNvSpPr/>
          <p:nvPr/>
        </p:nvSpPr>
        <p:spPr>
          <a:xfrm>
            <a:off x="4754880" y="2139696"/>
            <a:ext cx="502920" cy="1170432"/>
          </a:xfrm>
          <a:prstGeom prst="rect">
            <a:avLst/>
          </a:prstGeom>
          <a:solidFill>
            <a:srgbClr val="D4EDDA"/>
          </a:solidFill>
          <a:ln w="12700">
            <a:solidFill>
              <a:srgbClr val="D4EDDA"/>
            </a:solidFill>
            <a:prstDash val="solid"/>
          </a:ln>
        </p:spPr>
      </p:sp>
      <p:sp>
        <p:nvSpPr>
          <p:cNvPr id="23" name="Text 21"/>
          <p:cNvSpPr/>
          <p:nvPr/>
        </p:nvSpPr>
        <p:spPr>
          <a:xfrm>
            <a:off x="4754880" y="2139696"/>
            <a:ext cx="502920" cy="1170432"/>
          </a:xfrm>
          <a:prstGeom prst="rect">
            <a:avLst/>
          </a:prstGeom>
          <a:noFill/>
          <a:ln/>
        </p:spPr>
        <p:txBody>
          <a:bodyPr wrap="square" lIns="0" tIns="0" rIns="0" bIns="0" rtlCol="0" anchor="ctr"/>
          <a:lstStyle/>
          <a:p>
            <a:pPr marL="0" indent="0" algn="ctr">
              <a:buNone/>
            </a:pPr>
            <a:r>
              <a:rPr lang="en-US" sz="1400" b="1" dirty="0">
                <a:solidFill>
                  <a:srgbClr val="1B2838"/>
                </a:solidFill>
              </a:rPr>
              <a:t>04</a:t>
            </a:r>
            <a:endParaRPr lang="en-US" sz="1400" dirty="0"/>
          </a:p>
        </p:txBody>
      </p:sp>
      <p:sp>
        <p:nvSpPr>
          <p:cNvPr id="24" name="Text 22"/>
          <p:cNvSpPr/>
          <p:nvPr/>
        </p:nvSpPr>
        <p:spPr>
          <a:xfrm>
            <a:off x="5349240" y="2231136"/>
            <a:ext cx="3291840" cy="347472"/>
          </a:xfrm>
          <a:prstGeom prst="rect">
            <a:avLst/>
          </a:prstGeom>
          <a:noFill/>
          <a:ln/>
        </p:spPr>
        <p:txBody>
          <a:bodyPr wrap="square" rtlCol="0" anchor="ctr"/>
          <a:lstStyle/>
          <a:p>
            <a:pPr marL="0" indent="0">
              <a:buNone/>
            </a:pPr>
            <a:r>
              <a:rPr lang="en-US" sz="1050" b="1" dirty="0">
                <a:solidFill>
                  <a:srgbClr val="FFFFFF"/>
                </a:solidFill>
              </a:rPr>
              <a:t>Digital Divide Compounds Risk</a:t>
            </a:r>
            <a:endParaRPr lang="en-US" sz="1050" dirty="0"/>
          </a:p>
        </p:txBody>
      </p:sp>
      <p:sp>
        <p:nvSpPr>
          <p:cNvPr id="25" name="Text 23"/>
          <p:cNvSpPr/>
          <p:nvPr/>
        </p:nvSpPr>
        <p:spPr>
          <a:xfrm>
            <a:off x="5349240" y="2578608"/>
            <a:ext cx="3291840" cy="658368"/>
          </a:xfrm>
          <a:prstGeom prst="rect">
            <a:avLst/>
          </a:prstGeom>
          <a:noFill/>
          <a:ln/>
        </p:spPr>
        <p:txBody>
          <a:bodyPr wrap="square" rtlCol="0" anchor="ctr"/>
          <a:lstStyle/>
          <a:p>
            <a:pPr marL="0" indent="0">
              <a:buNone/>
            </a:pPr>
            <a:r>
              <a:rPr lang="en-US" sz="950" dirty="0">
                <a:solidFill>
                  <a:srgbClr val="CADCFC"/>
                </a:solidFill>
              </a:rPr>
              <a:t>No internet access + low study time combination creates severe compounding disadvantage for students.</a:t>
            </a:r>
            <a:endParaRPr lang="en-US" sz="950" dirty="0"/>
          </a:p>
        </p:txBody>
      </p:sp>
      <p:sp>
        <p:nvSpPr>
          <p:cNvPr id="26" name="Shape 24"/>
          <p:cNvSpPr/>
          <p:nvPr/>
        </p:nvSpPr>
        <p:spPr>
          <a:xfrm>
            <a:off x="502920" y="3493008"/>
            <a:ext cx="8321040" cy="1261872"/>
          </a:xfrm>
          <a:prstGeom prst="rect">
            <a:avLst/>
          </a:prstGeom>
          <a:solidFill>
            <a:srgbClr val="FFFFFF">
              <a:alpha val="12000"/>
            </a:srgbClr>
          </a:solidFill>
          <a:ln w="12700">
            <a:solidFill>
              <a:srgbClr val="E07B39"/>
            </a:solidFill>
            <a:prstDash val="solid"/>
          </a:ln>
        </p:spPr>
      </p:sp>
      <p:sp>
        <p:nvSpPr>
          <p:cNvPr id="27" name="Text 25"/>
          <p:cNvSpPr/>
          <p:nvPr/>
        </p:nvSpPr>
        <p:spPr>
          <a:xfrm>
            <a:off x="685800" y="3547872"/>
            <a:ext cx="8046720" cy="292608"/>
          </a:xfrm>
          <a:prstGeom prst="rect">
            <a:avLst/>
          </a:prstGeom>
          <a:noFill/>
          <a:ln/>
        </p:spPr>
        <p:txBody>
          <a:bodyPr wrap="square" rtlCol="0" anchor="ctr"/>
          <a:lstStyle/>
          <a:p>
            <a:pPr marL="0" indent="0">
              <a:buNone/>
            </a:pPr>
            <a:r>
              <a:rPr lang="en-US" sz="1000" b="1" kern="0" spc="200" dirty="0">
                <a:solidFill>
                  <a:srgbClr val="E07B39"/>
                </a:solidFill>
              </a:rPr>
              <a:t>Project Summary</a:t>
            </a:r>
            <a:endParaRPr lang="en-US" sz="1000" dirty="0"/>
          </a:p>
        </p:txBody>
      </p:sp>
      <p:sp>
        <p:nvSpPr>
          <p:cNvPr id="28" name="Text 26"/>
          <p:cNvSpPr/>
          <p:nvPr/>
        </p:nvSpPr>
        <p:spPr>
          <a:xfrm>
            <a:off x="685800" y="3858768"/>
            <a:ext cx="7955280" cy="347472"/>
          </a:xfrm>
          <a:prstGeom prst="rect">
            <a:avLst/>
          </a:prstGeom>
          <a:noFill/>
          <a:ln/>
        </p:spPr>
        <p:txBody>
          <a:bodyPr wrap="square" rtlCol="0" anchor="ctr"/>
          <a:lstStyle/>
          <a:p>
            <a:pPr marL="0" indent="0">
              <a:buNone/>
            </a:pPr>
            <a:r>
              <a:rPr lang="en-US" sz="1000" b="1" dirty="0">
                <a:solidFill>
                  <a:srgbClr val="FFFFFF"/>
                </a:solidFill>
              </a:rPr>
              <a:t>8 Tasks Completed</a:t>
            </a:r>
            <a:r>
              <a:rPr lang="en-US" sz="1000" dirty="0">
                <a:solidFill>
                  <a:srgbClr val="FFFFFF"/>
                </a:solidFill>
              </a:rPr>
              <a:t>  |  CHAID: 75–80%  |  C5.0: 85–90% Accuracy  |  </a:t>
            </a:r>
            <a:r>
              <a:rPr lang="en-US" sz="1000" b="1" dirty="0">
                <a:solidFill>
                  <a:srgbClr val="FFFFFF"/>
                </a:solidFill>
              </a:rPr>
              <a:t>4 Student Segments Identified</a:t>
            </a:r>
            <a:r>
              <a:rPr lang="en-US" sz="1000" dirty="0">
                <a:solidFill>
                  <a:srgbClr val="FFFFFF"/>
                </a:solidFill>
              </a:rPr>
              <a:t>  |  5 Key Association Rules Discovered</a:t>
            </a:r>
            <a:endParaRPr lang="en-US" sz="1000" dirty="0"/>
          </a:p>
        </p:txBody>
      </p:sp>
      <p:sp>
        <p:nvSpPr>
          <p:cNvPr id="29" name="Text 27"/>
          <p:cNvSpPr/>
          <p:nvPr/>
        </p:nvSpPr>
        <p:spPr>
          <a:xfrm>
            <a:off x="685800" y="4224528"/>
            <a:ext cx="7955280" cy="292608"/>
          </a:xfrm>
          <a:prstGeom prst="rect">
            <a:avLst/>
          </a:prstGeom>
          <a:noFill/>
          <a:ln/>
        </p:spPr>
        <p:txBody>
          <a:bodyPr wrap="square" rtlCol="0" anchor="ctr"/>
          <a:lstStyle/>
          <a:p>
            <a:pPr marL="0" indent="0">
              <a:buNone/>
            </a:pPr>
            <a:r>
              <a:rPr lang="en-US" sz="900" dirty="0">
                <a:solidFill>
                  <a:srgbClr val="A8C4E0"/>
                </a:solidFill>
              </a:rPr>
              <a:t>Dataset: UCI Student Performance  |  Tool: IBM SPSS Modeler  |  Presented to: Miss Mitika</a:t>
            </a:r>
            <a:endParaRPr lang="en-US" sz="900" dirty="0"/>
          </a:p>
        </p:txBody>
      </p:sp>
      <p:sp>
        <p:nvSpPr>
          <p:cNvPr id="30" name="Shape 28"/>
          <p:cNvSpPr/>
          <p:nvPr/>
        </p:nvSpPr>
        <p:spPr>
          <a:xfrm>
            <a:off x="0" y="5070348"/>
            <a:ext cx="9144000" cy="73152"/>
          </a:xfrm>
          <a:prstGeom prst="rect">
            <a:avLst/>
          </a:prstGeom>
          <a:solidFill>
            <a:srgbClr val="E07B39"/>
          </a:solidFill>
          <a:ln w="12700">
            <a:solidFill>
              <a:srgbClr val="E07B39"/>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1168</Words>
  <Application>Microsoft Office PowerPoint</Application>
  <PresentationFormat>On-screen Show (16:9)</PresentationFormat>
  <Paragraphs>292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Analytics Mini Project</dc:title>
  <dc:subject>PptxGenJS Presentation</dc:subject>
  <dc:creator>PptxGenJS</dc:creator>
  <cp:lastModifiedBy>Himanshu Shukla</cp:lastModifiedBy>
  <cp:revision>2</cp:revision>
  <dcterms:created xsi:type="dcterms:W3CDTF">2026-04-19T06:34:37Z</dcterms:created>
  <dcterms:modified xsi:type="dcterms:W3CDTF">2026-04-19T07:07:30Z</dcterms:modified>
</cp:coreProperties>
</file>